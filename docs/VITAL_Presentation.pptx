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(slides 1-7)
Good morning. Our project is an IoT-enabled smart health monitoring and emergency alert system, with AI-based anomaly prediction, designed for smart city integration. We call the software VITAL: Vitals Intelligence, Tracking and Anomaly Learning.
In one line: a small ESP32 device reads your heart rate, blood oxygen and temperature; a website shows them live; machine learning learns what is normal for you and predicts trouble; and if something goes wrong, VITAL alerts your emergency contact automatically.
Our team: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VITAL brings together three things: an embedded device that measures vital signs, a web dashboard that shows them live, and an intelligence layer that learns, predicts and raises the alarm.
The device uses an ESP32 with a pulse oximeter sensor and an infrared thermometer. The dashboard works for ordinary users and for an administrator. The machine learning learns each person's own normal, and a trend model warns before readings become critical. Emergency alerts go out automatically, and the whole system is designed to feed a city's health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Three problems drive this project.
A: checks are occasional. A thermometer or a pulse oximeter gives one number and then the moment is gone.
B: devices judge everyone against the same textbook limits. A resting pulse of 95 is "normal" on paper, but if your usual is 65, that's a big change for you.
C: help arrives late. Readings stay on the device, so in an emergency, family or doctors only find out when someone calls them.
VITAL solves all three: it watches continuously, learns each person's normal, and raises the alarm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Our hardware has four parts.
The ESP32 is the brain: a dual-core microcontroller with Wi-Fi built in, so it can read the sensors and send data to our server without any extra module.
The MAX30102 measures heart rate and blood oxygen using light. The GY-906 module carries the MLX90614 non-contact infrared thermometer. The 0.96-inch OLED shows the readings on the device itself.
The key design point is the label at the bottom of each card: all three peripherals speak I2C and each has its own address, so they share the same two data wires.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This is our circuit, drawn in Cirkit Designer. The ESP32's 3.3 volt and ground pins power all three modules.
Data travels on just two wires: SDA, the data line on GPIO 21, and SCL, the clock line on GPIO 22. These are the ESP32's default I2C pins.
Because the MAX30102 is at address 0x57, the thermometer at 0x5A and the OLED at 0x3C, the ESP32 can talk to each one individually on the same two wires.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This is the formal schematic of the same circuit, drawn in EasyEDA.
There are only four nets. The 3.3 volt rail from the ESP32 feeds all three modules, all grounds are common, and the I2C data and clock lines go from GPIO 21 and 22 to every module. The breakout boards include their own regulators and pull-up resistors, so no extra components are needed.
Power: the ESP32 draws up to around 240 milliamps when Wi-Fi transmits; the display and sensors add only tens of milliamps, so it runs comfortably from a laptop's USB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How does a small sensor read your heartbeat? It uses light, a technique called photoplethysmography or PPG. With every heartbeat a little more blood flows into your fingertip, and blood absorbs light. We detect those peaks and count them. Because oxygen-rich and oxygen-poor blood absorb red and infrared light differently, the ratio between the two channels gives us SpO2.
For temperature, the MLX90614 reads the infrared radiation from your skin without touching it. Skin is slightly cooler than core body temperature, so we calibrate with an offset.
On the right is the firmware loop the ESP32 repeats every second: read, filter, calculate, display, and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2 (slides 8-13)
This is the start-up code from our firmware, written in the Arduino IDE.
We start the I2C bus on pins 21 and 22 at 100 kilohertz, because the MLX90614 thermometer supports at most 100 kilohertz. Then we initialise each device at its address: the pulse sensor at 0x57, the thermometer at 0x5A and the display at 0x3C. For the MAX30102 we use the SparkFun library; the setup line sets LED brightness, averaging of 4 samples, red plus infrared mode and 100 samples per second.
The last line is an embedded-systems design choice: the ESP32 has two cores, so we run Wi-Fi in a separate FreeRTOS task on core 0. The sensors are read on core 1 and pass one packet per second through a queue, so a slow network never makes the sensor miss a sample.
On the right are the libraries we use and our design targets for sampling and update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2
The MAX30102 gives a light-absorption signal with two parts. The large steady part, DC, comes from tissue, bone and blood that doesn't move. The small part that rises and falls, AC, is the blood pushed in by each heartbeat.
Heart rate: we detect each peak and measure the time between beats, delta t. Sixty divided by delta t gives beats per minute, averaged over the last four beats. The code on the right does exactly that and throws away impossible values.
SpO2: we compute the ratio R of the red signal's AC-to-DC to the infrared's AC-to-DC. A widely used approximation is SpO2 ≈ 110 − 25R; Maxim's reference code uses a calibrated lookup table.
Temperature is skin temperature plus a calibrated offset. If the infrared reading is too low, there's no finger on the sensor, so we show "Place finger" instead of sending garbage.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2
This is the complete system in four columns.
The device: the sensors feed the ESP32, which shows readings and alerts on the OLED and sends each reading over Wi-Fi as a small JSON message every second.
The VITAL server runs on a laptop: a Flask API receives readings, stores them in SQLite, and passes them to the ML engine for anomaly detection and trend prediction. The alert service decides when something is an emergency.
People: users see their own page, the admin sees everyone, and the emergency contact gets a Telegram message.
The dashed column is our smart city design: VITAL sends anonymised summaries over MQTT to a city platform, and forwards emergencies to hospitals and the 108 ambulance service. We'll cover this in detail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2
Every second the ESP32 sends one small JSON message, like the one on the left, to our Flask server: device ID, timestamp, heart rate, SpO2, temperature, the raw infrared and red values, and whether a finger is present.
The server exposes a small REST API: the ESP32 posts readings, and the website uses the other endpoints for sessions, live data, history charts and the admin station.
Everything is stored in SQLite in four tables: users, including each person's learned baseline and emergency contact; sessions; readings with their anomaly score; and a log of every alert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2
Here is the user page in Simple mode. It looks like a hospital bedside monitor, but it speaks plain English.
One: the pulse wave is drawn live from the sensor. Two: a single status pill tells you at a glance whether things are fine. Three: the "What VITAL noticed" cards are where the machine learning shows up. Instead of numbers, it says things like "your pulse is in your usual resting range", comparing you with your own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2
Not everyone wants the same level of detail, so the user page has a toggle: Simple and Detailed. Detailed mode shows the same data in full: the raw infrared and red light signals, exact values, the anomaly score from the ML model, the signal quality and the device's Wi-Fi strength.
On the right is the admin page. It works like a nurses' station: every user gets a live tile, and if the ML decides a reading is unusual for that person, the tile turns red and says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3 (slides 14-20)
VITAL uses four machine learning components.
The main model is personal anomaly detection: it learns what is normal for each user and scores how unusual every new reading is.
The prediction model looks at the recent trend of each vital and projects it 15 minutes ahead, so we can warn before a reading becomes critical.
Two support models help: one labels the state, such as resting or possible fever, and one checks signal quality so bad readings from a moving finger never reach the user.
The pipeline at the bottom: collect sessions, extract features, train per user, score and predict live data, and turn the result into an insight or an alert. VITAL is a wellness and early-warning tool, not a medical diagnosis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3
The anomaly model is called Isolation Forest.
Imagine plotting every reading by heart rate and temperature. Your normal readings form a tight cluster. The algorithm builds many random trees, each splitting the data at random values. A normal point sits inside the crowd, so it takes many splits to isolate it. An unusual point, like the red one at 112 bpm and 37.5 degrees, is cut off in just two splits. Short path means high anomaly score, averaged over 200 trees.
It only needs normal data to train, so we don't need recordings of people being sick.
On the right is the scikit-learn code: one model per user, and every new window gets a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3
Detecting an anomaly tells you something is wrong now. Prediction tells you something is about to go wrong.
VITAL fits a straight-line trend, a linear regression, to each vital over the last ten minutes. In this example temperature has been rising steadily. Projecting the line forward, VITAL calculates it will cross the 38 degree danger limit in about 13 minutes, and sends an early warning now, while there is still time to act.
The code on the right is the whole idea in a few lines: fit the slope with numpy, project 15 minutes ahead, and if the projection crosses the limit, estimate the time left and warn the user. We chose a simple, explainable model on purpose: everyone can see exactly why a warning was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3
To train any model we need features: numbers that describe a short window of readings. We cut the stream into 10-second windows and compute the features in the first column, including the trend slope used for prediction.
Our training plan: each of us records resting sessions to build a personal baseline, then sessions after climbing stairs labelled "Elevated", and deliberately bad recordings with a moving finger for the signal-quality model.
To test it, we hold back sessions the model has never seen and measure precision and recall of alerts, the classifier's accuracy, and how close predictions were to what actually happened. We also compare our sensor readings against a commercial pulse oximeter and thermometer. With four people the dataset is small, so these results are a proof of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3
When something goes wrong, VITAL doesn't wait for anyone to look at a screen.
The triggers on the left are deliberately simple and explainable: oxygen below 90 percent for ten seconds, a heart rate above 120 or below 45, a temperature of 38.5 or more, a high anomaly score three times in a row, or an early warning from the prediction model. A five-minute cooldown stops repeat messages.
When a trigger fires, three things happen at once: the emergency contact gets a Telegram message, the OLED on the device shows ALERT, and the person's tile on the admin station turns red.
The code on the right is the actual alert: a single call to the free Telegram Bot API. No extra hardware or paid service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3
This is how VITAL scales from one device to a whole city.
Every home, hostel or clinic running VITAL acts as a hub. Each hub sends anonymised summaries over MQTT, the standard lightweight messaging protocol for IoT, to a city platform. In India this maps onto the Integrated Command and Control Centres built under the Smart Cities Mission.
The city gets three things. A ward-level health map: if many hubs in one area report fevers at the same time, that's an early outbreak signal. Emergency dispatch: critical alerts are forwarded with location to the 108 ambulance service or the nearest hospital. And hospital records: with the patient's consent, readings can be shared in HL7 FHIR, the standard format hospitals use.
The three standards at the bottom are what make this possible: MQTT, FHIR and a normal REST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3
Health data is sensitive, so the city design has three clear tiers.
Everything personal stays on the local VITAL server: raw signals, names, each person's baseline and their full history.
The city only receives anonymised, ward-level counts: how many readings, how many fevers, how many alerts per hour, and average vitals. No names or device IDs, and very small groups are merged so no one can be identified.
Personal details leave the hub only in an emergency, and only for people who gave consent at sign-up: their name, location and last five minutes of readings go to the ambulance service or hospital.
This follows the principles of India's DPDP Act 2023: consent, using data only for its stated purpose, and sharing the minimum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4 (slides 21-27)
Here's how VITAL compares with what already exists.
Fingertip pulse oximeters are cheap but give a single reading with no history, sharing or alerts. Infrared thermometers measure only temperature.
Smartwatches are the closest consumer product: some models track blood oxygen and skin temperature trends, and some can call for help after a fall. But they belong to one person and are relatively expensive.
Hospital bedside monitors do almost everything, including central stations and alarms, but they cost lakhs and use fixed thresholds rather than learning each patient.
Many IoT research prototypes, references 1 to 3, use the same sensors; a few add ML, but rarely per-person learning, prediction or a multi-user admin view.
The last row is VITAL: every column covered, at low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4
So what is new in VITAL?
It learns your normal, so alerts are personal. It predicts, warning minutes before a reading becomes critical. It sends emergency alerts automatically. One device serves many users with an admin station on top. It offers two views of the same data. And it is designed to plug into a smart city's health network.
To be honest about it: some of these features exist individually; for example, smartwatches show trends. What doesn't exist is all of them together on a low-cost device built from off-the-shelf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4
Here's where VITAL can go next.
First, the one we really wanted: a gyroscope and accelerometer to detect falls, which matters a lot for elderly users, and to clean up the pulse signal when the hand moves. We left it out of this version to keep the cost down.
Second, an ECG module for heart rhythm. Third, a wearable version with a battery and a 3D-printed case.
On the software side: a companion mobile app, running the ML directly on the ESP32 with TinyML so no laptop is needed, and finally a live pilot connecting real VITAL hubs to a city command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4
VITAL supports four of the UN Sustainable Development Goals.
SDG 3, Good Health and Well-being: continuous monitoring and early warnings support target 3.4 on non-communicable diseases and 3.8 on access to health care.
SDG 9, Industry, Innovation and Infrastructure: a useful health tool built from affordable parts and open-source software.
SDG 10, Reduced Inequalities: low cost and multi-user, so one device can serve people who can't afford hospital equipment.
And SDG 11, Sustainable Cities and Communities: our smart city design gives cities ward-level health maps and faster emergency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4
To conclude. VITAL measures three vital signs on one low-cost ESP32 device and shows them on the device and on a live website. Its AI knows each user: it detects what is unusual for them and predicts worrying trends early. When something goes wrong, help is called automatically. And it is designed from the start to plug into a smart city's health network.
On the right is VITAL at a glance: three vital signs, four hardware modules on two data wires, readings every second, three dashboard views, four ML models and three alert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4 (only if asked)
[1] and [2] are ESP32 health monitors similar to our hardware; [1] uses the same MAX30102 plus an infrared temperature sensor and compares accuracy with a hospital monitor.
[3] combines a MAX30102-based IoT system with an LSTM model for anomaly detection.
[4] and [5] support our core ML idea: anomaly detection personalised to the individual, using wearable vital-sign and heart-rate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4
Thank you. We're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VITAL-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VITAL-Feature-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VITAL-Content-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VITAL-Pictur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ITAL 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ITAL Featu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rtlCol="0"/>
          <a:lstStyle>
            <a:lvl1pPr algn="ctr" indent="0" marL="0">
              <a:buNone/>
              <a:defRPr lang="en-US" sz="3000" b="1" dirty="0">
                <a:solidFill>
                  <a:schemeClr val="bg1"/>
                </a:solidFill>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ITAL 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rtlCol="0"/>
          <a:lstStyle>
            <a:lvl1pPr algn="ctr" indent="0" marL="0">
              <a:buNone/>
              <a:defRPr lang="en-US" sz="3000" b="1" dirty="0">
                <a:solidFill>
                  <a:schemeClr val="bg1"/>
                </a:solidFill>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ITAL Pictu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rtlCol="0"/>
          <a:lstStyle>
            <a:lvl1pPr algn="ctr" indent="0" marL="0">
              <a:buNone/>
              <a:defRPr lang="en-US" sz="3000" b="1" dirty="0">
                <a:solidFill>
                  <a:schemeClr val="bg1"/>
                </a:solidFill>
              </a:defRPr>
            </a:lvl1pPr>
          </a:lstStyle>
          <a:p>
            <a:pPr algn="ctr" indent="0" marL="0">
              <a:buNone/>
            </a:pPr>
            <a:endParaRPr lang="en-US" sz="3000" dirty="0"/>
          </a:p>
        </p:txBody>
      </p:sp>
      <p:sp>
        <p:nvSpPr>
          <p:cNvPr id="3" name="Text 0"/>
          <p:cNvSpPr/>
          <p:nvPr>
            <p:ph idx="101" hasCustomPrompt="1"/>
          </p:nvPr>
        </p:nvSpPr>
        <p:spPr>
          <a:xfrm>
            <a:off x="548640" y="1207008"/>
            <a:ext cx="5486400" cy="3364992"/>
          </a:xfrm>
          <a:prstGeom prst="rect">
            <a:avLst/>
          </a:prstGeom>
          <a:noFill/>
          <a:ln/>
        </p:spPr>
        <p:txBody>
          <a:bodyPr wrap="square" rtlCol="0"/>
          <a:lstStyle>
            <a:lvl1pPr indent="0" marL="0">
              <a:buNone/>
              <a:defRPr lang="en-US" sz="1400" dirty="0">
                <a:solidFill>
                  <a:schemeClr val="bg2"/>
                </a:solidFill>
              </a:defRPr>
            </a:lvl1pPr>
          </a:lstStyle>
          <a:p>
            <a:pPr indent="0" marL="0">
              <a:buNone/>
            </a:pPr>
            <a:r>
              <a:rPr lang="en-US" sz="1400" dirty="0">
                <a:solidFill>
                  <a:schemeClr val="bg2"/>
                </a:solidFill>
              </a:rPr>
              <a:t>Click the icon to insert a picture</a:t>
            </a:r>
            <a:endParaRPr lang="en-US" sz="140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4.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4.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463040" y="457200"/>
            <a:ext cx="6217920" cy="274320"/>
          </a:xfrm>
          <a:prstGeom prst="rect">
            <a:avLst/>
          </a:prstGeom>
          <a:noFill/>
          <a:ln/>
        </p:spPr>
        <p:txBody>
          <a:bodyPr wrap="square" lIns="0" tIns="0" rIns="0" bIns="0" rtlCol="0" anchor="t"/>
          <a:lstStyle/>
          <a:p>
            <a:pPr algn="ctr" indent="0" marL="0">
              <a:buNone/>
            </a:pPr>
            <a:r>
              <a:rPr lang="en-US" sz="1100" b="1" spc="300" kern="0" dirty="0">
                <a:solidFill>
                  <a:schemeClr val="bg2"/>
                </a:solidFill>
              </a:rPr>
              <a:t>EMBEDDED SYSTEMS ARCHITECTURE</a:t>
            </a:r>
            <a:endParaRPr lang="en-US" sz="1100" dirty="0"/>
          </a:p>
        </p:txBody>
      </p:sp>
      <p:sp>
        <p:nvSpPr>
          <p:cNvPr id="3" name="Text 1"/>
          <p:cNvSpPr txBox="1"/>
          <p:nvPr/>
        </p:nvSpPr>
        <p:spPr>
          <a:xfrm>
            <a:off x="1463040" y="822960"/>
            <a:ext cx="6217920" cy="1463040"/>
          </a:xfrm>
          <a:prstGeom prst="rect">
            <a:avLst/>
          </a:prstGeom>
          <a:noFill/>
          <a:ln/>
        </p:spPr>
        <p:txBody>
          <a:bodyPr wrap="square" lIns="0" tIns="0" rIns="0" bIns="0" rtlCol="0" anchor="ctr"/>
          <a:lstStyle/>
          <a:p>
            <a:pPr algn="ctr" indent="0" marL="0">
              <a:buNone/>
            </a:pPr>
            <a:r>
              <a:rPr lang="en-US" sz="2200" b="1" dirty="0">
                <a:solidFill>
                  <a:schemeClr val="bg1"/>
                </a:solidFill>
              </a:rPr>
              <a:t>IoT-Enabled Smart Health Monitoring and Emergency Alert System with AI-Based Anomaly Prediction for Smart City Integration</a:t>
            </a:r>
            <a:endParaRPr lang="en-US" sz="2200" dirty="0"/>
          </a:p>
        </p:txBody>
      </p:sp>
      <p:sp>
        <p:nvSpPr>
          <p:cNvPr id="4" name="Shape 2"/>
          <p:cNvSpPr/>
          <p:nvPr/>
        </p:nvSpPr>
        <p:spPr>
          <a:xfrm>
            <a:off x="2331720" y="2450592"/>
            <a:ext cx="4480560" cy="402336"/>
          </a:xfrm>
          <a:prstGeom prst="roundRect">
            <a:avLst>
              <a:gd name="adj" fmla="val 50000"/>
            </a:avLst>
          </a:prstGeom>
          <a:solidFill>
            <a:srgbClr val="214F7B"/>
          </a:solidFill>
          <a:ln w="15875">
            <a:solidFill>
              <a:srgbClr val="FFFFFF"/>
            </a:solidFill>
            <a:prstDash val="solid"/>
          </a:ln>
        </p:spPr>
      </p:sp>
      <p:sp>
        <p:nvSpPr>
          <p:cNvPr id="5" name="Text 3"/>
          <p:cNvSpPr txBox="1"/>
          <p:nvPr/>
        </p:nvSpPr>
        <p:spPr>
          <a:xfrm>
            <a:off x="2331720" y="2450592"/>
            <a:ext cx="4480560" cy="402336"/>
          </a:xfrm>
          <a:prstGeom prst="rect">
            <a:avLst/>
          </a:prstGeom>
          <a:noFill/>
          <a:ln/>
        </p:spPr>
        <p:txBody>
          <a:bodyPr wrap="square" lIns="0" tIns="0" rIns="0" bIns="0" rtlCol="0" anchor="ctr"/>
          <a:lstStyle/>
          <a:p>
            <a:pPr algn="ctr" indent="0" marL="0">
              <a:buNone/>
            </a:pPr>
            <a:r>
              <a:rPr lang="en-US" sz="1150" b="1" dirty="0">
                <a:solidFill>
                  <a:schemeClr val="bg1"/>
                </a:solidFill>
              </a:rPr>
              <a:t>VITAL · Vitals Intelligence, Tracking &amp; Anomaly Learning</a:t>
            </a:r>
            <a:endParaRPr lang="en-US" sz="1150" dirty="0"/>
          </a:p>
        </p:txBody>
      </p:sp>
      <p:sp>
        <p:nvSpPr>
          <p:cNvPr id="6" name="team1"/>
          <p:cNvSpPr/>
          <p:nvPr/>
        </p:nvSpPr>
        <p:spPr>
          <a:xfrm>
            <a:off x="1572768" y="3127248"/>
            <a:ext cx="1417320" cy="658368"/>
          </a:xfrm>
          <a:prstGeom prst="roundRect">
            <a:avLst>
              <a:gd name="adj" fmla="val 19444"/>
            </a:avLst>
          </a:prstGeom>
          <a:solidFill>
            <a:srgbClr val="1B4670">
              <a:alpha val="70000"/>
            </a:srgbClr>
          </a:solidFill>
          <a:ln w="15875">
            <a:solidFill>
              <a:srgbClr val="FFFFFF"/>
            </a:solidFill>
            <a:prstDash val="solid"/>
          </a:ln>
        </p:spPr>
      </p:sp>
      <p:sp>
        <p:nvSpPr>
          <p:cNvPr id="7" name="Text 5"/>
          <p:cNvSpPr txBox="1"/>
          <p:nvPr/>
        </p:nvSpPr>
        <p:spPr>
          <a:xfrm>
            <a:off x="1645920" y="3200400"/>
            <a:ext cx="1271016" cy="274320"/>
          </a:xfrm>
          <a:prstGeom prst="rect">
            <a:avLst/>
          </a:prstGeom>
          <a:noFill/>
          <a:ln/>
        </p:spPr>
        <p:txBody>
          <a:bodyPr wrap="square" lIns="0" tIns="0" rIns="0" bIns="0" rtlCol="0" anchor="t">
            <a:normAutofit/>
          </a:bodyPr>
          <a:lstStyle/>
          <a:p>
            <a:pPr algn="ctr" indent="0" marL="0">
              <a:buNone/>
            </a:pPr>
            <a:r>
              <a:rPr lang="en-US" sz="1050" b="1" dirty="0">
                <a:solidFill>
                  <a:schemeClr val="bg1"/>
                </a:solidFill>
              </a:rPr>
              <a:t>Amay Krishna C R</a:t>
            </a:r>
            <a:endParaRPr lang="en-US" sz="1050" dirty="0"/>
          </a:p>
        </p:txBody>
      </p:sp>
      <p:sp>
        <p:nvSpPr>
          <p:cNvPr id="8" name="Text 6"/>
          <p:cNvSpPr txBox="1"/>
          <p:nvPr/>
        </p:nvSpPr>
        <p:spPr>
          <a:xfrm>
            <a:off x="1645920" y="3474720"/>
            <a:ext cx="1271016" cy="219456"/>
          </a:xfrm>
          <a:prstGeom prst="rect">
            <a:avLst/>
          </a:prstGeom>
          <a:noFill/>
          <a:ln/>
        </p:spPr>
        <p:txBody>
          <a:bodyPr wrap="square" lIns="0" tIns="0" rIns="0" bIns="0" rtlCol="0" anchor="t"/>
          <a:lstStyle/>
          <a:p>
            <a:pPr algn="ctr" indent="0" marL="0">
              <a:buNone/>
            </a:pPr>
            <a:r>
              <a:rPr lang="en-US" sz="950" dirty="0">
                <a:solidFill>
                  <a:schemeClr val="bg2"/>
                </a:solidFill>
              </a:rPr>
              <a:t>25BCE0023</a:t>
            </a:r>
            <a:endParaRPr lang="en-US" sz="950" dirty="0"/>
          </a:p>
        </p:txBody>
      </p:sp>
      <p:sp>
        <p:nvSpPr>
          <p:cNvPr id="9" name="team2"/>
          <p:cNvSpPr/>
          <p:nvPr/>
        </p:nvSpPr>
        <p:spPr>
          <a:xfrm>
            <a:off x="3099816" y="3127248"/>
            <a:ext cx="1417320" cy="658368"/>
          </a:xfrm>
          <a:prstGeom prst="roundRect">
            <a:avLst>
              <a:gd name="adj" fmla="val 19444"/>
            </a:avLst>
          </a:prstGeom>
          <a:solidFill>
            <a:srgbClr val="1B4670">
              <a:alpha val="70000"/>
            </a:srgbClr>
          </a:solidFill>
          <a:ln w="15875">
            <a:solidFill>
              <a:srgbClr val="FFFFFF"/>
            </a:solidFill>
            <a:prstDash val="solid"/>
          </a:ln>
        </p:spPr>
      </p:sp>
      <p:sp>
        <p:nvSpPr>
          <p:cNvPr id="10" name="Text 8"/>
          <p:cNvSpPr txBox="1"/>
          <p:nvPr/>
        </p:nvSpPr>
        <p:spPr>
          <a:xfrm>
            <a:off x="3172968" y="3200400"/>
            <a:ext cx="1271016" cy="274320"/>
          </a:xfrm>
          <a:prstGeom prst="rect">
            <a:avLst/>
          </a:prstGeom>
          <a:noFill/>
          <a:ln/>
        </p:spPr>
        <p:txBody>
          <a:bodyPr wrap="square" lIns="0" tIns="0" rIns="0" bIns="0" rtlCol="0" anchor="t">
            <a:normAutofit/>
          </a:bodyPr>
          <a:lstStyle/>
          <a:p>
            <a:pPr algn="ctr" indent="0" marL="0">
              <a:buNone/>
            </a:pPr>
            <a:r>
              <a:rPr lang="en-US" sz="1050" b="1" dirty="0">
                <a:solidFill>
                  <a:schemeClr val="bg1"/>
                </a:solidFill>
              </a:rPr>
              <a:t>[Member 2 name]</a:t>
            </a:r>
            <a:endParaRPr lang="en-US" sz="1050" dirty="0"/>
          </a:p>
        </p:txBody>
      </p:sp>
      <p:sp>
        <p:nvSpPr>
          <p:cNvPr id="11" name="Text 9"/>
          <p:cNvSpPr txBox="1"/>
          <p:nvPr/>
        </p:nvSpPr>
        <p:spPr>
          <a:xfrm>
            <a:off x="3172968" y="3474720"/>
            <a:ext cx="1271016" cy="219456"/>
          </a:xfrm>
          <a:prstGeom prst="rect">
            <a:avLst/>
          </a:prstGeom>
          <a:noFill/>
          <a:ln/>
        </p:spPr>
        <p:txBody>
          <a:bodyPr wrap="square" lIns="0" tIns="0" rIns="0" bIns="0" rtlCol="0" anchor="t"/>
          <a:lstStyle/>
          <a:p>
            <a:pPr algn="ctr" indent="0" marL="0">
              <a:buNone/>
            </a:pPr>
            <a:r>
              <a:rPr lang="en-US" sz="950" dirty="0">
                <a:solidFill>
                  <a:schemeClr val="bg2"/>
                </a:solidFill>
              </a:rPr>
              <a:t>[Reg. No.]</a:t>
            </a:r>
            <a:endParaRPr lang="en-US" sz="950" dirty="0"/>
          </a:p>
        </p:txBody>
      </p:sp>
      <p:sp>
        <p:nvSpPr>
          <p:cNvPr id="12" name="team3"/>
          <p:cNvSpPr/>
          <p:nvPr/>
        </p:nvSpPr>
        <p:spPr>
          <a:xfrm>
            <a:off x="4626864" y="3127248"/>
            <a:ext cx="1417320" cy="658368"/>
          </a:xfrm>
          <a:prstGeom prst="roundRect">
            <a:avLst>
              <a:gd name="adj" fmla="val 19444"/>
            </a:avLst>
          </a:prstGeom>
          <a:solidFill>
            <a:srgbClr val="1B4670">
              <a:alpha val="70000"/>
            </a:srgbClr>
          </a:solidFill>
          <a:ln w="15875">
            <a:solidFill>
              <a:srgbClr val="FFFFFF"/>
            </a:solidFill>
            <a:prstDash val="solid"/>
          </a:ln>
        </p:spPr>
      </p:sp>
      <p:sp>
        <p:nvSpPr>
          <p:cNvPr id="13" name="Text 11"/>
          <p:cNvSpPr txBox="1"/>
          <p:nvPr/>
        </p:nvSpPr>
        <p:spPr>
          <a:xfrm>
            <a:off x="4700016" y="3200400"/>
            <a:ext cx="1271016" cy="274320"/>
          </a:xfrm>
          <a:prstGeom prst="rect">
            <a:avLst/>
          </a:prstGeom>
          <a:noFill/>
          <a:ln/>
        </p:spPr>
        <p:txBody>
          <a:bodyPr wrap="square" lIns="0" tIns="0" rIns="0" bIns="0" rtlCol="0" anchor="t">
            <a:normAutofit/>
          </a:bodyPr>
          <a:lstStyle/>
          <a:p>
            <a:pPr algn="ctr" indent="0" marL="0">
              <a:buNone/>
            </a:pPr>
            <a:r>
              <a:rPr lang="en-US" sz="1050" b="1" dirty="0">
                <a:solidFill>
                  <a:schemeClr val="bg1"/>
                </a:solidFill>
              </a:rPr>
              <a:t>[Member 3 name]</a:t>
            </a:r>
            <a:endParaRPr lang="en-US" sz="1050" dirty="0"/>
          </a:p>
        </p:txBody>
      </p:sp>
      <p:sp>
        <p:nvSpPr>
          <p:cNvPr id="14" name="Text 12"/>
          <p:cNvSpPr txBox="1"/>
          <p:nvPr/>
        </p:nvSpPr>
        <p:spPr>
          <a:xfrm>
            <a:off x="4700016" y="3474720"/>
            <a:ext cx="1271016" cy="219456"/>
          </a:xfrm>
          <a:prstGeom prst="rect">
            <a:avLst/>
          </a:prstGeom>
          <a:noFill/>
          <a:ln/>
        </p:spPr>
        <p:txBody>
          <a:bodyPr wrap="square" lIns="0" tIns="0" rIns="0" bIns="0" rtlCol="0" anchor="t"/>
          <a:lstStyle/>
          <a:p>
            <a:pPr algn="ctr" indent="0" marL="0">
              <a:buNone/>
            </a:pPr>
            <a:r>
              <a:rPr lang="en-US" sz="950" dirty="0">
                <a:solidFill>
                  <a:schemeClr val="bg2"/>
                </a:solidFill>
              </a:rPr>
              <a:t>[Reg. No.]</a:t>
            </a:r>
            <a:endParaRPr lang="en-US" sz="950" dirty="0"/>
          </a:p>
        </p:txBody>
      </p:sp>
      <p:sp>
        <p:nvSpPr>
          <p:cNvPr id="15" name="team4"/>
          <p:cNvSpPr/>
          <p:nvPr/>
        </p:nvSpPr>
        <p:spPr>
          <a:xfrm>
            <a:off x="6153912" y="3127248"/>
            <a:ext cx="1417320" cy="658368"/>
          </a:xfrm>
          <a:prstGeom prst="roundRect">
            <a:avLst>
              <a:gd name="adj" fmla="val 19444"/>
            </a:avLst>
          </a:prstGeom>
          <a:solidFill>
            <a:srgbClr val="1B4670">
              <a:alpha val="70000"/>
            </a:srgbClr>
          </a:solidFill>
          <a:ln w="15875">
            <a:solidFill>
              <a:srgbClr val="FFFFFF"/>
            </a:solidFill>
            <a:prstDash val="solid"/>
          </a:ln>
        </p:spPr>
      </p:sp>
      <p:sp>
        <p:nvSpPr>
          <p:cNvPr id="16" name="Text 14"/>
          <p:cNvSpPr txBox="1"/>
          <p:nvPr/>
        </p:nvSpPr>
        <p:spPr>
          <a:xfrm>
            <a:off x="6227064" y="3200400"/>
            <a:ext cx="1271016" cy="274320"/>
          </a:xfrm>
          <a:prstGeom prst="rect">
            <a:avLst/>
          </a:prstGeom>
          <a:noFill/>
          <a:ln/>
        </p:spPr>
        <p:txBody>
          <a:bodyPr wrap="square" lIns="0" tIns="0" rIns="0" bIns="0" rtlCol="0" anchor="t">
            <a:normAutofit/>
          </a:bodyPr>
          <a:lstStyle/>
          <a:p>
            <a:pPr algn="ctr" indent="0" marL="0">
              <a:buNone/>
            </a:pPr>
            <a:r>
              <a:rPr lang="en-US" sz="1050" b="1" dirty="0">
                <a:solidFill>
                  <a:schemeClr val="bg1"/>
                </a:solidFill>
              </a:rPr>
              <a:t>[Member 4 name]</a:t>
            </a:r>
            <a:endParaRPr lang="en-US" sz="1050" dirty="0"/>
          </a:p>
        </p:txBody>
      </p:sp>
      <p:sp>
        <p:nvSpPr>
          <p:cNvPr id="17" name="Text 15"/>
          <p:cNvSpPr txBox="1"/>
          <p:nvPr/>
        </p:nvSpPr>
        <p:spPr>
          <a:xfrm>
            <a:off x="6227064" y="3474720"/>
            <a:ext cx="1271016" cy="219456"/>
          </a:xfrm>
          <a:prstGeom prst="rect">
            <a:avLst/>
          </a:prstGeom>
          <a:noFill/>
          <a:ln/>
        </p:spPr>
        <p:txBody>
          <a:bodyPr wrap="square" lIns="0" tIns="0" rIns="0" bIns="0" rtlCol="0" anchor="t"/>
          <a:lstStyle/>
          <a:p>
            <a:pPr algn="ctr" indent="0" marL="0">
              <a:buNone/>
            </a:pPr>
            <a:r>
              <a:rPr lang="en-US" sz="950" dirty="0">
                <a:solidFill>
                  <a:schemeClr val="bg2"/>
                </a:solidFill>
              </a:rPr>
              <a:t>[Reg. No.]</a:t>
            </a:r>
            <a:endParaRPr lang="en-US" sz="950" dirty="0"/>
          </a:p>
        </p:txBody>
      </p:sp>
      <p:sp>
        <p:nvSpPr>
          <p:cNvPr id="18" name="Text 16"/>
          <p:cNvSpPr txBox="1"/>
          <p:nvPr/>
        </p:nvSpPr>
        <p:spPr>
          <a:xfrm>
            <a:off x="1463040" y="3977640"/>
            <a:ext cx="6217920" cy="274320"/>
          </a:xfrm>
          <a:prstGeom prst="rect">
            <a:avLst/>
          </a:prstGeom>
          <a:noFill/>
          <a:ln/>
        </p:spPr>
        <p:txBody>
          <a:bodyPr wrap="square" lIns="0" tIns="0" rIns="0" bIns="0" rtlCol="0" anchor="t"/>
          <a:lstStyle/>
          <a:p>
            <a:pPr algn="ctr" indent="0" marL="0">
              <a:buNone/>
            </a:pPr>
            <a:r>
              <a:rPr lang="en-US" sz="1050" dirty="0">
                <a:solidFill>
                  <a:schemeClr val="bg2"/>
                </a:solidFill>
              </a:rPr>
              <a:t>Faculty: [Faculty name]   ·   Course: [Course code]   ·   Vellore Institute of Technology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INTRODUCTION</a:t>
            </a:r>
            <a:endParaRPr lang="en-US" sz="3000" dirty="0"/>
          </a:p>
        </p:txBody>
      </p:sp>
      <p:sp>
        <p:nvSpPr>
          <p:cNvPr id="3" name="Text 1"/>
          <p:cNvSpPr txBox="1"/>
          <p:nvPr/>
        </p:nvSpPr>
        <p:spPr>
          <a:xfrm>
            <a:off x="1828800" y="1280160"/>
            <a:ext cx="5486400" cy="3017520"/>
          </a:xfrm>
          <a:prstGeom prst="rect">
            <a:avLst/>
          </a:prstGeom>
          <a:noFill/>
          <a:ln/>
        </p:spPr>
        <p:txBody>
          <a:bodyPr wrap="square" lIns="0" tIns="0" rIns="0" bIns="0" rtlCol="0" anchor="ctr"/>
          <a:lstStyle/>
          <a:p>
            <a:pPr algn="ctr" indent="0" marL="0">
              <a:spcAft>
                <a:spcPts val="400"/>
              </a:spcAft>
              <a:buNone/>
            </a:pPr>
            <a:r>
              <a:rPr lang="en-US" sz="1400" dirty="0">
                <a:solidFill>
                  <a:schemeClr val="bg1"/>
                </a:solidFill>
              </a:rPr>
              <a:t>VITAL is a low-cost IoT health monitor built on an ESP32. It measures heart rate, blood oxygen (SpO₂) and body temperature, and shows them on the device and on a live web dashboard.</a:t>
            </a:r>
            <a:endParaRPr lang="en-US" sz="1400" dirty="0"/>
          </a:p>
          <a:p>
            <a:pPr algn="ctr" indent="0" marL="0">
              <a:spcAft>
                <a:spcPts val="400"/>
              </a:spcAft>
              <a:buNone/>
            </a:pPr>
            <a:endParaRPr lang="en-US" sz="1400" dirty="0"/>
          </a:p>
          <a:p>
            <a:pPr algn="ctr" indent="0" marL="0">
              <a:spcAft>
                <a:spcPts val="400"/>
              </a:spcAft>
              <a:buNone/>
            </a:pPr>
            <a:r>
              <a:rPr lang="en-US" sz="1400" dirty="0">
                <a:solidFill>
                  <a:schemeClr val="bg1"/>
                </a:solidFill>
              </a:rPr>
              <a:t>Machine learning learns each user's normal, flags unusual readings and predicts worrying trends before they turn critical. When something goes wrong, VITAL sends an emergency alert to a family member, and its design connects to a smart city's health network.</a:t>
            </a:r>
            <a:endParaRPr lang="en-US" sz="140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PROBLEMS</a:t>
            </a:r>
            <a:endParaRPr lang="en-US" sz="3000" dirty="0"/>
          </a:p>
        </p:txBody>
      </p:sp>
      <p:sp>
        <p:nvSpPr>
          <p:cNvPr id="3" name="problemA"/>
          <p:cNvSpPr/>
          <p:nvPr/>
        </p:nvSpPr>
        <p:spPr>
          <a:xfrm>
            <a:off x="1737360" y="1600200"/>
            <a:ext cx="1783080" cy="2148840"/>
          </a:xfrm>
          <a:prstGeom prst="roundRect">
            <a:avLst>
              <a:gd name="adj" fmla="val 7179"/>
            </a:avLst>
          </a:prstGeom>
          <a:solidFill>
            <a:srgbClr val="1B4670">
              <a:alpha val="70000"/>
            </a:srgbClr>
          </a:solidFill>
          <a:ln w="15875">
            <a:solidFill>
              <a:srgbClr val="FFFFFF"/>
            </a:solidFill>
            <a:prstDash val="solid"/>
          </a:ln>
        </p:spPr>
      </p:sp>
      <p:sp>
        <p:nvSpPr>
          <p:cNvPr id="4" name="Shape 2"/>
          <p:cNvSpPr/>
          <p:nvPr/>
        </p:nvSpPr>
        <p:spPr>
          <a:xfrm>
            <a:off x="2377440" y="1348740"/>
            <a:ext cx="502920" cy="502920"/>
          </a:xfrm>
          <a:prstGeom prst="ellipse">
            <a:avLst/>
          </a:prstGeom>
          <a:solidFill>
            <a:srgbClr val="214F7B"/>
          </a:solidFill>
          <a:ln w="19050">
            <a:solidFill>
              <a:srgbClr val="FFFFFF"/>
            </a:solidFill>
            <a:prstDash val="solid"/>
          </a:ln>
        </p:spPr>
      </p:sp>
      <p:sp>
        <p:nvSpPr>
          <p:cNvPr id="5" name="Text 3"/>
          <p:cNvSpPr txBox="1"/>
          <p:nvPr/>
        </p:nvSpPr>
        <p:spPr>
          <a:xfrm>
            <a:off x="2377440" y="13487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6" name="Text 4"/>
          <p:cNvSpPr txBox="1"/>
          <p:nvPr/>
        </p:nvSpPr>
        <p:spPr>
          <a:xfrm>
            <a:off x="1847088" y="1965960"/>
            <a:ext cx="1563624" cy="457200"/>
          </a:xfrm>
          <a:prstGeom prst="rect">
            <a:avLst/>
          </a:prstGeom>
          <a:noFill/>
          <a:ln/>
        </p:spPr>
        <p:txBody>
          <a:bodyPr wrap="square" lIns="0" tIns="0" rIns="0" bIns="0" rtlCol="0" anchor="ctr"/>
          <a:lstStyle/>
          <a:p>
            <a:pPr algn="ctr" indent="0" marL="0">
              <a:buNone/>
            </a:pPr>
            <a:r>
              <a:rPr lang="en-US" sz="1250" b="1" dirty="0">
                <a:solidFill>
                  <a:schemeClr val="bg1"/>
                </a:solidFill>
              </a:rPr>
              <a:t>One-off checks</a:t>
            </a:r>
            <a:endParaRPr lang="en-US" sz="1250" dirty="0"/>
          </a:p>
        </p:txBody>
      </p:sp>
      <p:sp>
        <p:nvSpPr>
          <p:cNvPr id="7" name="Text 5"/>
          <p:cNvSpPr txBox="1"/>
          <p:nvPr/>
        </p:nvSpPr>
        <p:spPr>
          <a:xfrm>
            <a:off x="1847088" y="2450592"/>
            <a:ext cx="1563624" cy="1234440"/>
          </a:xfrm>
          <a:prstGeom prst="rect">
            <a:avLst/>
          </a:prstGeom>
          <a:noFill/>
          <a:ln/>
        </p:spPr>
        <p:txBody>
          <a:bodyPr wrap="square" lIns="0" tIns="0" rIns="0" bIns="0" rtlCol="0" anchor="t"/>
          <a:lstStyle/>
          <a:p>
            <a:pPr algn="ctr" indent="0" marL="0">
              <a:buNone/>
            </a:pPr>
            <a:r>
              <a:rPr lang="en-US" sz="1050" dirty="0">
                <a:solidFill>
                  <a:schemeClr val="bg2"/>
                </a:solidFill>
              </a:rPr>
              <a:t>A thermometer or oximeter gives one number, then the moment is gone.</a:t>
            </a:r>
            <a:endParaRPr lang="en-US" sz="1050" dirty="0"/>
          </a:p>
        </p:txBody>
      </p:sp>
      <p:sp>
        <p:nvSpPr>
          <p:cNvPr id="8" name="problemB"/>
          <p:cNvSpPr/>
          <p:nvPr/>
        </p:nvSpPr>
        <p:spPr>
          <a:xfrm>
            <a:off x="3749040" y="1600200"/>
            <a:ext cx="1783080" cy="2148840"/>
          </a:xfrm>
          <a:prstGeom prst="roundRect">
            <a:avLst>
              <a:gd name="adj" fmla="val 7179"/>
            </a:avLst>
          </a:prstGeom>
          <a:solidFill>
            <a:srgbClr val="1B4670">
              <a:alpha val="70000"/>
            </a:srgbClr>
          </a:solidFill>
          <a:ln w="15875">
            <a:solidFill>
              <a:srgbClr val="FFFFFF"/>
            </a:solidFill>
            <a:prstDash val="solid"/>
          </a:ln>
        </p:spPr>
      </p:sp>
      <p:sp>
        <p:nvSpPr>
          <p:cNvPr id="9" name="Shape 7"/>
          <p:cNvSpPr/>
          <p:nvPr/>
        </p:nvSpPr>
        <p:spPr>
          <a:xfrm>
            <a:off x="4389120" y="1348740"/>
            <a:ext cx="502920" cy="502920"/>
          </a:xfrm>
          <a:prstGeom prst="ellipse">
            <a:avLst/>
          </a:prstGeom>
          <a:solidFill>
            <a:srgbClr val="214F7B"/>
          </a:solidFill>
          <a:ln w="19050">
            <a:solidFill>
              <a:srgbClr val="FFFFFF"/>
            </a:solidFill>
            <a:prstDash val="solid"/>
          </a:ln>
        </p:spPr>
      </p:sp>
      <p:sp>
        <p:nvSpPr>
          <p:cNvPr id="10" name="Text 8"/>
          <p:cNvSpPr txBox="1"/>
          <p:nvPr/>
        </p:nvSpPr>
        <p:spPr>
          <a:xfrm>
            <a:off x="4389120" y="13487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Text 9"/>
          <p:cNvSpPr txBox="1"/>
          <p:nvPr/>
        </p:nvSpPr>
        <p:spPr>
          <a:xfrm>
            <a:off x="3858768" y="1965960"/>
            <a:ext cx="1563624" cy="457200"/>
          </a:xfrm>
          <a:prstGeom prst="rect">
            <a:avLst/>
          </a:prstGeom>
          <a:noFill/>
          <a:ln/>
        </p:spPr>
        <p:txBody>
          <a:bodyPr wrap="square" lIns="0" tIns="0" rIns="0" bIns="0" rtlCol="0" anchor="ctr"/>
          <a:lstStyle/>
          <a:p>
            <a:pPr algn="ctr" indent="0" marL="0">
              <a:buNone/>
            </a:pPr>
            <a:r>
              <a:rPr lang="en-US" sz="1250" b="1" dirty="0">
                <a:solidFill>
                  <a:schemeClr val="bg1"/>
                </a:solidFill>
              </a:rPr>
              <a:t>Same limits for all</a:t>
            </a:r>
            <a:endParaRPr lang="en-US" sz="1250" dirty="0"/>
          </a:p>
        </p:txBody>
      </p:sp>
      <p:sp>
        <p:nvSpPr>
          <p:cNvPr id="12" name="Text 10"/>
          <p:cNvSpPr txBox="1"/>
          <p:nvPr/>
        </p:nvSpPr>
        <p:spPr>
          <a:xfrm>
            <a:off x="3858768" y="2450592"/>
            <a:ext cx="1563624" cy="1234440"/>
          </a:xfrm>
          <a:prstGeom prst="rect">
            <a:avLst/>
          </a:prstGeom>
          <a:noFill/>
          <a:ln/>
        </p:spPr>
        <p:txBody>
          <a:bodyPr wrap="square" lIns="0" tIns="0" rIns="0" bIns="0" rtlCol="0" anchor="t"/>
          <a:lstStyle/>
          <a:p>
            <a:pPr algn="ctr" indent="0" marL="0">
              <a:buNone/>
            </a:pPr>
            <a:r>
              <a:rPr lang="en-US" sz="1050" dirty="0">
                <a:solidFill>
                  <a:schemeClr val="bg2"/>
                </a:solidFill>
              </a:rPr>
              <a:t>"Normal" is a textbook range. A big change for you can still look normal.</a:t>
            </a:r>
            <a:endParaRPr lang="en-US" sz="1050" dirty="0"/>
          </a:p>
        </p:txBody>
      </p:sp>
      <p:sp>
        <p:nvSpPr>
          <p:cNvPr id="13" name="problemC"/>
          <p:cNvSpPr/>
          <p:nvPr/>
        </p:nvSpPr>
        <p:spPr>
          <a:xfrm>
            <a:off x="5760720" y="1600200"/>
            <a:ext cx="1783080" cy="2148840"/>
          </a:xfrm>
          <a:prstGeom prst="roundRect">
            <a:avLst>
              <a:gd name="adj" fmla="val 7179"/>
            </a:avLst>
          </a:prstGeom>
          <a:solidFill>
            <a:srgbClr val="1B4670">
              <a:alpha val="70000"/>
            </a:srgbClr>
          </a:solidFill>
          <a:ln w="15875">
            <a:solidFill>
              <a:srgbClr val="FFFFFF"/>
            </a:solidFill>
            <a:prstDash val="solid"/>
          </a:ln>
        </p:spPr>
      </p:sp>
      <p:sp>
        <p:nvSpPr>
          <p:cNvPr id="14" name="Shape 12"/>
          <p:cNvSpPr/>
          <p:nvPr/>
        </p:nvSpPr>
        <p:spPr>
          <a:xfrm>
            <a:off x="6400800" y="1348740"/>
            <a:ext cx="502920" cy="502920"/>
          </a:xfrm>
          <a:prstGeom prst="ellipse">
            <a:avLst/>
          </a:prstGeom>
          <a:solidFill>
            <a:srgbClr val="214F7B"/>
          </a:solidFill>
          <a:ln w="19050">
            <a:solidFill>
              <a:srgbClr val="FFFFFF"/>
            </a:solidFill>
            <a:prstDash val="solid"/>
          </a:ln>
        </p:spPr>
      </p:sp>
      <p:sp>
        <p:nvSpPr>
          <p:cNvPr id="15" name="Text 13"/>
          <p:cNvSpPr txBox="1"/>
          <p:nvPr/>
        </p:nvSpPr>
        <p:spPr>
          <a:xfrm>
            <a:off x="6400800" y="13487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6" name="Text 14"/>
          <p:cNvSpPr txBox="1"/>
          <p:nvPr/>
        </p:nvSpPr>
        <p:spPr>
          <a:xfrm>
            <a:off x="5870448" y="1965960"/>
            <a:ext cx="1563624" cy="457200"/>
          </a:xfrm>
          <a:prstGeom prst="rect">
            <a:avLst/>
          </a:prstGeom>
          <a:noFill/>
          <a:ln/>
        </p:spPr>
        <p:txBody>
          <a:bodyPr wrap="square" lIns="0" tIns="0" rIns="0" bIns="0" rtlCol="0" anchor="ctr"/>
          <a:lstStyle/>
          <a:p>
            <a:pPr algn="ctr" indent="0" marL="0">
              <a:buNone/>
            </a:pPr>
            <a:r>
              <a:rPr lang="en-US" sz="1250" b="1" dirty="0">
                <a:solidFill>
                  <a:schemeClr val="bg1"/>
                </a:solidFill>
              </a:rPr>
              <a:t>Help arrives late</a:t>
            </a:r>
            <a:endParaRPr lang="en-US" sz="1250" dirty="0"/>
          </a:p>
        </p:txBody>
      </p:sp>
      <p:sp>
        <p:nvSpPr>
          <p:cNvPr id="17" name="Text 15"/>
          <p:cNvSpPr txBox="1"/>
          <p:nvPr/>
        </p:nvSpPr>
        <p:spPr>
          <a:xfrm>
            <a:off x="5870448" y="2450592"/>
            <a:ext cx="1563624" cy="1234440"/>
          </a:xfrm>
          <a:prstGeom prst="rect">
            <a:avLst/>
          </a:prstGeom>
          <a:noFill/>
          <a:ln/>
        </p:spPr>
        <p:txBody>
          <a:bodyPr wrap="square" lIns="0" tIns="0" rIns="0" bIns="0" rtlCol="0" anchor="t"/>
          <a:lstStyle/>
          <a:p>
            <a:pPr algn="ctr" indent="0" marL="0">
              <a:buNone/>
            </a:pPr>
            <a:r>
              <a:rPr lang="en-US" sz="1050" dirty="0">
                <a:solidFill>
                  <a:schemeClr val="bg2"/>
                </a:solidFill>
              </a:rPr>
              <a:t>Readings stay on the device, so family or a doctor hear about an emergency only when someone calls.</a:t>
            </a:r>
            <a:endParaRPr lang="en-US" sz="1050" dirty="0"/>
          </a:p>
        </p:txBody>
      </p:sp>
      <p:sp>
        <p:nvSpPr>
          <p:cNvPr id="18" name="Text 16"/>
          <p:cNvSpPr txBox="1"/>
          <p:nvPr/>
        </p:nvSpPr>
        <p:spPr>
          <a:xfrm>
            <a:off x="1737360" y="3931920"/>
            <a:ext cx="5806440" cy="457200"/>
          </a:xfrm>
          <a:prstGeom prst="rect">
            <a:avLst/>
          </a:prstGeom>
          <a:noFill/>
          <a:ln/>
        </p:spPr>
        <p:txBody>
          <a:bodyPr wrap="square" lIns="0" tIns="0" rIns="0" bIns="0" rtlCol="0" anchor="ctr"/>
          <a:lstStyle/>
          <a:p>
            <a:pPr algn="ctr" indent="0" marL="0">
              <a:buNone/>
            </a:pPr>
            <a:r>
              <a:rPr lang="en-US" sz="1200" b="1" dirty="0">
                <a:solidFill>
                  <a:schemeClr val="accent2"/>
                </a:solidFill>
              </a:rPr>
              <a:t>VITAL watches continuously, learns each person's normal and raises the alarm automatically.</a:t>
            </a:r>
            <a:endParaRPr lang="en-US" sz="120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HARDWARE COMPONENTS</a:t>
            </a:r>
            <a:endParaRPr lang="en-US" sz="3000" dirty="0"/>
          </a:p>
        </p:txBody>
      </p:sp>
      <p:sp>
        <p:nvSpPr>
          <p:cNvPr id="3" name="card1"/>
          <p:cNvSpPr/>
          <p:nvPr/>
        </p:nvSpPr>
        <p:spPr>
          <a:xfrm>
            <a:off x="548640" y="1188720"/>
            <a:ext cx="1874520" cy="3200400"/>
          </a:xfrm>
          <a:prstGeom prst="roundRect">
            <a:avLst>
              <a:gd name="adj" fmla="val 6829"/>
            </a:avLst>
          </a:prstGeom>
          <a:solidFill>
            <a:srgbClr val="1B4670">
              <a:alpha val="70000"/>
            </a:srgbClr>
          </a:solidFill>
          <a:ln w="15875">
            <a:solidFill>
              <a:srgbClr val="FFFFFF"/>
            </a:solidFill>
            <a:prstDash val="solid"/>
          </a:ln>
        </p:spPr>
      </p:sp>
      <p:pic>
        <p:nvPicPr>
          <p:cNvPr id="4" name="Image 0" descr="img/mod_esp32.png">    </p:cNvPr>
          <p:cNvPicPr>
            <a:picLocks noChangeAspect="1"/>
          </p:cNvPicPr>
          <p:nvPr/>
        </p:nvPicPr>
        <p:blipFill>
          <a:blip r:embed="rId1"/>
          <a:stretch>
            <a:fillRect/>
          </a:stretch>
        </p:blipFill>
        <p:spPr>
          <a:xfrm>
            <a:off x="640080" y="1261872"/>
            <a:ext cx="1691640" cy="950976"/>
          </a:xfrm>
          <a:prstGeom prst="rect">
            <a:avLst/>
          </a:prstGeom>
        </p:spPr>
      </p:pic>
      <p:sp>
        <p:nvSpPr>
          <p:cNvPr id="5" name="Text 2"/>
          <p:cNvSpPr txBox="1"/>
          <p:nvPr/>
        </p:nvSpPr>
        <p:spPr>
          <a:xfrm>
            <a:off x="685800" y="2286000"/>
            <a:ext cx="1600200" cy="219456"/>
          </a:xfrm>
          <a:prstGeom prst="rect">
            <a:avLst/>
          </a:prstGeom>
          <a:noFill/>
          <a:ln/>
        </p:spPr>
        <p:txBody>
          <a:bodyPr wrap="square" lIns="0" tIns="0" rIns="0" bIns="0" rtlCol="0" anchor="t"/>
          <a:lstStyle/>
          <a:p>
            <a:pPr indent="0" marL="0">
              <a:buNone/>
            </a:pPr>
            <a:r>
              <a:rPr lang="en-US" sz="950" b="1" spc="100" kern="0" dirty="0">
                <a:solidFill>
                  <a:schemeClr val="accent2"/>
                </a:solidFill>
              </a:rPr>
              <a:t>THE BRAIN</a:t>
            </a:r>
            <a:endParaRPr lang="en-US" sz="950" dirty="0"/>
          </a:p>
        </p:txBody>
      </p:sp>
      <p:sp>
        <p:nvSpPr>
          <p:cNvPr id="6" name="Text 3"/>
          <p:cNvSpPr txBox="1"/>
          <p:nvPr/>
        </p:nvSpPr>
        <p:spPr>
          <a:xfrm>
            <a:off x="685800" y="2514600"/>
            <a:ext cx="1600200" cy="292608"/>
          </a:xfrm>
          <a:prstGeom prst="rect">
            <a:avLst/>
          </a:prstGeom>
          <a:noFill/>
          <a:ln/>
        </p:spPr>
        <p:txBody>
          <a:bodyPr wrap="square" lIns="0" tIns="0" rIns="0" bIns="0" rtlCol="0" anchor="t">
            <a:normAutofit/>
          </a:bodyPr>
          <a:lstStyle/>
          <a:p>
            <a:pPr indent="0" marL="0">
              <a:buNone/>
            </a:pPr>
            <a:r>
              <a:rPr lang="en-US" sz="1250" b="1" dirty="0">
                <a:solidFill>
                  <a:schemeClr val="bg1"/>
                </a:solidFill>
              </a:rPr>
              <a:t>ESP32 DevKit V1</a:t>
            </a:r>
            <a:endParaRPr lang="en-US" sz="1250" dirty="0"/>
          </a:p>
        </p:txBody>
      </p:sp>
      <p:sp>
        <p:nvSpPr>
          <p:cNvPr id="7" name="Text 4"/>
          <p:cNvSpPr txBox="1"/>
          <p:nvPr/>
        </p:nvSpPr>
        <p:spPr>
          <a:xfrm>
            <a:off x="685800" y="2834640"/>
            <a:ext cx="1600200" cy="960120"/>
          </a:xfrm>
          <a:prstGeom prst="rect">
            <a:avLst/>
          </a:prstGeom>
          <a:noFill/>
          <a:ln/>
        </p:spPr>
        <p:txBody>
          <a:bodyPr wrap="square" lIns="0" tIns="0" rIns="0" bIns="0" rtlCol="0" anchor="t"/>
          <a:lstStyle/>
          <a:p>
            <a:pPr indent="0" marL="0">
              <a:buNone/>
            </a:pPr>
            <a:r>
              <a:rPr lang="en-US" sz="1000" dirty="0">
                <a:solidFill>
                  <a:schemeClr val="bg2"/>
                </a:solidFill>
              </a:rPr>
              <a:t>Dual-core 240 MHz MCU with built-in Wi-Fi. Reads the sensors, sends data to the server.</a:t>
            </a:r>
            <a:endParaRPr lang="en-US" sz="1000" dirty="0"/>
          </a:p>
        </p:txBody>
      </p:sp>
      <p:sp>
        <p:nvSpPr>
          <p:cNvPr id="8" name="Shape 5"/>
          <p:cNvSpPr/>
          <p:nvPr/>
        </p:nvSpPr>
        <p:spPr>
          <a:xfrm>
            <a:off x="731520" y="3913632"/>
            <a:ext cx="1508760" cy="292608"/>
          </a:xfrm>
          <a:prstGeom prst="roundRect">
            <a:avLst>
              <a:gd name="adj" fmla="val 50000"/>
            </a:avLst>
          </a:prstGeom>
          <a:solidFill>
            <a:srgbClr val="214F7B"/>
          </a:solidFill>
          <a:ln w="15875">
            <a:solidFill>
              <a:srgbClr val="FFFFFF"/>
            </a:solidFill>
            <a:prstDash val="solid"/>
          </a:ln>
        </p:spPr>
      </p:sp>
      <p:sp>
        <p:nvSpPr>
          <p:cNvPr id="9" name="Text 6"/>
          <p:cNvSpPr txBox="1"/>
          <p:nvPr/>
        </p:nvSpPr>
        <p:spPr>
          <a:xfrm>
            <a:off x="731520" y="3913632"/>
            <a:ext cx="1508760" cy="292608"/>
          </a:xfrm>
          <a:prstGeom prst="rect">
            <a:avLst/>
          </a:prstGeom>
          <a:noFill/>
          <a:ln/>
        </p:spPr>
        <p:txBody>
          <a:bodyPr wrap="square" lIns="0" tIns="0" rIns="0" bIns="0" rtlCol="0" anchor="ctr"/>
          <a:lstStyle/>
          <a:p>
            <a:pPr algn="ctr" indent="0" marL="0">
              <a:buNone/>
            </a:pPr>
            <a:r>
              <a:rPr lang="en-US" sz="950" b="1" dirty="0">
                <a:solidFill>
                  <a:schemeClr val="bg1"/>
                </a:solidFill>
              </a:rPr>
              <a:t>I²C master · Wi-Fi</a:t>
            </a:r>
            <a:endParaRPr lang="en-US" sz="950" dirty="0"/>
          </a:p>
        </p:txBody>
      </p:sp>
      <p:sp>
        <p:nvSpPr>
          <p:cNvPr id="10" name="card2"/>
          <p:cNvSpPr/>
          <p:nvPr/>
        </p:nvSpPr>
        <p:spPr>
          <a:xfrm>
            <a:off x="2606040" y="1188720"/>
            <a:ext cx="1874520" cy="3200400"/>
          </a:xfrm>
          <a:prstGeom prst="roundRect">
            <a:avLst>
              <a:gd name="adj" fmla="val 6829"/>
            </a:avLst>
          </a:prstGeom>
          <a:solidFill>
            <a:srgbClr val="1B4670">
              <a:alpha val="70000"/>
            </a:srgbClr>
          </a:solidFill>
          <a:ln w="15875">
            <a:solidFill>
              <a:srgbClr val="FFFFFF"/>
            </a:solidFill>
            <a:prstDash val="solid"/>
          </a:ln>
        </p:spPr>
      </p:sp>
      <p:pic>
        <p:nvPicPr>
          <p:cNvPr id="11" name="Image 1" descr="img/mod_max30102.png">    </p:cNvPr>
          <p:cNvPicPr>
            <a:picLocks noChangeAspect="1"/>
          </p:cNvPicPr>
          <p:nvPr/>
        </p:nvPicPr>
        <p:blipFill>
          <a:blip r:embed="rId2"/>
          <a:stretch>
            <a:fillRect/>
          </a:stretch>
        </p:blipFill>
        <p:spPr>
          <a:xfrm>
            <a:off x="2697480" y="1261872"/>
            <a:ext cx="1691640" cy="950976"/>
          </a:xfrm>
          <a:prstGeom prst="rect">
            <a:avLst/>
          </a:prstGeom>
        </p:spPr>
      </p:pic>
      <p:sp>
        <p:nvSpPr>
          <p:cNvPr id="12" name="Text 8"/>
          <p:cNvSpPr txBox="1"/>
          <p:nvPr/>
        </p:nvSpPr>
        <p:spPr>
          <a:xfrm>
            <a:off x="2743200" y="2286000"/>
            <a:ext cx="1600200" cy="219456"/>
          </a:xfrm>
          <a:prstGeom prst="rect">
            <a:avLst/>
          </a:prstGeom>
          <a:noFill/>
          <a:ln/>
        </p:spPr>
        <p:txBody>
          <a:bodyPr wrap="square" lIns="0" tIns="0" rIns="0" bIns="0" rtlCol="0" anchor="t"/>
          <a:lstStyle/>
          <a:p>
            <a:pPr indent="0" marL="0">
              <a:buNone/>
            </a:pPr>
            <a:r>
              <a:rPr lang="en-US" sz="950" b="1" spc="100" kern="0" dirty="0">
                <a:solidFill>
                  <a:schemeClr val="accent2"/>
                </a:solidFill>
              </a:rPr>
              <a:t>PULSE + OXYGEN</a:t>
            </a:r>
            <a:endParaRPr lang="en-US" sz="950" dirty="0"/>
          </a:p>
        </p:txBody>
      </p:sp>
      <p:sp>
        <p:nvSpPr>
          <p:cNvPr id="13" name="Text 9"/>
          <p:cNvSpPr txBox="1"/>
          <p:nvPr/>
        </p:nvSpPr>
        <p:spPr>
          <a:xfrm>
            <a:off x="2743200" y="2514600"/>
            <a:ext cx="1600200" cy="292608"/>
          </a:xfrm>
          <a:prstGeom prst="rect">
            <a:avLst/>
          </a:prstGeom>
          <a:noFill/>
          <a:ln/>
        </p:spPr>
        <p:txBody>
          <a:bodyPr wrap="square" lIns="0" tIns="0" rIns="0" bIns="0" rtlCol="0" anchor="t">
            <a:normAutofit/>
          </a:bodyPr>
          <a:lstStyle/>
          <a:p>
            <a:pPr indent="0" marL="0">
              <a:buNone/>
            </a:pPr>
            <a:r>
              <a:rPr lang="en-US" sz="1250" b="1" dirty="0">
                <a:solidFill>
                  <a:schemeClr val="bg1"/>
                </a:solidFill>
              </a:rPr>
              <a:t>MAX30102</a:t>
            </a:r>
            <a:endParaRPr lang="en-US" sz="1250" dirty="0"/>
          </a:p>
        </p:txBody>
      </p:sp>
      <p:sp>
        <p:nvSpPr>
          <p:cNvPr id="14" name="Text 10"/>
          <p:cNvSpPr txBox="1"/>
          <p:nvPr/>
        </p:nvSpPr>
        <p:spPr>
          <a:xfrm>
            <a:off x="2743200" y="2834640"/>
            <a:ext cx="1600200" cy="960120"/>
          </a:xfrm>
          <a:prstGeom prst="rect">
            <a:avLst/>
          </a:prstGeom>
          <a:noFill/>
          <a:ln/>
        </p:spPr>
        <p:txBody>
          <a:bodyPr wrap="square" lIns="0" tIns="0" rIns="0" bIns="0" rtlCol="0" anchor="t"/>
          <a:lstStyle/>
          <a:p>
            <a:pPr indent="0" marL="0">
              <a:buNone/>
            </a:pPr>
            <a:r>
              <a:rPr lang="en-US" sz="1000" dirty="0">
                <a:solidFill>
                  <a:schemeClr val="bg2"/>
                </a:solidFill>
              </a:rPr>
              <a:t>Red + IR LEDs light the fingertip; a photodetector reads the light that returns.</a:t>
            </a:r>
            <a:endParaRPr lang="en-US" sz="1000" dirty="0"/>
          </a:p>
        </p:txBody>
      </p:sp>
      <p:sp>
        <p:nvSpPr>
          <p:cNvPr id="15" name="Shape 11"/>
          <p:cNvSpPr/>
          <p:nvPr/>
        </p:nvSpPr>
        <p:spPr>
          <a:xfrm>
            <a:off x="2788920" y="3913632"/>
            <a:ext cx="1508760" cy="292608"/>
          </a:xfrm>
          <a:prstGeom prst="roundRect">
            <a:avLst>
              <a:gd name="adj" fmla="val 50000"/>
            </a:avLst>
          </a:prstGeom>
          <a:solidFill>
            <a:srgbClr val="214F7B"/>
          </a:solidFill>
          <a:ln w="15875">
            <a:solidFill>
              <a:srgbClr val="FFFFFF"/>
            </a:solidFill>
            <a:prstDash val="solid"/>
          </a:ln>
        </p:spPr>
      </p:sp>
      <p:sp>
        <p:nvSpPr>
          <p:cNvPr id="16" name="Text 12"/>
          <p:cNvSpPr txBox="1"/>
          <p:nvPr/>
        </p:nvSpPr>
        <p:spPr>
          <a:xfrm>
            <a:off x="2788920" y="3913632"/>
            <a:ext cx="1508760" cy="292608"/>
          </a:xfrm>
          <a:prstGeom prst="rect">
            <a:avLst/>
          </a:prstGeom>
          <a:noFill/>
          <a:ln/>
        </p:spPr>
        <p:txBody>
          <a:bodyPr wrap="square" lIns="0" tIns="0" rIns="0" bIns="0" rtlCol="0" anchor="ctr"/>
          <a:lstStyle/>
          <a:p>
            <a:pPr algn="ctr" indent="0" marL="0">
              <a:buNone/>
            </a:pPr>
            <a:r>
              <a:rPr lang="en-US" sz="950" b="1" dirty="0">
                <a:solidFill>
                  <a:schemeClr val="bg1"/>
                </a:solidFill>
              </a:rPr>
              <a:t>I²C · 0x57</a:t>
            </a:r>
            <a:endParaRPr lang="en-US" sz="950" dirty="0"/>
          </a:p>
        </p:txBody>
      </p:sp>
      <p:sp>
        <p:nvSpPr>
          <p:cNvPr id="17" name="card3"/>
          <p:cNvSpPr/>
          <p:nvPr/>
        </p:nvSpPr>
        <p:spPr>
          <a:xfrm>
            <a:off x="4663440" y="1188720"/>
            <a:ext cx="1874520" cy="3200400"/>
          </a:xfrm>
          <a:prstGeom prst="roundRect">
            <a:avLst>
              <a:gd name="adj" fmla="val 6829"/>
            </a:avLst>
          </a:prstGeom>
          <a:solidFill>
            <a:srgbClr val="1B4670">
              <a:alpha val="70000"/>
            </a:srgbClr>
          </a:solidFill>
          <a:ln w="15875">
            <a:solidFill>
              <a:srgbClr val="FFFFFF"/>
            </a:solidFill>
            <a:prstDash val="solid"/>
          </a:ln>
        </p:spPr>
      </p:sp>
      <p:pic>
        <p:nvPicPr>
          <p:cNvPr id="18" name="Image 2" descr="img/mod_gy906.png">    </p:cNvPr>
          <p:cNvPicPr>
            <a:picLocks noChangeAspect="1"/>
          </p:cNvPicPr>
          <p:nvPr/>
        </p:nvPicPr>
        <p:blipFill>
          <a:blip r:embed="rId3"/>
          <a:stretch>
            <a:fillRect/>
          </a:stretch>
        </p:blipFill>
        <p:spPr>
          <a:xfrm>
            <a:off x="4754880" y="1261872"/>
            <a:ext cx="1691640" cy="950976"/>
          </a:xfrm>
          <a:prstGeom prst="rect">
            <a:avLst/>
          </a:prstGeom>
        </p:spPr>
      </p:pic>
      <p:sp>
        <p:nvSpPr>
          <p:cNvPr id="19" name="Text 14"/>
          <p:cNvSpPr txBox="1"/>
          <p:nvPr/>
        </p:nvSpPr>
        <p:spPr>
          <a:xfrm>
            <a:off x="4800600" y="2286000"/>
            <a:ext cx="1600200" cy="219456"/>
          </a:xfrm>
          <a:prstGeom prst="rect">
            <a:avLst/>
          </a:prstGeom>
          <a:noFill/>
          <a:ln/>
        </p:spPr>
        <p:txBody>
          <a:bodyPr wrap="square" lIns="0" tIns="0" rIns="0" bIns="0" rtlCol="0" anchor="t"/>
          <a:lstStyle/>
          <a:p>
            <a:pPr indent="0" marL="0">
              <a:buNone/>
            </a:pPr>
            <a:r>
              <a:rPr lang="en-US" sz="950" b="1" spc="100" kern="0" dirty="0">
                <a:solidFill>
                  <a:schemeClr val="accent2"/>
                </a:solidFill>
              </a:rPr>
              <a:t>TEMPERATURE</a:t>
            </a:r>
            <a:endParaRPr lang="en-US" sz="950" dirty="0"/>
          </a:p>
        </p:txBody>
      </p:sp>
      <p:sp>
        <p:nvSpPr>
          <p:cNvPr id="20" name="Text 15"/>
          <p:cNvSpPr txBox="1"/>
          <p:nvPr/>
        </p:nvSpPr>
        <p:spPr>
          <a:xfrm>
            <a:off x="4800600" y="2514600"/>
            <a:ext cx="1600200" cy="292608"/>
          </a:xfrm>
          <a:prstGeom prst="rect">
            <a:avLst/>
          </a:prstGeom>
          <a:noFill/>
          <a:ln/>
        </p:spPr>
        <p:txBody>
          <a:bodyPr wrap="square" lIns="0" tIns="0" rIns="0" bIns="0" rtlCol="0" anchor="t">
            <a:normAutofit/>
          </a:bodyPr>
          <a:lstStyle/>
          <a:p>
            <a:pPr indent="0" marL="0">
              <a:buNone/>
            </a:pPr>
            <a:r>
              <a:rPr lang="en-US" sz="1250" b="1" dirty="0">
                <a:solidFill>
                  <a:schemeClr val="bg1"/>
                </a:solidFill>
              </a:rPr>
              <a:t>GY-906 MLX90614</a:t>
            </a:r>
            <a:endParaRPr lang="en-US" sz="1250" dirty="0"/>
          </a:p>
        </p:txBody>
      </p:sp>
      <p:sp>
        <p:nvSpPr>
          <p:cNvPr id="21" name="Text 16"/>
          <p:cNvSpPr txBox="1"/>
          <p:nvPr/>
        </p:nvSpPr>
        <p:spPr>
          <a:xfrm>
            <a:off x="4800600" y="2834640"/>
            <a:ext cx="1600200" cy="960120"/>
          </a:xfrm>
          <a:prstGeom prst="rect">
            <a:avLst/>
          </a:prstGeom>
          <a:noFill/>
          <a:ln/>
        </p:spPr>
        <p:txBody>
          <a:bodyPr wrap="square" lIns="0" tIns="0" rIns="0" bIns="0" rtlCol="0" anchor="t"/>
          <a:lstStyle/>
          <a:p>
            <a:pPr indent="0" marL="0">
              <a:buNone/>
            </a:pPr>
            <a:r>
              <a:rPr lang="en-US" sz="1000" dirty="0">
                <a:solidFill>
                  <a:schemeClr val="bg2"/>
                </a:solidFill>
              </a:rPr>
              <a:t>Non-contact IR thermometer: skin (object) and room (ambient) temperature.</a:t>
            </a:r>
            <a:endParaRPr lang="en-US" sz="1000" dirty="0"/>
          </a:p>
        </p:txBody>
      </p:sp>
      <p:sp>
        <p:nvSpPr>
          <p:cNvPr id="22" name="Shape 17"/>
          <p:cNvSpPr/>
          <p:nvPr/>
        </p:nvSpPr>
        <p:spPr>
          <a:xfrm>
            <a:off x="4846320" y="3913632"/>
            <a:ext cx="1508760" cy="292608"/>
          </a:xfrm>
          <a:prstGeom prst="roundRect">
            <a:avLst>
              <a:gd name="adj" fmla="val 50000"/>
            </a:avLst>
          </a:prstGeom>
          <a:solidFill>
            <a:srgbClr val="214F7B"/>
          </a:solidFill>
          <a:ln w="15875">
            <a:solidFill>
              <a:srgbClr val="FFFFFF"/>
            </a:solidFill>
            <a:prstDash val="solid"/>
          </a:ln>
        </p:spPr>
      </p:sp>
      <p:sp>
        <p:nvSpPr>
          <p:cNvPr id="23" name="Text 18"/>
          <p:cNvSpPr txBox="1"/>
          <p:nvPr/>
        </p:nvSpPr>
        <p:spPr>
          <a:xfrm>
            <a:off x="4846320" y="3913632"/>
            <a:ext cx="1508760" cy="292608"/>
          </a:xfrm>
          <a:prstGeom prst="rect">
            <a:avLst/>
          </a:prstGeom>
          <a:noFill/>
          <a:ln/>
        </p:spPr>
        <p:txBody>
          <a:bodyPr wrap="square" lIns="0" tIns="0" rIns="0" bIns="0" rtlCol="0" anchor="ctr"/>
          <a:lstStyle/>
          <a:p>
            <a:pPr algn="ctr" indent="0" marL="0">
              <a:buNone/>
            </a:pPr>
            <a:r>
              <a:rPr lang="en-US" sz="950" b="1" dirty="0">
                <a:solidFill>
                  <a:schemeClr val="bg1"/>
                </a:solidFill>
              </a:rPr>
              <a:t>I²C · 0x5A</a:t>
            </a:r>
            <a:endParaRPr lang="en-US" sz="950" dirty="0"/>
          </a:p>
        </p:txBody>
      </p:sp>
      <p:sp>
        <p:nvSpPr>
          <p:cNvPr id="24" name="card4"/>
          <p:cNvSpPr/>
          <p:nvPr/>
        </p:nvSpPr>
        <p:spPr>
          <a:xfrm>
            <a:off x="6720840" y="1188720"/>
            <a:ext cx="1874520" cy="3200400"/>
          </a:xfrm>
          <a:prstGeom prst="roundRect">
            <a:avLst>
              <a:gd name="adj" fmla="val 6829"/>
            </a:avLst>
          </a:prstGeom>
          <a:solidFill>
            <a:srgbClr val="1B4670">
              <a:alpha val="70000"/>
            </a:srgbClr>
          </a:solidFill>
          <a:ln w="15875">
            <a:solidFill>
              <a:srgbClr val="FFFFFF"/>
            </a:solidFill>
            <a:prstDash val="solid"/>
          </a:ln>
        </p:spPr>
      </p:sp>
      <p:pic>
        <p:nvPicPr>
          <p:cNvPr id="25" name="Image 3" descr="img/mod_oled.png">    </p:cNvPr>
          <p:cNvPicPr>
            <a:picLocks noChangeAspect="1"/>
          </p:cNvPicPr>
          <p:nvPr/>
        </p:nvPicPr>
        <p:blipFill>
          <a:blip r:embed="rId4"/>
          <a:stretch>
            <a:fillRect/>
          </a:stretch>
        </p:blipFill>
        <p:spPr>
          <a:xfrm>
            <a:off x="6812280" y="1261872"/>
            <a:ext cx="1691640" cy="950976"/>
          </a:xfrm>
          <a:prstGeom prst="rect">
            <a:avLst/>
          </a:prstGeom>
        </p:spPr>
      </p:pic>
      <p:sp>
        <p:nvSpPr>
          <p:cNvPr id="26" name="Text 20"/>
          <p:cNvSpPr txBox="1"/>
          <p:nvPr/>
        </p:nvSpPr>
        <p:spPr>
          <a:xfrm>
            <a:off x="6858000" y="2286000"/>
            <a:ext cx="1600200" cy="219456"/>
          </a:xfrm>
          <a:prstGeom prst="rect">
            <a:avLst/>
          </a:prstGeom>
          <a:noFill/>
          <a:ln/>
        </p:spPr>
        <p:txBody>
          <a:bodyPr wrap="square" lIns="0" tIns="0" rIns="0" bIns="0" rtlCol="0" anchor="t"/>
          <a:lstStyle/>
          <a:p>
            <a:pPr indent="0" marL="0">
              <a:buNone/>
            </a:pPr>
            <a:r>
              <a:rPr lang="en-US" sz="950" b="1" spc="100" kern="0" dirty="0">
                <a:solidFill>
                  <a:schemeClr val="accent2"/>
                </a:solidFill>
              </a:rPr>
              <a:t>DISPLAY</a:t>
            </a:r>
            <a:endParaRPr lang="en-US" sz="950" dirty="0"/>
          </a:p>
        </p:txBody>
      </p:sp>
      <p:sp>
        <p:nvSpPr>
          <p:cNvPr id="27" name="Text 21"/>
          <p:cNvSpPr txBox="1"/>
          <p:nvPr/>
        </p:nvSpPr>
        <p:spPr>
          <a:xfrm>
            <a:off x="6858000" y="2514600"/>
            <a:ext cx="1600200" cy="292608"/>
          </a:xfrm>
          <a:prstGeom prst="rect">
            <a:avLst/>
          </a:prstGeom>
          <a:noFill/>
          <a:ln/>
        </p:spPr>
        <p:txBody>
          <a:bodyPr wrap="square" lIns="0" tIns="0" rIns="0" bIns="0" rtlCol="0" anchor="t">
            <a:normAutofit/>
          </a:bodyPr>
          <a:lstStyle/>
          <a:p>
            <a:pPr indent="0" marL="0">
              <a:buNone/>
            </a:pPr>
            <a:r>
              <a:rPr lang="en-US" sz="1250" b="1" dirty="0">
                <a:solidFill>
                  <a:schemeClr val="bg1"/>
                </a:solidFill>
              </a:rPr>
              <a:t>NFP1315-157B OLED</a:t>
            </a:r>
            <a:endParaRPr lang="en-US" sz="1250" dirty="0"/>
          </a:p>
        </p:txBody>
      </p:sp>
      <p:sp>
        <p:nvSpPr>
          <p:cNvPr id="28" name="Text 22"/>
          <p:cNvSpPr txBox="1"/>
          <p:nvPr/>
        </p:nvSpPr>
        <p:spPr>
          <a:xfrm>
            <a:off x="6858000" y="2834640"/>
            <a:ext cx="1600200" cy="960120"/>
          </a:xfrm>
          <a:prstGeom prst="rect">
            <a:avLst/>
          </a:prstGeom>
          <a:noFill/>
          <a:ln/>
        </p:spPr>
        <p:txBody>
          <a:bodyPr wrap="square" lIns="0" tIns="0" rIns="0" bIns="0" rtlCol="0" anchor="t"/>
          <a:lstStyle/>
          <a:p>
            <a:pPr indent="0" marL="0">
              <a:buNone/>
            </a:pPr>
            <a:r>
              <a:rPr lang="en-US" sz="1000" dirty="0">
                <a:solidFill>
                  <a:schemeClr val="bg2"/>
                </a:solidFill>
              </a:rPr>
              <a:t>0.96" 128×64 screen (SSD1306 driver) showing live values on the device.</a:t>
            </a:r>
            <a:endParaRPr lang="en-US" sz="1000" dirty="0"/>
          </a:p>
        </p:txBody>
      </p:sp>
      <p:sp>
        <p:nvSpPr>
          <p:cNvPr id="29" name="Shape 23"/>
          <p:cNvSpPr/>
          <p:nvPr/>
        </p:nvSpPr>
        <p:spPr>
          <a:xfrm>
            <a:off x="6903720" y="3913632"/>
            <a:ext cx="1508760" cy="292608"/>
          </a:xfrm>
          <a:prstGeom prst="roundRect">
            <a:avLst>
              <a:gd name="adj" fmla="val 50000"/>
            </a:avLst>
          </a:prstGeom>
          <a:solidFill>
            <a:srgbClr val="214F7B"/>
          </a:solidFill>
          <a:ln w="15875">
            <a:solidFill>
              <a:srgbClr val="FFFFFF"/>
            </a:solidFill>
            <a:prstDash val="solid"/>
          </a:ln>
        </p:spPr>
      </p:sp>
      <p:sp>
        <p:nvSpPr>
          <p:cNvPr id="30" name="Text 24"/>
          <p:cNvSpPr txBox="1"/>
          <p:nvPr/>
        </p:nvSpPr>
        <p:spPr>
          <a:xfrm>
            <a:off x="6903720" y="3913632"/>
            <a:ext cx="1508760" cy="292608"/>
          </a:xfrm>
          <a:prstGeom prst="rect">
            <a:avLst/>
          </a:prstGeom>
          <a:noFill/>
          <a:ln/>
        </p:spPr>
        <p:txBody>
          <a:bodyPr wrap="square" lIns="0" tIns="0" rIns="0" bIns="0" rtlCol="0" anchor="ctr"/>
          <a:lstStyle/>
          <a:p>
            <a:pPr algn="ctr" indent="0" marL="0">
              <a:buNone/>
            </a:pPr>
            <a:r>
              <a:rPr lang="en-US" sz="950" b="1" dirty="0">
                <a:solidFill>
                  <a:schemeClr val="bg1"/>
                </a:solidFill>
              </a:rPr>
              <a:t>I²C · 0x3C</a:t>
            </a:r>
            <a:endParaRPr lang="en-US" sz="950" dirty="0"/>
          </a:p>
        </p:txBody>
      </p:sp>
      <p:sp>
        <p:nvSpPr>
          <p:cNvPr id="31" name="Text 25"/>
          <p:cNvSpPr txBox="1"/>
          <p:nvPr/>
        </p:nvSpPr>
        <p:spPr>
          <a:xfrm>
            <a:off x="548640" y="4480560"/>
            <a:ext cx="7680960" cy="237744"/>
          </a:xfrm>
          <a:prstGeom prst="rect">
            <a:avLst/>
          </a:prstGeom>
          <a:noFill/>
          <a:ln/>
        </p:spPr>
        <p:txBody>
          <a:bodyPr wrap="square" lIns="0" tIns="0" rIns="0" bIns="0" rtlCol="0" anchor="t"/>
          <a:lstStyle/>
          <a:p>
            <a:pPr algn="ctr" indent="0" marL="0">
              <a:buNone/>
            </a:pPr>
            <a:r>
              <a:rPr lang="en-US" sz="1000" dirty="0">
                <a:solidFill>
                  <a:schemeClr val="bg2"/>
                </a:solidFill>
              </a:rPr>
              <a:t>Also: breadboard and male/female jumper wires; USB power from a laptop (3.3 V regulated on board).</a:t>
            </a:r>
            <a:endParaRPr lang="en-US" sz="100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CIRCUIT DIAGRAM</a:t>
            </a:r>
            <a:endParaRPr lang="en-US" sz="3000" dirty="0"/>
          </a:p>
        </p:txBody>
      </p:sp>
      <p:sp>
        <p:nvSpPr>
          <p:cNvPr id="3" name="Shape 1"/>
          <p:cNvSpPr/>
          <p:nvPr/>
        </p:nvSpPr>
        <p:spPr>
          <a:xfrm>
            <a:off x="557784" y="1197864"/>
            <a:ext cx="4416552" cy="3410712"/>
          </a:xfrm>
          <a:prstGeom prst="rect">
            <a:avLst/>
          </a:prstGeom>
          <a:solidFill>
            <a:srgbClr val="FFFFFF"/>
          </a:solidFill>
          <a:ln w="12700">
            <a:solidFill>
              <a:srgbClr val="FFFFFF"/>
            </a:solidFill>
            <a:prstDash val="solid"/>
          </a:ln>
        </p:spPr>
      </p:sp>
      <p:pic>
        <p:nvPicPr>
          <p:cNvPr id="4" name="Image 0" descr="img/cirkit_wiring.png">    </p:cNvPr>
          <p:cNvPicPr>
            <a:picLocks noChangeAspect="1"/>
          </p:cNvPicPr>
          <p:nvPr/>
        </p:nvPicPr>
        <p:blipFill>
          <a:blip r:embed="rId1"/>
          <a:stretch>
            <a:fillRect/>
          </a:stretch>
        </p:blipFill>
        <p:spPr>
          <a:xfrm>
            <a:off x="594360" y="1234440"/>
            <a:ext cx="4343400" cy="3337560"/>
          </a:xfrm>
          <a:prstGeom prst="rect">
            <a:avLst/>
          </a:prstGeom>
        </p:spPr>
      </p:pic>
      <p:sp>
        <p:nvSpPr>
          <p:cNvPr id="5" name="pinPanel"/>
          <p:cNvSpPr/>
          <p:nvPr/>
        </p:nvSpPr>
        <p:spPr>
          <a:xfrm>
            <a:off x="5257800" y="1325880"/>
            <a:ext cx="3337560" cy="3246120"/>
          </a:xfrm>
          <a:prstGeom prst="roundRect">
            <a:avLst>
              <a:gd name="adj" fmla="val 3944"/>
            </a:avLst>
          </a:prstGeom>
          <a:solidFill>
            <a:srgbClr val="1B4670">
              <a:alpha val="70000"/>
            </a:srgbClr>
          </a:solidFill>
          <a:ln w="15875">
            <a:solidFill>
              <a:srgbClr val="FFFFFF"/>
            </a:solidFill>
            <a:prstDash val="solid"/>
          </a:ln>
        </p:spPr>
      </p:sp>
      <p:sp>
        <p:nvSpPr>
          <p:cNvPr id="6" name="Shape 3"/>
          <p:cNvSpPr/>
          <p:nvPr/>
        </p:nvSpPr>
        <p:spPr>
          <a:xfrm>
            <a:off x="6035040" y="1143000"/>
            <a:ext cx="1783080" cy="365760"/>
          </a:xfrm>
          <a:prstGeom prst="roundRect">
            <a:avLst>
              <a:gd name="adj" fmla="val 50000"/>
            </a:avLst>
          </a:prstGeom>
          <a:solidFill>
            <a:srgbClr val="214F7B"/>
          </a:solidFill>
          <a:ln w="15875">
            <a:solidFill>
              <a:srgbClr val="FFFFFF"/>
            </a:solidFill>
            <a:prstDash val="solid"/>
          </a:ln>
        </p:spPr>
      </p:sp>
      <p:sp>
        <p:nvSpPr>
          <p:cNvPr id="7" name="Text 4"/>
          <p:cNvSpPr txBox="1"/>
          <p:nvPr/>
        </p:nvSpPr>
        <p:spPr>
          <a:xfrm>
            <a:off x="6035040" y="1143000"/>
            <a:ext cx="1783080" cy="365760"/>
          </a:xfrm>
          <a:prstGeom prst="rect">
            <a:avLst/>
          </a:prstGeom>
          <a:noFill/>
          <a:ln/>
        </p:spPr>
        <p:txBody>
          <a:bodyPr wrap="square" lIns="0" tIns="0" rIns="0" bIns="0" rtlCol="0" anchor="ctr"/>
          <a:lstStyle/>
          <a:p>
            <a:pPr algn="ctr" indent="0" marL="0">
              <a:buNone/>
            </a:pPr>
            <a:r>
              <a:rPr lang="en-US" sz="1100" b="1" dirty="0">
                <a:solidFill>
                  <a:schemeClr val="bg1"/>
                </a:solidFill>
              </a:rPr>
              <a:t>PIN MAP</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0" y="1691640"/>
          <a:ext cx="2880360" cy="914400"/>
        </p:xfrm>
        <a:graphic>
          <a:graphicData uri="http://schemas.openxmlformats.org/drawingml/2006/table">
            <a:tbl>
              <a:tblPr/>
              <a:tblGrid>
                <a:gridCol w="1325880"/>
                <a:gridCol w="1554480"/>
              </a:tblGrid>
              <a:tr h="292608">
                <a:tc>
                  <a:txBody>
                    <a:bodyPr/>
                    <a:lstStyle/>
                    <a:p>
                      <a:pPr indent="0" marL="0">
                        <a:buNone/>
                      </a:pPr>
                      <a:r>
                        <a:rPr lang="en-US" sz="1050" b="1" dirty="0">
                          <a:solidFill>
                            <a:srgbClr val="DCE8F7"/>
                          </a:solidFill>
                        </a:rPr>
                        <a:t>ESP32</a:t>
                      </a:r>
                      <a:endParaRPr lang="en-US" sz="1050" dirty="0"/>
                    </a:p>
                  </a:txBody>
                  <a:tcPr marL="73152" marR="73152" marT="27432" marB="27432">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1050" b="1" dirty="0">
                          <a:solidFill>
                            <a:srgbClr val="DCE8F7"/>
                          </a:solidFill>
                        </a:rPr>
                        <a:t>Each module</a:t>
                      </a:r>
                      <a:endParaRPr lang="en-US" sz="1050" dirty="0"/>
                    </a:p>
                  </a:txBody>
                  <a:tcPr marL="73152" marR="73152" marT="27432" marB="27432">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292608">
                <a:tc>
                  <a:txBody>
                    <a:bodyPr/>
                    <a:lstStyle/>
                    <a:p>
                      <a:pPr indent="0" marL="0">
                        <a:buNone/>
                      </a:pPr>
                      <a:r>
                        <a:rPr lang="en-US" sz="1100" b="1" dirty="0">
                          <a:solidFill>
                            <a:srgbClr val="FF8A8A"/>
                          </a:solidFill>
                        </a:rPr>
                        <a:t>3V3</a:t>
                      </a:r>
                      <a:endParaRPr lang="en-US" sz="1100" dirty="0"/>
                    </a:p>
                  </a:txBody>
                  <a:tcPr marL="73152" marR="73152" marT="27432" marB="27432">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1100" b="1" dirty="0">
                          <a:solidFill>
                            <a:srgbClr val="FFFFFF"/>
                          </a:solidFill>
                        </a:rPr>
                        <a:t>VIN / VCC</a:t>
                      </a:r>
                      <a:endParaRPr lang="en-US" sz="1100" dirty="0"/>
                    </a:p>
                  </a:txBody>
                  <a:tcPr marL="73152" marR="73152" marT="27432" marB="27432">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292608">
                <a:tc>
                  <a:txBody>
                    <a:bodyPr/>
                    <a:lstStyle/>
                    <a:p>
                      <a:pPr indent="0" marL="0">
                        <a:buNone/>
                      </a:pPr>
                      <a:r>
                        <a:rPr lang="en-US" sz="1100" b="1" dirty="0">
                          <a:solidFill>
                            <a:srgbClr val="E3E8EF"/>
                          </a:solidFill>
                        </a:rPr>
                        <a:t>GND</a:t>
                      </a:r>
                      <a:endParaRPr lang="en-US" sz="1100" dirty="0"/>
                    </a:p>
                  </a:txBody>
                  <a:tcPr marL="73152" marR="73152" marT="27432" marB="27432">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1100" b="1" dirty="0">
                          <a:solidFill>
                            <a:srgbClr val="FFFFFF"/>
                          </a:solidFill>
                        </a:rPr>
                        <a:t>GND</a:t>
                      </a:r>
                      <a:endParaRPr lang="en-US" sz="1100" dirty="0"/>
                    </a:p>
                  </a:txBody>
                  <a:tcPr marL="73152" marR="73152" marT="27432" marB="27432">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292608">
                <a:tc>
                  <a:txBody>
                    <a:bodyPr/>
                    <a:lstStyle/>
                    <a:p>
                      <a:pPr indent="0" marL="0">
                        <a:buNone/>
                      </a:pPr>
                      <a:r>
                        <a:rPr lang="en-US" sz="1100" b="1" dirty="0">
                          <a:solidFill>
                            <a:srgbClr val="9FC8FF"/>
                          </a:solidFill>
                        </a:rPr>
                        <a:t>GPIO 21</a:t>
                      </a:r>
                      <a:endParaRPr lang="en-US" sz="1100" dirty="0"/>
                    </a:p>
                  </a:txBody>
                  <a:tcPr marL="73152" marR="73152" marT="27432" marB="27432">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1100" b="1" dirty="0">
                          <a:solidFill>
                            <a:srgbClr val="FFFFFF"/>
                          </a:solidFill>
                        </a:rPr>
                        <a:t>SDA</a:t>
                      </a:r>
                      <a:endParaRPr lang="en-US" sz="1100" dirty="0"/>
                    </a:p>
                  </a:txBody>
                  <a:tcPr marL="73152" marR="73152" marT="27432" marB="27432">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292608">
                <a:tc>
                  <a:txBody>
                    <a:bodyPr/>
                    <a:lstStyle/>
                    <a:p>
                      <a:pPr indent="0" marL="0">
                        <a:buNone/>
                      </a:pPr>
                      <a:r>
                        <a:rPr lang="en-US" sz="1100" b="1" dirty="0">
                          <a:solidFill>
                            <a:srgbClr val="FFD166"/>
                          </a:solidFill>
                        </a:rPr>
                        <a:t>GPIO 22</a:t>
                      </a:r>
                      <a:endParaRPr lang="en-US" sz="1100" dirty="0"/>
                    </a:p>
                  </a:txBody>
                  <a:tcPr marL="73152" marR="73152" marT="27432" marB="27432">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1100" b="1" dirty="0">
                          <a:solidFill>
                            <a:srgbClr val="FFFFFF"/>
                          </a:solidFill>
                        </a:rPr>
                        <a:t>SCL</a:t>
                      </a:r>
                      <a:endParaRPr lang="en-US" sz="1100" dirty="0"/>
                    </a:p>
                  </a:txBody>
                  <a:tcPr marL="73152" marR="73152" marT="27432" marB="27432">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bl>
          </a:graphicData>
        </a:graphic>
      </p:graphicFrame>
      <p:sp>
        <p:nvSpPr>
          <p:cNvPr id="9" name="Text 5"/>
          <p:cNvSpPr txBox="1"/>
          <p:nvPr/>
        </p:nvSpPr>
        <p:spPr>
          <a:xfrm>
            <a:off x="5486400" y="3337560"/>
            <a:ext cx="2880360" cy="1097280"/>
          </a:xfrm>
          <a:prstGeom prst="rect">
            <a:avLst/>
          </a:prstGeom>
          <a:noFill/>
          <a:ln/>
        </p:spPr>
        <p:txBody>
          <a:bodyPr wrap="square" lIns="0" tIns="0" rIns="0" bIns="0" rtlCol="0" anchor="t"/>
          <a:lstStyle/>
          <a:p>
            <a:pPr indent="0" marL="0">
              <a:buNone/>
            </a:pPr>
            <a:r>
              <a:rPr lang="en-US" sz="1050" dirty="0">
                <a:solidFill>
                  <a:schemeClr val="bg2"/>
                </a:solidFill>
              </a:rPr>
              <a:t>Each module has its own I²C address, so all three share SDA and SCL without clashing. GPIO 21 and 22 are the ESP32's default I²C pins.</a:t>
            </a:r>
            <a:endParaRPr lang="en-US" sz="10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SCHEMATIC</a:t>
            </a:r>
            <a:endParaRPr lang="en-US" sz="3000" dirty="0"/>
          </a:p>
        </p:txBody>
      </p:sp>
      <p:pic>
        <p:nvPicPr>
          <p:cNvPr id="3" name="Image 0" descr="img/easyeda_schematic.png">    </p:cNvPr>
          <p:cNvPicPr>
            <a:picLocks noChangeAspect="1"/>
          </p:cNvPicPr>
          <p:nvPr>
            <p:ph idx="101" hasCustomPrompt="1"/>
          </p:nvPr>
        </p:nvPicPr>
        <p:blipFill>
          <a:blip r:embed="rId1"/>
          <a:stretch>
            <a:fillRect/>
          </a:stretch>
        </p:blipFill>
        <p:spPr>
          <a:xfrm>
            <a:off x="548640" y="1207008"/>
            <a:ext cx="5486400" cy="3364992"/>
          </a:xfrm>
          <a:prstGeom prst="rect">
            <a:avLst/>
          </a:prstGeom>
        </p:spPr>
      </p:pic>
      <p:sp>
        <p:nvSpPr>
          <p:cNvPr id="4" name="netPanel"/>
          <p:cNvSpPr/>
          <p:nvPr/>
        </p:nvSpPr>
        <p:spPr>
          <a:xfrm>
            <a:off x="6309360" y="1325880"/>
            <a:ext cx="2286000" cy="3246120"/>
          </a:xfrm>
          <a:prstGeom prst="roundRect">
            <a:avLst>
              <a:gd name="adj" fmla="val 5600"/>
            </a:avLst>
          </a:prstGeom>
          <a:solidFill>
            <a:srgbClr val="1B4670">
              <a:alpha val="70000"/>
            </a:srgbClr>
          </a:solidFill>
          <a:ln w="15875">
            <a:solidFill>
              <a:srgbClr val="FFFFFF"/>
            </a:solidFill>
            <a:prstDash val="solid"/>
          </a:ln>
        </p:spPr>
      </p:sp>
      <p:sp>
        <p:nvSpPr>
          <p:cNvPr id="5" name="Shape 2"/>
          <p:cNvSpPr/>
          <p:nvPr/>
        </p:nvSpPr>
        <p:spPr>
          <a:xfrm>
            <a:off x="6812280" y="1143000"/>
            <a:ext cx="1280160" cy="365760"/>
          </a:xfrm>
          <a:prstGeom prst="roundRect">
            <a:avLst>
              <a:gd name="adj" fmla="val 50000"/>
            </a:avLst>
          </a:prstGeom>
          <a:solidFill>
            <a:srgbClr val="214F7B"/>
          </a:solidFill>
          <a:ln w="15875">
            <a:solidFill>
              <a:srgbClr val="FFFFFF"/>
            </a:solidFill>
            <a:prstDash val="solid"/>
          </a:ln>
        </p:spPr>
      </p:sp>
      <p:sp>
        <p:nvSpPr>
          <p:cNvPr id="6" name="Text 3"/>
          <p:cNvSpPr txBox="1"/>
          <p:nvPr/>
        </p:nvSpPr>
        <p:spPr>
          <a:xfrm>
            <a:off x="6812280" y="1143000"/>
            <a:ext cx="1280160" cy="365760"/>
          </a:xfrm>
          <a:prstGeom prst="rect">
            <a:avLst/>
          </a:prstGeom>
          <a:noFill/>
          <a:ln/>
        </p:spPr>
        <p:txBody>
          <a:bodyPr wrap="square" lIns="0" tIns="0" rIns="0" bIns="0" rtlCol="0" anchor="ctr"/>
          <a:lstStyle/>
          <a:p>
            <a:pPr algn="ctr" indent="0" marL="0">
              <a:buNone/>
            </a:pPr>
            <a:r>
              <a:rPr lang="en-US" sz="1100" b="1" dirty="0">
                <a:solidFill>
                  <a:schemeClr val="bg1"/>
                </a:solidFill>
              </a:rPr>
              <a:t>NETS</a:t>
            </a:r>
            <a:endParaRPr lang="en-US" sz="1100" dirty="0"/>
          </a:p>
        </p:txBody>
      </p:sp>
      <p:sp>
        <p:nvSpPr>
          <p:cNvPr id="7" name="Text 4"/>
          <p:cNvSpPr txBox="1"/>
          <p:nvPr/>
        </p:nvSpPr>
        <p:spPr>
          <a:xfrm>
            <a:off x="6492240" y="1691640"/>
            <a:ext cx="640080" cy="274320"/>
          </a:xfrm>
          <a:prstGeom prst="rect">
            <a:avLst/>
          </a:prstGeom>
          <a:noFill/>
          <a:ln/>
        </p:spPr>
        <p:txBody>
          <a:bodyPr wrap="square" lIns="0" tIns="0" rIns="0" bIns="0" rtlCol="0" anchor="ctr"/>
          <a:lstStyle/>
          <a:p>
            <a:pPr indent="0" marL="0">
              <a:buNone/>
            </a:pPr>
            <a:r>
              <a:rPr lang="en-US" sz="1100" b="1" dirty="0">
                <a:solidFill>
                  <a:srgbClr val="FF8A8A"/>
                </a:solidFill>
              </a:rPr>
              <a:t>+3V3</a:t>
            </a:r>
            <a:endParaRPr lang="en-US" sz="1100" dirty="0"/>
          </a:p>
        </p:txBody>
      </p:sp>
      <p:sp>
        <p:nvSpPr>
          <p:cNvPr id="8" name="Text 5"/>
          <p:cNvSpPr txBox="1"/>
          <p:nvPr/>
        </p:nvSpPr>
        <p:spPr>
          <a:xfrm>
            <a:off x="7132320" y="1691640"/>
            <a:ext cx="1371600" cy="274320"/>
          </a:xfrm>
          <a:prstGeom prst="rect">
            <a:avLst/>
          </a:prstGeom>
          <a:noFill/>
          <a:ln/>
        </p:spPr>
        <p:txBody>
          <a:bodyPr wrap="square" lIns="0" tIns="0" rIns="0" bIns="0" rtlCol="0" anchor="ctr"/>
          <a:lstStyle/>
          <a:p>
            <a:pPr indent="0" marL="0">
              <a:buNone/>
            </a:pPr>
            <a:r>
              <a:rPr lang="en-US" sz="1050" dirty="0">
                <a:solidFill>
                  <a:schemeClr val="bg1"/>
                </a:solidFill>
              </a:rPr>
              <a:t>3V3 → VIN ×3</a:t>
            </a:r>
            <a:endParaRPr lang="en-US" sz="1050" dirty="0"/>
          </a:p>
        </p:txBody>
      </p:sp>
      <p:sp>
        <p:nvSpPr>
          <p:cNvPr id="9" name="Text 6"/>
          <p:cNvSpPr txBox="1"/>
          <p:nvPr/>
        </p:nvSpPr>
        <p:spPr>
          <a:xfrm>
            <a:off x="6492240" y="2020824"/>
            <a:ext cx="640080" cy="274320"/>
          </a:xfrm>
          <a:prstGeom prst="rect">
            <a:avLst/>
          </a:prstGeom>
          <a:noFill/>
          <a:ln/>
        </p:spPr>
        <p:txBody>
          <a:bodyPr wrap="square" lIns="0" tIns="0" rIns="0" bIns="0" rtlCol="0" anchor="ctr"/>
          <a:lstStyle/>
          <a:p>
            <a:pPr indent="0" marL="0">
              <a:buNone/>
            </a:pPr>
            <a:r>
              <a:rPr lang="en-US" sz="1100" b="1" dirty="0">
                <a:solidFill>
                  <a:srgbClr val="E3E8EF"/>
                </a:solidFill>
              </a:rPr>
              <a:t>GND</a:t>
            </a:r>
            <a:endParaRPr lang="en-US" sz="1100" dirty="0"/>
          </a:p>
        </p:txBody>
      </p:sp>
      <p:sp>
        <p:nvSpPr>
          <p:cNvPr id="10" name="Text 7"/>
          <p:cNvSpPr txBox="1"/>
          <p:nvPr/>
        </p:nvSpPr>
        <p:spPr>
          <a:xfrm>
            <a:off x="7132320" y="2020824"/>
            <a:ext cx="1371600" cy="274320"/>
          </a:xfrm>
          <a:prstGeom prst="rect">
            <a:avLst/>
          </a:prstGeom>
          <a:noFill/>
          <a:ln/>
        </p:spPr>
        <p:txBody>
          <a:bodyPr wrap="square" lIns="0" tIns="0" rIns="0" bIns="0" rtlCol="0" anchor="ctr"/>
          <a:lstStyle/>
          <a:p>
            <a:pPr indent="0" marL="0">
              <a:buNone/>
            </a:pPr>
            <a:r>
              <a:rPr lang="en-US" sz="1050" dirty="0">
                <a:solidFill>
                  <a:schemeClr val="bg1"/>
                </a:solidFill>
              </a:rPr>
              <a:t>Common ×4</a:t>
            </a:r>
            <a:endParaRPr lang="en-US" sz="1050" dirty="0"/>
          </a:p>
        </p:txBody>
      </p:sp>
      <p:sp>
        <p:nvSpPr>
          <p:cNvPr id="11" name="Text 8"/>
          <p:cNvSpPr txBox="1"/>
          <p:nvPr/>
        </p:nvSpPr>
        <p:spPr>
          <a:xfrm>
            <a:off x="6492240" y="2350008"/>
            <a:ext cx="640080" cy="274320"/>
          </a:xfrm>
          <a:prstGeom prst="rect">
            <a:avLst/>
          </a:prstGeom>
          <a:noFill/>
          <a:ln/>
        </p:spPr>
        <p:txBody>
          <a:bodyPr wrap="square" lIns="0" tIns="0" rIns="0" bIns="0" rtlCol="0" anchor="ctr"/>
          <a:lstStyle/>
          <a:p>
            <a:pPr indent="0" marL="0">
              <a:buNone/>
            </a:pPr>
            <a:r>
              <a:rPr lang="en-US" sz="1100" b="1" dirty="0">
                <a:solidFill>
                  <a:srgbClr val="9FC8FF"/>
                </a:solidFill>
              </a:rPr>
              <a:t>SDA</a:t>
            </a:r>
            <a:endParaRPr lang="en-US" sz="1100" dirty="0"/>
          </a:p>
        </p:txBody>
      </p:sp>
      <p:sp>
        <p:nvSpPr>
          <p:cNvPr id="12" name="Text 9"/>
          <p:cNvSpPr txBox="1"/>
          <p:nvPr/>
        </p:nvSpPr>
        <p:spPr>
          <a:xfrm>
            <a:off x="7132320" y="2350008"/>
            <a:ext cx="1371600" cy="274320"/>
          </a:xfrm>
          <a:prstGeom prst="rect">
            <a:avLst/>
          </a:prstGeom>
          <a:noFill/>
          <a:ln/>
        </p:spPr>
        <p:txBody>
          <a:bodyPr wrap="square" lIns="0" tIns="0" rIns="0" bIns="0" rtlCol="0" anchor="ctr"/>
          <a:lstStyle/>
          <a:p>
            <a:pPr indent="0" marL="0">
              <a:buNone/>
            </a:pPr>
            <a:r>
              <a:rPr lang="en-US" sz="1050" dirty="0">
                <a:solidFill>
                  <a:schemeClr val="bg1"/>
                </a:solidFill>
              </a:rPr>
              <a:t>GPIO 21 → ×3</a:t>
            </a:r>
            <a:endParaRPr lang="en-US" sz="1050" dirty="0"/>
          </a:p>
        </p:txBody>
      </p:sp>
      <p:sp>
        <p:nvSpPr>
          <p:cNvPr id="13" name="Text 10"/>
          <p:cNvSpPr txBox="1"/>
          <p:nvPr/>
        </p:nvSpPr>
        <p:spPr>
          <a:xfrm>
            <a:off x="6492240" y="2679192"/>
            <a:ext cx="640080" cy="274320"/>
          </a:xfrm>
          <a:prstGeom prst="rect">
            <a:avLst/>
          </a:prstGeom>
          <a:noFill/>
          <a:ln/>
        </p:spPr>
        <p:txBody>
          <a:bodyPr wrap="square" lIns="0" tIns="0" rIns="0" bIns="0" rtlCol="0" anchor="ctr"/>
          <a:lstStyle/>
          <a:p>
            <a:pPr indent="0" marL="0">
              <a:buNone/>
            </a:pPr>
            <a:r>
              <a:rPr lang="en-US" sz="1100" b="1" dirty="0">
                <a:solidFill>
                  <a:srgbClr val="FFD166"/>
                </a:solidFill>
              </a:rPr>
              <a:t>SCL</a:t>
            </a:r>
            <a:endParaRPr lang="en-US" sz="1100" dirty="0"/>
          </a:p>
        </p:txBody>
      </p:sp>
      <p:sp>
        <p:nvSpPr>
          <p:cNvPr id="14" name="Text 11"/>
          <p:cNvSpPr txBox="1"/>
          <p:nvPr/>
        </p:nvSpPr>
        <p:spPr>
          <a:xfrm>
            <a:off x="7132320" y="2679192"/>
            <a:ext cx="1371600" cy="274320"/>
          </a:xfrm>
          <a:prstGeom prst="rect">
            <a:avLst/>
          </a:prstGeom>
          <a:noFill/>
          <a:ln/>
        </p:spPr>
        <p:txBody>
          <a:bodyPr wrap="square" lIns="0" tIns="0" rIns="0" bIns="0" rtlCol="0" anchor="ctr"/>
          <a:lstStyle/>
          <a:p>
            <a:pPr indent="0" marL="0">
              <a:buNone/>
            </a:pPr>
            <a:r>
              <a:rPr lang="en-US" sz="1050" dirty="0">
                <a:solidFill>
                  <a:schemeClr val="bg1"/>
                </a:solidFill>
              </a:rPr>
              <a:t>GPIO 22 → ×3</a:t>
            </a:r>
            <a:endParaRPr lang="en-US" sz="1050" dirty="0"/>
          </a:p>
        </p:txBody>
      </p:sp>
      <p:sp>
        <p:nvSpPr>
          <p:cNvPr id="15" name="Text 12"/>
          <p:cNvSpPr txBox="1"/>
          <p:nvPr/>
        </p:nvSpPr>
        <p:spPr>
          <a:xfrm>
            <a:off x="6492240" y="3108960"/>
            <a:ext cx="1920240" cy="237744"/>
          </a:xfrm>
          <a:prstGeom prst="rect">
            <a:avLst/>
          </a:prstGeom>
          <a:noFill/>
          <a:ln/>
        </p:spPr>
        <p:txBody>
          <a:bodyPr wrap="square" lIns="0" tIns="0" rIns="0" bIns="0" rtlCol="0" anchor="t"/>
          <a:lstStyle/>
          <a:p>
            <a:pPr indent="0" marL="0">
              <a:buNone/>
            </a:pPr>
            <a:r>
              <a:rPr lang="en-US" sz="1000" b="1" dirty="0">
                <a:solidFill>
                  <a:schemeClr val="accent2"/>
                </a:solidFill>
              </a:rPr>
              <a:t>POWER BUDGET</a:t>
            </a:r>
            <a:endParaRPr lang="en-US" sz="1000" dirty="0"/>
          </a:p>
        </p:txBody>
      </p:sp>
      <p:sp>
        <p:nvSpPr>
          <p:cNvPr id="16" name="Text 13"/>
          <p:cNvSpPr txBox="1"/>
          <p:nvPr/>
        </p:nvSpPr>
        <p:spPr>
          <a:xfrm>
            <a:off x="6492240" y="3364992"/>
            <a:ext cx="1965960" cy="1097280"/>
          </a:xfrm>
          <a:prstGeom prst="rect">
            <a:avLst/>
          </a:prstGeom>
          <a:noFill/>
          <a:ln/>
        </p:spPr>
        <p:txBody>
          <a:bodyPr wrap="square" lIns="0" tIns="0" rIns="0" bIns="0" rtlCol="0" anchor="t"/>
          <a:lstStyle/>
          <a:p>
            <a:pPr indent="0" marL="0">
              <a:buNone/>
            </a:pPr>
            <a:r>
              <a:rPr lang="en-US" sz="1000" dirty="0">
                <a:solidFill>
                  <a:schemeClr val="bg2"/>
                </a:solidFill>
              </a:rPr>
              <a:t>ESP32 with Wi-Fi up to ~240 mA; the display and sensors add tens of mA. Well under USB's 500 mA.</a:t>
            </a:r>
            <a:endParaRPr lang="en-US" sz="100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HOW VITAL MEASURES YOU</a:t>
            </a:r>
            <a:endParaRPr lang="en-US" sz="3000" dirty="0"/>
          </a:p>
        </p:txBody>
      </p:sp>
      <p:sp>
        <p:nvSpPr>
          <p:cNvPr id="3" name="sense1"/>
          <p:cNvSpPr/>
          <p:nvPr/>
        </p:nvSpPr>
        <p:spPr>
          <a:xfrm>
            <a:off x="548640" y="1371600"/>
            <a:ext cx="2560320" cy="3200400"/>
          </a:xfrm>
          <a:prstGeom prst="roundRect">
            <a:avLst>
              <a:gd name="adj" fmla="val 5000"/>
            </a:avLst>
          </a:prstGeom>
          <a:solidFill>
            <a:srgbClr val="1B4670">
              <a:alpha val="70000"/>
            </a:srgbClr>
          </a:solidFill>
          <a:ln w="15875">
            <a:solidFill>
              <a:srgbClr val="FFFFFF"/>
            </a:solidFill>
            <a:prstDash val="solid"/>
          </a:ln>
        </p:spPr>
      </p:sp>
      <p:sp>
        <p:nvSpPr>
          <p:cNvPr id="4" name="Shape 2"/>
          <p:cNvSpPr/>
          <p:nvPr/>
        </p:nvSpPr>
        <p:spPr>
          <a:xfrm>
            <a:off x="731520" y="1188720"/>
            <a:ext cx="2194560" cy="365760"/>
          </a:xfrm>
          <a:prstGeom prst="roundRect">
            <a:avLst>
              <a:gd name="adj" fmla="val 50000"/>
            </a:avLst>
          </a:prstGeom>
          <a:solidFill>
            <a:srgbClr val="214F7B"/>
          </a:solidFill>
          <a:ln w="15875">
            <a:solidFill>
              <a:srgbClr val="FFFFFF"/>
            </a:solidFill>
            <a:prstDash val="solid"/>
          </a:ln>
        </p:spPr>
      </p:sp>
      <p:sp>
        <p:nvSpPr>
          <p:cNvPr id="5" name="Text 3"/>
          <p:cNvSpPr txBox="1"/>
          <p:nvPr/>
        </p:nvSpPr>
        <p:spPr>
          <a:xfrm>
            <a:off x="731520" y="1188720"/>
            <a:ext cx="2194560" cy="365760"/>
          </a:xfrm>
          <a:prstGeom prst="rect">
            <a:avLst/>
          </a:prstGeom>
          <a:noFill/>
          <a:ln/>
        </p:spPr>
        <p:txBody>
          <a:bodyPr wrap="square" lIns="0" tIns="0" rIns="0" bIns="0" rtlCol="0" anchor="ctr"/>
          <a:lstStyle/>
          <a:p>
            <a:pPr algn="ctr" indent="0" marL="0">
              <a:buNone/>
            </a:pPr>
            <a:r>
              <a:rPr lang="en-US" sz="1050" b="1" dirty="0">
                <a:solidFill>
                  <a:schemeClr val="bg1"/>
                </a:solidFill>
              </a:rPr>
              <a:t>LIGHT → PULSE &amp; SpO₂</a:t>
            </a:r>
            <a:endParaRPr lang="en-US" sz="1050" dirty="0"/>
          </a:p>
        </p:txBody>
      </p:sp>
      <p:sp>
        <p:nvSpPr>
          <p:cNvPr id="6" name="Text 4"/>
          <p:cNvSpPr txBox="1"/>
          <p:nvPr/>
        </p:nvSpPr>
        <p:spPr>
          <a:xfrm>
            <a:off x="749808" y="1783080"/>
            <a:ext cx="2157984" cy="2651760"/>
          </a:xfrm>
          <a:prstGeom prst="rect">
            <a:avLst/>
          </a:prstGeom>
          <a:noFill/>
          <a:ln/>
        </p:spPr>
        <p:txBody>
          <a:bodyPr wrap="square" lIns="0" tIns="0" rIns="0" bIns="0" rtlCol="0" anchor="t"/>
          <a:lstStyle/>
          <a:p>
            <a:pPr indent="0" marL="0">
              <a:buNone/>
            </a:pPr>
            <a:r>
              <a:rPr lang="en-US" sz="1250" dirty="0">
                <a:solidFill>
                  <a:schemeClr val="bg2"/>
                </a:solidFill>
              </a:rPr>
              <a:t>Each heartbeat pushes blood into the fingertip and changes how much light it absorbs. The ESP32 finds these peaks to get beats per minute. Comparing red vs infrared absorption gives blood oxygen (SpO₂).</a:t>
            </a:r>
            <a:endParaRPr lang="en-US" sz="1250" dirty="0"/>
          </a:p>
        </p:txBody>
      </p:sp>
      <p:sp>
        <p:nvSpPr>
          <p:cNvPr id="7" name="sense2"/>
          <p:cNvSpPr/>
          <p:nvPr/>
        </p:nvSpPr>
        <p:spPr>
          <a:xfrm>
            <a:off x="3291840" y="1371600"/>
            <a:ext cx="2560320" cy="3200400"/>
          </a:xfrm>
          <a:prstGeom prst="roundRect">
            <a:avLst>
              <a:gd name="adj" fmla="val 5000"/>
            </a:avLst>
          </a:prstGeom>
          <a:solidFill>
            <a:srgbClr val="1B4670">
              <a:alpha val="70000"/>
            </a:srgbClr>
          </a:solidFill>
          <a:ln w="15875">
            <a:solidFill>
              <a:srgbClr val="FFFFFF"/>
            </a:solidFill>
            <a:prstDash val="solid"/>
          </a:ln>
        </p:spPr>
      </p:sp>
      <p:sp>
        <p:nvSpPr>
          <p:cNvPr id="8" name="Shape 6"/>
          <p:cNvSpPr/>
          <p:nvPr/>
        </p:nvSpPr>
        <p:spPr>
          <a:xfrm>
            <a:off x="3474720" y="1188720"/>
            <a:ext cx="2194560" cy="365760"/>
          </a:xfrm>
          <a:prstGeom prst="roundRect">
            <a:avLst>
              <a:gd name="adj" fmla="val 50000"/>
            </a:avLst>
          </a:prstGeom>
          <a:solidFill>
            <a:srgbClr val="214F7B"/>
          </a:solidFill>
          <a:ln w="15875">
            <a:solidFill>
              <a:srgbClr val="FFFFFF"/>
            </a:solidFill>
            <a:prstDash val="solid"/>
          </a:ln>
        </p:spPr>
      </p:sp>
      <p:sp>
        <p:nvSpPr>
          <p:cNvPr id="9" name="Text 7"/>
          <p:cNvSpPr txBox="1"/>
          <p:nvPr/>
        </p:nvSpPr>
        <p:spPr>
          <a:xfrm>
            <a:off x="3474720" y="1188720"/>
            <a:ext cx="2194560" cy="365760"/>
          </a:xfrm>
          <a:prstGeom prst="rect">
            <a:avLst/>
          </a:prstGeom>
          <a:noFill/>
          <a:ln/>
        </p:spPr>
        <p:txBody>
          <a:bodyPr wrap="square" lIns="0" tIns="0" rIns="0" bIns="0" rtlCol="0" anchor="ctr"/>
          <a:lstStyle/>
          <a:p>
            <a:pPr algn="ctr" indent="0" marL="0">
              <a:buNone/>
            </a:pPr>
            <a:r>
              <a:rPr lang="en-US" sz="1050" b="1" dirty="0">
                <a:solidFill>
                  <a:schemeClr val="bg1"/>
                </a:solidFill>
              </a:rPr>
              <a:t>INFRARED → TEMPERATURE</a:t>
            </a:r>
            <a:endParaRPr lang="en-US" sz="1050" dirty="0"/>
          </a:p>
        </p:txBody>
      </p:sp>
      <p:sp>
        <p:nvSpPr>
          <p:cNvPr id="10" name="Text 8"/>
          <p:cNvSpPr txBox="1"/>
          <p:nvPr/>
        </p:nvSpPr>
        <p:spPr>
          <a:xfrm>
            <a:off x="3493008" y="1783080"/>
            <a:ext cx="2157984" cy="2651760"/>
          </a:xfrm>
          <a:prstGeom prst="rect">
            <a:avLst/>
          </a:prstGeom>
          <a:noFill/>
          <a:ln/>
        </p:spPr>
        <p:txBody>
          <a:bodyPr wrap="square" lIns="0" tIns="0" rIns="0" bIns="0" rtlCol="0" anchor="t"/>
          <a:lstStyle/>
          <a:p>
            <a:pPr indent="0" marL="0">
              <a:buNone/>
            </a:pPr>
            <a:r>
              <a:rPr lang="en-US" sz="1250" dirty="0">
                <a:solidFill>
                  <a:schemeClr val="bg2"/>
                </a:solidFill>
              </a:rPr>
              <a:t>Every warm object gives off infrared radiation. The MLX90614 turns the infrared from your skin into a temperature, without contact. Skin reads slightly below core temperature, so we apply a calibration offset.</a:t>
            </a:r>
            <a:endParaRPr lang="en-US" sz="1250" dirty="0"/>
          </a:p>
        </p:txBody>
      </p:sp>
      <p:sp>
        <p:nvSpPr>
          <p:cNvPr id="11" name="loopPanel"/>
          <p:cNvSpPr/>
          <p:nvPr/>
        </p:nvSpPr>
        <p:spPr>
          <a:xfrm>
            <a:off x="6035040" y="1371600"/>
            <a:ext cx="2560320" cy="3200400"/>
          </a:xfrm>
          <a:prstGeom prst="roundRect">
            <a:avLst>
              <a:gd name="adj" fmla="val 5000"/>
            </a:avLst>
          </a:prstGeom>
          <a:solidFill>
            <a:srgbClr val="1B4670">
              <a:alpha val="70000"/>
            </a:srgbClr>
          </a:solidFill>
          <a:ln w="15875">
            <a:solidFill>
              <a:srgbClr val="FFFFFF"/>
            </a:solidFill>
            <a:prstDash val="solid"/>
          </a:ln>
        </p:spPr>
      </p:sp>
      <p:sp>
        <p:nvSpPr>
          <p:cNvPr id="12" name="Shape 10"/>
          <p:cNvSpPr/>
          <p:nvPr/>
        </p:nvSpPr>
        <p:spPr>
          <a:xfrm>
            <a:off x="6217920" y="1188720"/>
            <a:ext cx="2194560" cy="365760"/>
          </a:xfrm>
          <a:prstGeom prst="roundRect">
            <a:avLst>
              <a:gd name="adj" fmla="val 50000"/>
            </a:avLst>
          </a:prstGeom>
          <a:solidFill>
            <a:srgbClr val="214F7B"/>
          </a:solidFill>
          <a:ln w="15875">
            <a:solidFill>
              <a:srgbClr val="FFFFFF"/>
            </a:solidFill>
            <a:prstDash val="solid"/>
          </a:ln>
        </p:spPr>
      </p:sp>
      <p:sp>
        <p:nvSpPr>
          <p:cNvPr id="13" name="Text 11"/>
          <p:cNvSpPr txBox="1"/>
          <p:nvPr/>
        </p:nvSpPr>
        <p:spPr>
          <a:xfrm>
            <a:off x="6217920" y="1188720"/>
            <a:ext cx="2194560" cy="365760"/>
          </a:xfrm>
          <a:prstGeom prst="rect">
            <a:avLst/>
          </a:prstGeom>
          <a:noFill/>
          <a:ln/>
        </p:spPr>
        <p:txBody>
          <a:bodyPr wrap="square" lIns="0" tIns="0" rIns="0" bIns="0" rtlCol="0" anchor="ctr"/>
          <a:lstStyle/>
          <a:p>
            <a:pPr algn="ctr" indent="0" marL="0">
              <a:buNone/>
            </a:pPr>
            <a:r>
              <a:rPr lang="en-US" sz="1050" b="1" dirty="0">
                <a:solidFill>
                  <a:schemeClr val="bg1"/>
                </a:solidFill>
              </a:rPr>
              <a:t>FIRMWARE LOOP</a:t>
            </a:r>
            <a:endParaRPr lang="en-US" sz="1050" dirty="0"/>
          </a:p>
        </p:txBody>
      </p:sp>
      <p:sp>
        <p:nvSpPr>
          <p:cNvPr id="14" name="Shape 12"/>
          <p:cNvSpPr/>
          <p:nvPr/>
        </p:nvSpPr>
        <p:spPr>
          <a:xfrm>
            <a:off x="6236208" y="1783080"/>
            <a:ext cx="329184" cy="329184"/>
          </a:xfrm>
          <a:prstGeom prst="ellipse">
            <a:avLst/>
          </a:prstGeom>
          <a:solidFill>
            <a:srgbClr val="214F7B"/>
          </a:solidFill>
          <a:ln w="19050">
            <a:solidFill>
              <a:srgbClr val="FFFFFF"/>
            </a:solidFill>
            <a:prstDash val="solid"/>
          </a:ln>
        </p:spPr>
      </p:sp>
      <p:sp>
        <p:nvSpPr>
          <p:cNvPr id="15" name="Text 13"/>
          <p:cNvSpPr txBox="1"/>
          <p:nvPr/>
        </p:nvSpPr>
        <p:spPr>
          <a:xfrm>
            <a:off x="6236208" y="178308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6" name="Text 14"/>
          <p:cNvSpPr txBox="1"/>
          <p:nvPr/>
        </p:nvSpPr>
        <p:spPr>
          <a:xfrm>
            <a:off x="6693408" y="1783080"/>
            <a:ext cx="1828800" cy="329184"/>
          </a:xfrm>
          <a:prstGeom prst="rect">
            <a:avLst/>
          </a:prstGeom>
          <a:noFill/>
          <a:ln/>
        </p:spPr>
        <p:txBody>
          <a:bodyPr wrap="square" lIns="0" tIns="0" rIns="0" bIns="0" rtlCol="0" anchor="ctr"/>
          <a:lstStyle/>
          <a:p>
            <a:pPr indent="0" marL="0">
              <a:buNone/>
            </a:pPr>
            <a:r>
              <a:rPr lang="en-US" sz="1100" dirty="0">
                <a:solidFill>
                  <a:schemeClr val="bg1"/>
                </a:solidFill>
              </a:rPr>
              <a:t>Read sensors over I²C</a:t>
            </a:r>
            <a:endParaRPr lang="en-US" sz="1100" dirty="0"/>
          </a:p>
        </p:txBody>
      </p:sp>
      <p:sp>
        <p:nvSpPr>
          <p:cNvPr id="17" name="Shape 15"/>
          <p:cNvSpPr/>
          <p:nvPr/>
        </p:nvSpPr>
        <p:spPr>
          <a:xfrm>
            <a:off x="6236208" y="2258568"/>
            <a:ext cx="329184" cy="329184"/>
          </a:xfrm>
          <a:prstGeom prst="ellipse">
            <a:avLst/>
          </a:prstGeom>
          <a:solidFill>
            <a:srgbClr val="214F7B"/>
          </a:solidFill>
          <a:ln w="19050">
            <a:solidFill>
              <a:srgbClr val="FFFFFF"/>
            </a:solidFill>
            <a:prstDash val="solid"/>
          </a:ln>
        </p:spPr>
      </p:sp>
      <p:sp>
        <p:nvSpPr>
          <p:cNvPr id="18" name="Text 16"/>
          <p:cNvSpPr txBox="1"/>
          <p:nvPr/>
        </p:nvSpPr>
        <p:spPr>
          <a:xfrm>
            <a:off x="6236208" y="2258568"/>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9" name="Text 17"/>
          <p:cNvSpPr txBox="1"/>
          <p:nvPr/>
        </p:nvSpPr>
        <p:spPr>
          <a:xfrm>
            <a:off x="6693408" y="2258568"/>
            <a:ext cx="1828800" cy="329184"/>
          </a:xfrm>
          <a:prstGeom prst="rect">
            <a:avLst/>
          </a:prstGeom>
          <a:noFill/>
          <a:ln/>
        </p:spPr>
        <p:txBody>
          <a:bodyPr wrap="square" lIns="0" tIns="0" rIns="0" bIns="0" rtlCol="0" anchor="ctr"/>
          <a:lstStyle/>
          <a:p>
            <a:pPr indent="0" marL="0">
              <a:buNone/>
            </a:pPr>
            <a:r>
              <a:rPr lang="en-US" sz="1100" dirty="0">
                <a:solidFill>
                  <a:schemeClr val="bg1"/>
                </a:solidFill>
              </a:rPr>
              <a:t>Filter signal, detect beats</a:t>
            </a:r>
            <a:endParaRPr lang="en-US" sz="1100" dirty="0"/>
          </a:p>
        </p:txBody>
      </p:sp>
      <p:sp>
        <p:nvSpPr>
          <p:cNvPr id="20" name="Shape 18"/>
          <p:cNvSpPr/>
          <p:nvPr/>
        </p:nvSpPr>
        <p:spPr>
          <a:xfrm>
            <a:off x="6236208" y="2734056"/>
            <a:ext cx="329184" cy="329184"/>
          </a:xfrm>
          <a:prstGeom prst="ellipse">
            <a:avLst/>
          </a:prstGeom>
          <a:solidFill>
            <a:srgbClr val="214F7B"/>
          </a:solidFill>
          <a:ln w="19050">
            <a:solidFill>
              <a:srgbClr val="FFFFFF"/>
            </a:solidFill>
            <a:prstDash val="solid"/>
          </a:ln>
        </p:spPr>
      </p:sp>
      <p:sp>
        <p:nvSpPr>
          <p:cNvPr id="21" name="Text 19"/>
          <p:cNvSpPr txBox="1"/>
          <p:nvPr/>
        </p:nvSpPr>
        <p:spPr>
          <a:xfrm>
            <a:off x="6236208" y="2734056"/>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2" name="Text 20"/>
          <p:cNvSpPr txBox="1"/>
          <p:nvPr/>
        </p:nvSpPr>
        <p:spPr>
          <a:xfrm>
            <a:off x="6693408" y="2734056"/>
            <a:ext cx="1828800" cy="329184"/>
          </a:xfrm>
          <a:prstGeom prst="rect">
            <a:avLst/>
          </a:prstGeom>
          <a:noFill/>
          <a:ln/>
        </p:spPr>
        <p:txBody>
          <a:bodyPr wrap="square" lIns="0" tIns="0" rIns="0" bIns="0" rtlCol="0" anchor="ctr"/>
          <a:lstStyle/>
          <a:p>
            <a:pPr indent="0" marL="0">
              <a:buNone/>
            </a:pPr>
            <a:r>
              <a:rPr lang="en-US" sz="1100" dirty="0">
                <a:solidFill>
                  <a:schemeClr val="bg1"/>
                </a:solidFill>
              </a:rPr>
              <a:t>Calculate HR, SpO₂, temp</a:t>
            </a:r>
            <a:endParaRPr lang="en-US" sz="1100" dirty="0"/>
          </a:p>
        </p:txBody>
      </p:sp>
      <p:sp>
        <p:nvSpPr>
          <p:cNvPr id="23" name="Shape 21"/>
          <p:cNvSpPr/>
          <p:nvPr/>
        </p:nvSpPr>
        <p:spPr>
          <a:xfrm>
            <a:off x="6236208" y="3209544"/>
            <a:ext cx="329184" cy="329184"/>
          </a:xfrm>
          <a:prstGeom prst="ellipse">
            <a:avLst/>
          </a:prstGeom>
          <a:solidFill>
            <a:srgbClr val="214F7B"/>
          </a:solidFill>
          <a:ln w="19050">
            <a:solidFill>
              <a:srgbClr val="FFFFFF"/>
            </a:solidFill>
            <a:prstDash val="solid"/>
          </a:ln>
        </p:spPr>
      </p:sp>
      <p:sp>
        <p:nvSpPr>
          <p:cNvPr id="24" name="Text 22"/>
          <p:cNvSpPr txBox="1"/>
          <p:nvPr/>
        </p:nvSpPr>
        <p:spPr>
          <a:xfrm>
            <a:off x="6236208" y="3209544"/>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5" name="Text 23"/>
          <p:cNvSpPr txBox="1"/>
          <p:nvPr/>
        </p:nvSpPr>
        <p:spPr>
          <a:xfrm>
            <a:off x="6693408" y="3209544"/>
            <a:ext cx="1828800" cy="329184"/>
          </a:xfrm>
          <a:prstGeom prst="rect">
            <a:avLst/>
          </a:prstGeom>
          <a:noFill/>
          <a:ln/>
        </p:spPr>
        <p:txBody>
          <a:bodyPr wrap="square" lIns="0" tIns="0" rIns="0" bIns="0" rtlCol="0" anchor="ctr"/>
          <a:lstStyle/>
          <a:p>
            <a:pPr indent="0" marL="0">
              <a:buNone/>
            </a:pPr>
            <a:r>
              <a:rPr lang="en-US" sz="1100" dirty="0">
                <a:solidFill>
                  <a:schemeClr val="bg1"/>
                </a:solidFill>
              </a:rPr>
              <a:t>Update the OLED</a:t>
            </a:r>
            <a:endParaRPr lang="en-US" sz="1100" dirty="0"/>
          </a:p>
        </p:txBody>
      </p:sp>
      <p:sp>
        <p:nvSpPr>
          <p:cNvPr id="26" name="Shape 24"/>
          <p:cNvSpPr/>
          <p:nvPr/>
        </p:nvSpPr>
        <p:spPr>
          <a:xfrm>
            <a:off x="6236208" y="3685032"/>
            <a:ext cx="329184" cy="329184"/>
          </a:xfrm>
          <a:prstGeom prst="ellipse">
            <a:avLst/>
          </a:prstGeom>
          <a:solidFill>
            <a:srgbClr val="214F7B"/>
          </a:solidFill>
          <a:ln w="19050">
            <a:solidFill>
              <a:srgbClr val="FFFFFF"/>
            </a:solidFill>
            <a:prstDash val="solid"/>
          </a:ln>
        </p:spPr>
      </p:sp>
      <p:sp>
        <p:nvSpPr>
          <p:cNvPr id="27" name="Text 25"/>
          <p:cNvSpPr txBox="1"/>
          <p:nvPr/>
        </p:nvSpPr>
        <p:spPr>
          <a:xfrm>
            <a:off x="6236208" y="3685032"/>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8" name="Text 26"/>
          <p:cNvSpPr txBox="1"/>
          <p:nvPr/>
        </p:nvSpPr>
        <p:spPr>
          <a:xfrm>
            <a:off x="6693408" y="3685032"/>
            <a:ext cx="1828800" cy="329184"/>
          </a:xfrm>
          <a:prstGeom prst="rect">
            <a:avLst/>
          </a:prstGeom>
          <a:noFill/>
          <a:ln/>
        </p:spPr>
        <p:txBody>
          <a:bodyPr wrap="square" lIns="0" tIns="0" rIns="0" bIns="0" rtlCol="0" anchor="ctr"/>
          <a:lstStyle/>
          <a:p>
            <a:pPr indent="0" marL="0">
              <a:buNone/>
            </a:pPr>
            <a:r>
              <a:rPr lang="en-US" sz="1100" dirty="0">
                <a:solidFill>
                  <a:schemeClr val="bg1"/>
                </a:solidFill>
              </a:rPr>
              <a:t>Send JSON over Wi-Fi</a:t>
            </a:r>
            <a:endParaRPr lang="en-US" sz="1100" dirty="0"/>
          </a:p>
        </p:txBody>
      </p:sp>
      <p:sp>
        <p:nvSpPr>
          <p:cNvPr id="29" name="Text 27"/>
          <p:cNvSpPr txBox="1"/>
          <p:nvPr/>
        </p:nvSpPr>
        <p:spPr>
          <a:xfrm>
            <a:off x="6217920" y="4206240"/>
            <a:ext cx="2194560" cy="237744"/>
          </a:xfrm>
          <a:prstGeom prst="rect">
            <a:avLst/>
          </a:prstGeom>
          <a:noFill/>
          <a:ln/>
        </p:spPr>
        <p:txBody>
          <a:bodyPr wrap="square" lIns="0" tIns="0" rIns="0" bIns="0" rtlCol="0" anchor="t"/>
          <a:lstStyle/>
          <a:p>
            <a:pPr algn="ctr" indent="0" marL="0">
              <a:buNone/>
            </a:pPr>
            <a:r>
              <a:rPr lang="en-US" sz="1000" i="1" dirty="0">
                <a:solidFill>
                  <a:schemeClr val="accent2"/>
                </a:solidFill>
              </a:rPr>
              <a:t>Repeats every second</a:t>
            </a:r>
            <a:endParaRPr lang="en-US" sz="100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FIRMWARE</a:t>
            </a:r>
            <a:endParaRPr lang="en-US" sz="3000" dirty="0"/>
          </a:p>
        </p:txBody>
      </p:sp>
      <p:sp>
        <p:nvSpPr>
          <p:cNvPr id="3" name="Shape 1"/>
          <p:cNvSpPr/>
          <p:nvPr/>
        </p:nvSpPr>
        <p:spPr>
          <a:xfrm>
            <a:off x="548640" y="1188720"/>
            <a:ext cx="4983480" cy="3429000"/>
          </a:xfrm>
          <a:prstGeom prst="roundRect">
            <a:avLst>
              <a:gd name="adj" fmla="val 2667"/>
            </a:avLst>
          </a:prstGeom>
          <a:solidFill>
            <a:srgbClr val="12365A"/>
          </a:solidFill>
          <a:ln w="15875">
            <a:solidFill>
              <a:srgbClr val="FFFFFF"/>
            </a:solidFill>
            <a:prstDash val="solid"/>
          </a:ln>
        </p:spPr>
      </p:sp>
      <p:sp>
        <p:nvSpPr>
          <p:cNvPr id="4" name="Text 2"/>
          <p:cNvSpPr txBox="1"/>
          <p:nvPr/>
        </p:nvSpPr>
        <p:spPr>
          <a:xfrm>
            <a:off x="713232" y="1298448"/>
            <a:ext cx="4654296" cy="228600"/>
          </a:xfrm>
          <a:prstGeom prst="rect">
            <a:avLst/>
          </a:prstGeom>
          <a:noFill/>
          <a:ln/>
        </p:spPr>
        <p:txBody>
          <a:bodyPr wrap="square" lIns="0" tIns="0" rIns="0" bIns="0" rtlCol="0" anchor="t"/>
          <a:lstStyle/>
          <a:p>
            <a:pPr indent="0" marL="0">
              <a:buNone/>
            </a:pPr>
            <a:r>
              <a:rPr lang="en-US" sz="950" b="1" dirty="0">
                <a:solidFill>
                  <a:srgbClr val="FFD166"/>
                </a:solidFill>
                <a:latin typeface="Courier New" pitchFamily="34" charset="0"/>
                <a:ea typeface="Courier New" pitchFamily="34" charset="-122"/>
                <a:cs typeface="Courier New" pitchFamily="34" charset="-120"/>
              </a:rPr>
              <a:t>vital_firmware.ino · setup()</a:t>
            </a:r>
            <a:endParaRPr lang="en-US" sz="950" dirty="0"/>
          </a:p>
        </p:txBody>
      </p:sp>
      <p:sp>
        <p:nvSpPr>
          <p:cNvPr id="5" name="Text 3"/>
          <p:cNvSpPr txBox="1"/>
          <p:nvPr/>
        </p:nvSpPr>
        <p:spPr>
          <a:xfrm>
            <a:off x="713232" y="1600200"/>
            <a:ext cx="4654296" cy="2926080"/>
          </a:xfrm>
          <a:prstGeom prst="rect">
            <a:avLst/>
          </a:prstGeom>
          <a:noFill/>
          <a:ln/>
        </p:spPr>
        <p:txBody>
          <a:bodyPr wrap="square" lIns="0" tIns="0" rIns="0" bIns="0" rtlCol="0" anchor="t"/>
          <a:lstStyle/>
          <a:p>
            <a:pPr indent="0" marL="0">
              <a:buNone/>
            </a:pPr>
            <a:r>
              <a:rPr lang="en-US" sz="900" dirty="0">
                <a:solidFill>
                  <a:srgbClr val="FFD166"/>
                </a:solidFill>
                <a:latin typeface="Courier New" pitchFamily="34" charset="0"/>
                <a:ea typeface="Courier New" pitchFamily="34" charset="-122"/>
                <a:cs typeface="Courier New" pitchFamily="34" charset="-120"/>
              </a:rPr>
              <a:t>#include</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B4A8"/>
                </a:solidFill>
                <a:latin typeface="Courier New" pitchFamily="34" charset="0"/>
                <a:ea typeface="Courier New" pitchFamily="34" charset="-122"/>
                <a:cs typeface="Courier New" pitchFamily="34" charset="-120"/>
              </a:rPr>
              <a:t>&lt;Wire.h&gt;</a:t>
            </a:r>
            <a:endParaRPr lang="en-US" sz="900" dirty="0"/>
          </a:p>
          <a:p>
            <a:pPr indent="0" marL="0">
              <a:buNone/>
            </a:pPr>
            <a:r>
              <a:rPr lang="en-US" sz="900" dirty="0">
                <a:solidFill>
                  <a:srgbClr val="FFD166"/>
                </a:solidFill>
                <a:latin typeface="Courier New" pitchFamily="34" charset="0"/>
                <a:ea typeface="Courier New" pitchFamily="34" charset="-122"/>
                <a:cs typeface="Courier New" pitchFamily="34" charset="-120"/>
              </a:rPr>
              <a:t>#include</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B4A8"/>
                </a:solidFill>
                <a:latin typeface="Courier New" pitchFamily="34" charset="0"/>
                <a:ea typeface="Courier New" pitchFamily="34" charset="-122"/>
                <a:cs typeface="Courier New" pitchFamily="34" charset="-120"/>
              </a:rPr>
              <a:t>"MAX30105.h"</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8FA9CC"/>
                </a:solidFill>
                <a:latin typeface="Courier New" pitchFamily="34" charset="0"/>
                <a:ea typeface="Courier New" pitchFamily="34" charset="-122"/>
                <a:cs typeface="Courier New" pitchFamily="34" charset="-120"/>
              </a:rPr>
              <a:t>// SparkFun lib (MAX30102)</a:t>
            </a:r>
            <a:endParaRPr lang="en-US" sz="900" dirty="0"/>
          </a:p>
          <a:p>
            <a:pPr indent="0" marL="0">
              <a:buNone/>
            </a:pPr>
            <a:r>
              <a:rPr lang="en-US" sz="900" dirty="0">
                <a:solidFill>
                  <a:srgbClr val="FFD166"/>
                </a:solidFill>
                <a:latin typeface="Courier New" pitchFamily="34" charset="0"/>
                <a:ea typeface="Courier New" pitchFamily="34" charset="-122"/>
                <a:cs typeface="Courier New" pitchFamily="34" charset="-120"/>
              </a:rPr>
              <a:t>#include</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B4A8"/>
                </a:solidFill>
                <a:latin typeface="Courier New" pitchFamily="34" charset="0"/>
                <a:ea typeface="Courier New" pitchFamily="34" charset="-122"/>
                <a:cs typeface="Courier New" pitchFamily="34" charset="-120"/>
              </a:rPr>
              <a:t>&lt;Adafruit_MLX90614.h&gt;</a:t>
            </a:r>
            <a:endParaRPr lang="en-US" sz="900" dirty="0"/>
          </a:p>
          <a:p>
            <a:pPr indent="0" marL="0">
              <a:buNone/>
            </a:pPr>
            <a:r>
              <a:rPr lang="en-US" sz="900" dirty="0">
                <a:solidFill>
                  <a:srgbClr val="FFD166"/>
                </a:solidFill>
                <a:latin typeface="Courier New" pitchFamily="34" charset="0"/>
                <a:ea typeface="Courier New" pitchFamily="34" charset="-122"/>
                <a:cs typeface="Courier New" pitchFamily="34" charset="-120"/>
              </a:rPr>
              <a:t>#include</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B4A8"/>
                </a:solidFill>
                <a:latin typeface="Courier New" pitchFamily="34" charset="0"/>
                <a:ea typeface="Courier New" pitchFamily="34" charset="-122"/>
                <a:cs typeface="Courier New" pitchFamily="34" charset="-120"/>
              </a:rPr>
              <a:t>&lt;Adafruit_SSD1306.h&gt;</a:t>
            </a:r>
            <a:endParaRPr lang="en-US" sz="900" dirty="0"/>
          </a:p>
          <a:p>
            <a:pPr indent="0" marL="0">
              <a:buNone/>
            </a:pPr>
            <a:r>
              <a:rPr lang="en-US" sz="900" dirty="0">
                <a:solidFill>
                  <a:srgbClr val="FFD166"/>
                </a:solidFill>
                <a:latin typeface="Courier New" pitchFamily="34" charset="0"/>
                <a:ea typeface="Courier New" pitchFamily="34" charset="-122"/>
                <a:cs typeface="Courier New" pitchFamily="34" charset="-120"/>
              </a:rPr>
              <a:t>#include</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B4A8"/>
                </a:solidFill>
                <a:latin typeface="Courier New" pitchFamily="34" charset="0"/>
                <a:ea typeface="Courier New" pitchFamily="34" charset="-122"/>
                <a:cs typeface="Courier New" pitchFamily="34" charset="-120"/>
              </a:rPr>
              <a:t>&lt;WiFi.h&gt;</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MAX30105</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pox</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Adafruit_MLX90614</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mlx</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Adafruit_SSD1306</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oled</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9EC1EA"/>
                </a:solidFill>
                <a:latin typeface="Courier New" pitchFamily="34" charset="0"/>
                <a:ea typeface="Courier New" pitchFamily="34" charset="-122"/>
                <a:cs typeface="Courier New" pitchFamily="34" charset="-120"/>
              </a:rPr>
              <a:t>128</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64</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&amp;</a:t>
            </a:r>
            <a:pPr indent="0" marL="0">
              <a:buNone/>
            </a:pPr>
            <a:r>
              <a:rPr lang="en-US" sz="900" dirty="0">
                <a:solidFill>
                  <a:srgbClr val="FFFFFF"/>
                </a:solidFill>
                <a:latin typeface="Courier New" pitchFamily="34" charset="0"/>
                <a:ea typeface="Courier New" pitchFamily="34" charset="-122"/>
                <a:cs typeface="Courier New" pitchFamily="34" charset="-120"/>
              </a:rPr>
              <a:t>Wire</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9EC1EA"/>
                </a:solidFill>
                <a:latin typeface="Courier New" pitchFamily="34" charset="0"/>
                <a:ea typeface="Courier New" pitchFamily="34" charset="-122"/>
                <a:cs typeface="Courier New" pitchFamily="34" charset="-120"/>
              </a:rPr>
              <a:t>1</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FFD166"/>
                </a:solidFill>
                <a:latin typeface="Courier New" pitchFamily="34" charset="0"/>
                <a:ea typeface="Courier New" pitchFamily="34" charset="-122"/>
                <a:cs typeface="Courier New" pitchFamily="34" charset="-120"/>
              </a:rPr>
              <a:t>void</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setup</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Wire</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begin</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9EC1EA"/>
                </a:solidFill>
                <a:latin typeface="Courier New" pitchFamily="34" charset="0"/>
                <a:ea typeface="Courier New" pitchFamily="34" charset="-122"/>
                <a:cs typeface="Courier New" pitchFamily="34" charset="-120"/>
              </a:rPr>
              <a:t>21</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22</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8FA9CC"/>
                </a:solidFill>
                <a:latin typeface="Courier New" pitchFamily="34" charset="0"/>
                <a:ea typeface="Courier New" pitchFamily="34" charset="-122"/>
                <a:cs typeface="Courier New" pitchFamily="34" charset="-120"/>
              </a:rPr>
              <a:t>// SDA, SCL</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Wire</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setClock</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9EC1EA"/>
                </a:solidFill>
                <a:latin typeface="Courier New" pitchFamily="34" charset="0"/>
                <a:ea typeface="Courier New" pitchFamily="34" charset="-122"/>
                <a:cs typeface="Courier New" pitchFamily="34" charset="-120"/>
              </a:rPr>
              <a:t>100000</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8FA9CC"/>
                </a:solidFill>
                <a:latin typeface="Courier New" pitchFamily="34" charset="0"/>
                <a:ea typeface="Courier New" pitchFamily="34" charset="-122"/>
                <a:cs typeface="Courier New" pitchFamily="34" charset="-120"/>
              </a:rPr>
              <a:t>// MLX90614 max</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pox</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begin</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Wire</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I2C_SPEED_STANDARD</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8FA9CC"/>
                </a:solidFill>
                <a:latin typeface="Courier New" pitchFamily="34" charset="0"/>
                <a:ea typeface="Courier New" pitchFamily="34" charset="-122"/>
                <a:cs typeface="Courier New" pitchFamily="34" charset="-120"/>
              </a:rPr>
              <a:t>// 0x57</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pox</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setup</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9EC1EA"/>
                </a:solidFill>
                <a:latin typeface="Courier New" pitchFamily="34" charset="0"/>
                <a:ea typeface="Courier New" pitchFamily="34" charset="-122"/>
                <a:cs typeface="Courier New" pitchFamily="34" charset="-120"/>
              </a:rPr>
              <a:t>60</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4</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2</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100</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411</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4096</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8FA9CC"/>
                </a:solidFill>
                <a:latin typeface="Courier New" pitchFamily="34" charset="0"/>
                <a:ea typeface="Courier New" pitchFamily="34" charset="-122"/>
                <a:cs typeface="Courier New" pitchFamily="34" charset="-120"/>
              </a:rPr>
              <a:t>// 100 Hz</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mlx</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begin</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8FA9CC"/>
                </a:solidFill>
                <a:latin typeface="Courier New" pitchFamily="34" charset="0"/>
                <a:ea typeface="Courier New" pitchFamily="34" charset="-122"/>
                <a:cs typeface="Courier New" pitchFamily="34" charset="-120"/>
              </a:rPr>
              <a:t>// 0x5A</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oled</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begin</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SSD1306_SWITCHCAPVCC</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0</a:t>
            </a:r>
            <a:pPr indent="0" marL="0">
              <a:buNone/>
            </a:pPr>
            <a:r>
              <a:rPr lang="en-US" sz="900" dirty="0">
                <a:solidFill>
                  <a:srgbClr val="FFFFFF"/>
                </a:solidFill>
                <a:latin typeface="Courier New" pitchFamily="34" charset="0"/>
                <a:ea typeface="Courier New" pitchFamily="34" charset="-122"/>
                <a:cs typeface="Courier New" pitchFamily="34" charset="-120"/>
              </a:rPr>
              <a:t>x3C</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xTaskCreatePinnedToCore</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networkTask</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B4A8"/>
                </a:solidFill>
                <a:latin typeface="Courier New" pitchFamily="34" charset="0"/>
                <a:ea typeface="Courier New" pitchFamily="34" charset="-122"/>
                <a:cs typeface="Courier New" pitchFamily="34" charset="-120"/>
              </a:rPr>
              <a:t>"net"</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8192</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NULL</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1</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NULL</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0</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8FA9CC"/>
                </a:solidFill>
                <a:latin typeface="Courier New" pitchFamily="34" charset="0"/>
                <a:ea typeface="Courier New" pitchFamily="34" charset="-122"/>
                <a:cs typeface="Courier New" pitchFamily="34" charset="-120"/>
              </a:rPr>
              <a:t>// Wi-Fi: core 0</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6" name="fwPanel"/>
          <p:cNvSpPr/>
          <p:nvPr/>
        </p:nvSpPr>
        <p:spPr>
          <a:xfrm>
            <a:off x="5760720" y="1371600"/>
            <a:ext cx="2834640" cy="3246120"/>
          </a:xfrm>
          <a:prstGeom prst="roundRect">
            <a:avLst>
              <a:gd name="adj" fmla="val 4516"/>
            </a:avLst>
          </a:prstGeom>
          <a:solidFill>
            <a:srgbClr val="1B4670">
              <a:alpha val="70000"/>
            </a:srgbClr>
          </a:solidFill>
          <a:ln w="15875">
            <a:solidFill>
              <a:srgbClr val="FFFFFF"/>
            </a:solidFill>
            <a:prstDash val="solid"/>
          </a:ln>
        </p:spPr>
      </p:sp>
      <p:sp>
        <p:nvSpPr>
          <p:cNvPr id="7" name="Shape 5"/>
          <p:cNvSpPr/>
          <p:nvPr/>
        </p:nvSpPr>
        <p:spPr>
          <a:xfrm>
            <a:off x="6263640" y="1188720"/>
            <a:ext cx="1828800" cy="365760"/>
          </a:xfrm>
          <a:prstGeom prst="roundRect">
            <a:avLst>
              <a:gd name="adj" fmla="val 50000"/>
            </a:avLst>
          </a:prstGeom>
          <a:solidFill>
            <a:srgbClr val="214F7B"/>
          </a:solidFill>
          <a:ln w="15875">
            <a:solidFill>
              <a:srgbClr val="FFFFFF"/>
            </a:solidFill>
            <a:prstDash val="solid"/>
          </a:ln>
        </p:spPr>
      </p:sp>
      <p:sp>
        <p:nvSpPr>
          <p:cNvPr id="8" name="Text 6"/>
          <p:cNvSpPr txBox="1"/>
          <p:nvPr/>
        </p:nvSpPr>
        <p:spPr>
          <a:xfrm>
            <a:off x="6263640" y="1188720"/>
            <a:ext cx="1828800" cy="365760"/>
          </a:xfrm>
          <a:prstGeom prst="rect">
            <a:avLst/>
          </a:prstGeom>
          <a:noFill/>
          <a:ln/>
        </p:spPr>
        <p:txBody>
          <a:bodyPr wrap="square" lIns="0" tIns="0" rIns="0" bIns="0" rtlCol="0" anchor="ctr"/>
          <a:lstStyle/>
          <a:p>
            <a:pPr algn="ctr" indent="0" marL="0">
              <a:buNone/>
            </a:pPr>
            <a:r>
              <a:rPr lang="en-US" sz="1100" b="1" dirty="0">
                <a:solidFill>
                  <a:schemeClr val="bg1"/>
                </a:solidFill>
              </a:rPr>
              <a:t>LIBRARIES</a:t>
            </a:r>
            <a:endParaRPr lang="en-US" sz="1100" dirty="0"/>
          </a:p>
        </p:txBody>
      </p:sp>
      <p:sp>
        <p:nvSpPr>
          <p:cNvPr id="9" name="Text 7"/>
          <p:cNvSpPr txBox="1"/>
          <p:nvPr/>
        </p:nvSpPr>
        <p:spPr>
          <a:xfrm>
            <a:off x="5943600" y="1691640"/>
            <a:ext cx="2560320" cy="292608"/>
          </a:xfrm>
          <a:prstGeom prst="rect">
            <a:avLst/>
          </a:prstGeom>
          <a:noFill/>
          <a:ln/>
        </p:spPr>
        <p:txBody>
          <a:bodyPr wrap="square" lIns="0" tIns="0" rIns="0" bIns="0" rtlCol="0" anchor="ctr"/>
          <a:lstStyle/>
          <a:p>
            <a:pPr indent="0" marL="0">
              <a:buNone/>
            </a:pPr>
            <a:r>
              <a:rPr lang="en-US" sz="1000" b="1" dirty="0">
                <a:solidFill>
                  <a:schemeClr val="bg1"/>
                </a:solidFill>
              </a:rPr>
              <a:t>SparkFun MAX3010x</a:t>
            </a:r>
            <a:pPr indent="0" marL="0">
              <a:buNone/>
            </a:pPr>
            <a:r>
              <a:rPr lang="en-US" sz="1000" dirty="0">
                <a:solidFill>
                  <a:schemeClr val="bg2"/>
                </a:solidFill>
              </a:rPr>
              <a:t>  pulse + SpO₂</a:t>
            </a:r>
            <a:endParaRPr lang="en-US" sz="1000" dirty="0"/>
          </a:p>
        </p:txBody>
      </p:sp>
      <p:sp>
        <p:nvSpPr>
          <p:cNvPr id="10" name="Text 8"/>
          <p:cNvSpPr txBox="1"/>
          <p:nvPr/>
        </p:nvSpPr>
        <p:spPr>
          <a:xfrm>
            <a:off x="5943600" y="2020824"/>
            <a:ext cx="2560320" cy="292608"/>
          </a:xfrm>
          <a:prstGeom prst="rect">
            <a:avLst/>
          </a:prstGeom>
          <a:noFill/>
          <a:ln/>
        </p:spPr>
        <p:txBody>
          <a:bodyPr wrap="square" lIns="0" tIns="0" rIns="0" bIns="0" rtlCol="0" anchor="ctr"/>
          <a:lstStyle/>
          <a:p>
            <a:pPr indent="0" marL="0">
              <a:buNone/>
            </a:pPr>
            <a:r>
              <a:rPr lang="en-US" sz="1000" b="1" dirty="0">
                <a:solidFill>
                  <a:schemeClr val="bg1"/>
                </a:solidFill>
              </a:rPr>
              <a:t>Adafruit MLX90614</a:t>
            </a:r>
            <a:pPr indent="0" marL="0">
              <a:buNone/>
            </a:pPr>
            <a:r>
              <a:rPr lang="en-US" sz="1000" dirty="0">
                <a:solidFill>
                  <a:schemeClr val="bg2"/>
                </a:solidFill>
              </a:rPr>
              <a:t>  IR thermometer</a:t>
            </a:r>
            <a:endParaRPr lang="en-US" sz="1000" dirty="0"/>
          </a:p>
        </p:txBody>
      </p:sp>
      <p:sp>
        <p:nvSpPr>
          <p:cNvPr id="11" name="Text 9"/>
          <p:cNvSpPr txBox="1"/>
          <p:nvPr/>
        </p:nvSpPr>
        <p:spPr>
          <a:xfrm>
            <a:off x="5943600" y="2350008"/>
            <a:ext cx="2560320" cy="292608"/>
          </a:xfrm>
          <a:prstGeom prst="rect">
            <a:avLst/>
          </a:prstGeom>
          <a:noFill/>
          <a:ln/>
        </p:spPr>
        <p:txBody>
          <a:bodyPr wrap="square" lIns="0" tIns="0" rIns="0" bIns="0" rtlCol="0" anchor="ctr"/>
          <a:lstStyle/>
          <a:p>
            <a:pPr indent="0" marL="0">
              <a:buNone/>
            </a:pPr>
            <a:r>
              <a:rPr lang="en-US" sz="1000" b="1" dirty="0">
                <a:solidFill>
                  <a:schemeClr val="bg1"/>
                </a:solidFill>
              </a:rPr>
              <a:t>Adafruit SSD1306</a:t>
            </a:r>
            <a:pPr indent="0" marL="0">
              <a:buNone/>
            </a:pPr>
            <a:r>
              <a:rPr lang="en-US" sz="1000" dirty="0">
                <a:solidFill>
                  <a:schemeClr val="bg2"/>
                </a:solidFill>
              </a:rPr>
              <a:t>  OLED drawing</a:t>
            </a:r>
            <a:endParaRPr lang="en-US" sz="1000" dirty="0"/>
          </a:p>
        </p:txBody>
      </p:sp>
      <p:sp>
        <p:nvSpPr>
          <p:cNvPr id="12" name="Text 10"/>
          <p:cNvSpPr txBox="1"/>
          <p:nvPr/>
        </p:nvSpPr>
        <p:spPr>
          <a:xfrm>
            <a:off x="5943600" y="2679192"/>
            <a:ext cx="2560320" cy="292608"/>
          </a:xfrm>
          <a:prstGeom prst="rect">
            <a:avLst/>
          </a:prstGeom>
          <a:noFill/>
          <a:ln/>
        </p:spPr>
        <p:txBody>
          <a:bodyPr wrap="square" lIns="0" tIns="0" rIns="0" bIns="0" rtlCol="0" anchor="ctr"/>
          <a:lstStyle/>
          <a:p>
            <a:pPr indent="0" marL="0">
              <a:buNone/>
            </a:pPr>
            <a:r>
              <a:rPr lang="en-US" sz="1000" b="1" dirty="0">
                <a:solidFill>
                  <a:schemeClr val="bg1"/>
                </a:solidFill>
              </a:rPr>
              <a:t>WiFi + HTTPClient</a:t>
            </a:r>
            <a:pPr indent="0" marL="0">
              <a:buNone/>
            </a:pPr>
            <a:r>
              <a:rPr lang="en-US" sz="1000" dirty="0">
                <a:solidFill>
                  <a:schemeClr val="bg2"/>
                </a:solidFill>
              </a:rPr>
              <a:t>  ESP32 core</a:t>
            </a:r>
            <a:endParaRPr lang="en-US" sz="1000" dirty="0"/>
          </a:p>
        </p:txBody>
      </p:sp>
      <p:sp>
        <p:nvSpPr>
          <p:cNvPr id="13" name="Text 11"/>
          <p:cNvSpPr txBox="1"/>
          <p:nvPr/>
        </p:nvSpPr>
        <p:spPr>
          <a:xfrm>
            <a:off x="5943600" y="3090672"/>
            <a:ext cx="2468880" cy="237744"/>
          </a:xfrm>
          <a:prstGeom prst="rect">
            <a:avLst/>
          </a:prstGeom>
          <a:noFill/>
          <a:ln/>
        </p:spPr>
        <p:txBody>
          <a:bodyPr wrap="square" lIns="0" tIns="0" rIns="0" bIns="0" rtlCol="0" anchor="t"/>
          <a:lstStyle/>
          <a:p>
            <a:pPr indent="0" marL="0">
              <a:buNone/>
            </a:pPr>
            <a:r>
              <a:rPr lang="en-US" sz="1000" b="1" dirty="0">
                <a:solidFill>
                  <a:schemeClr val="accent2"/>
                </a:solidFill>
              </a:rPr>
              <a:t>DESIGN TARGETS</a:t>
            </a:r>
            <a:endParaRPr lang="en-US" sz="1000" dirty="0"/>
          </a:p>
        </p:txBody>
      </p:sp>
      <p:sp>
        <p:nvSpPr>
          <p:cNvPr id="14" name="Text 12"/>
          <p:cNvSpPr txBox="1"/>
          <p:nvPr/>
        </p:nvSpPr>
        <p:spPr>
          <a:xfrm>
            <a:off x="5943600" y="3364992"/>
            <a:ext cx="1600200" cy="256032"/>
          </a:xfrm>
          <a:prstGeom prst="rect">
            <a:avLst/>
          </a:prstGeom>
          <a:noFill/>
          <a:ln/>
        </p:spPr>
        <p:txBody>
          <a:bodyPr wrap="square" lIns="0" tIns="0" rIns="0" bIns="0" rtlCol="0" anchor="ctr"/>
          <a:lstStyle/>
          <a:p>
            <a:pPr indent="0" marL="0">
              <a:buNone/>
            </a:pPr>
            <a:r>
              <a:rPr lang="en-US" sz="1050" dirty="0">
                <a:solidFill>
                  <a:schemeClr val="bg2"/>
                </a:solidFill>
              </a:rPr>
              <a:t>Sensor sampling</a:t>
            </a:r>
            <a:endParaRPr lang="en-US" sz="1050" dirty="0"/>
          </a:p>
        </p:txBody>
      </p:sp>
      <p:sp>
        <p:nvSpPr>
          <p:cNvPr id="15" name="Text 13"/>
          <p:cNvSpPr txBox="1"/>
          <p:nvPr/>
        </p:nvSpPr>
        <p:spPr>
          <a:xfrm>
            <a:off x="7498080" y="3364992"/>
            <a:ext cx="914400" cy="256032"/>
          </a:xfrm>
          <a:prstGeom prst="rect">
            <a:avLst/>
          </a:prstGeom>
          <a:noFill/>
          <a:ln/>
        </p:spPr>
        <p:txBody>
          <a:bodyPr wrap="square" lIns="0" tIns="0" rIns="0" bIns="0" rtlCol="0" anchor="ctr"/>
          <a:lstStyle/>
          <a:p>
            <a:pPr algn="r" indent="0" marL="0">
              <a:buNone/>
            </a:pPr>
            <a:r>
              <a:rPr lang="en-US" sz="1050" b="1" dirty="0">
                <a:solidFill>
                  <a:schemeClr val="bg1"/>
                </a:solidFill>
              </a:rPr>
              <a:t>100 Hz</a:t>
            </a:r>
            <a:endParaRPr lang="en-US" sz="1050" dirty="0"/>
          </a:p>
        </p:txBody>
      </p:sp>
      <p:sp>
        <p:nvSpPr>
          <p:cNvPr id="16" name="Text 14"/>
          <p:cNvSpPr txBox="1"/>
          <p:nvPr/>
        </p:nvSpPr>
        <p:spPr>
          <a:xfrm>
            <a:off x="5943600" y="3639312"/>
            <a:ext cx="1600200" cy="256032"/>
          </a:xfrm>
          <a:prstGeom prst="rect">
            <a:avLst/>
          </a:prstGeom>
          <a:noFill/>
          <a:ln/>
        </p:spPr>
        <p:txBody>
          <a:bodyPr wrap="square" lIns="0" tIns="0" rIns="0" bIns="0" rtlCol="0" anchor="ctr"/>
          <a:lstStyle/>
          <a:p>
            <a:pPr indent="0" marL="0">
              <a:buNone/>
            </a:pPr>
            <a:r>
              <a:rPr lang="en-US" sz="1050" dirty="0">
                <a:solidFill>
                  <a:schemeClr val="bg2"/>
                </a:solidFill>
              </a:rPr>
              <a:t>I²C clock</a:t>
            </a:r>
            <a:endParaRPr lang="en-US" sz="1050" dirty="0"/>
          </a:p>
        </p:txBody>
      </p:sp>
      <p:sp>
        <p:nvSpPr>
          <p:cNvPr id="17" name="Text 15"/>
          <p:cNvSpPr txBox="1"/>
          <p:nvPr/>
        </p:nvSpPr>
        <p:spPr>
          <a:xfrm>
            <a:off x="7498080" y="3639312"/>
            <a:ext cx="914400" cy="256032"/>
          </a:xfrm>
          <a:prstGeom prst="rect">
            <a:avLst/>
          </a:prstGeom>
          <a:noFill/>
          <a:ln/>
        </p:spPr>
        <p:txBody>
          <a:bodyPr wrap="square" lIns="0" tIns="0" rIns="0" bIns="0" rtlCol="0" anchor="ctr"/>
          <a:lstStyle/>
          <a:p>
            <a:pPr algn="r" indent="0" marL="0">
              <a:buNone/>
            </a:pPr>
            <a:r>
              <a:rPr lang="en-US" sz="1050" b="1" dirty="0">
                <a:solidFill>
                  <a:schemeClr val="bg1"/>
                </a:solidFill>
              </a:rPr>
              <a:t>100 kHz</a:t>
            </a:r>
            <a:endParaRPr lang="en-US" sz="1050" dirty="0"/>
          </a:p>
        </p:txBody>
      </p:sp>
      <p:sp>
        <p:nvSpPr>
          <p:cNvPr id="18" name="Text 16"/>
          <p:cNvSpPr txBox="1"/>
          <p:nvPr/>
        </p:nvSpPr>
        <p:spPr>
          <a:xfrm>
            <a:off x="5943600" y="3913632"/>
            <a:ext cx="1600200" cy="256032"/>
          </a:xfrm>
          <a:prstGeom prst="rect">
            <a:avLst/>
          </a:prstGeom>
          <a:noFill/>
          <a:ln/>
        </p:spPr>
        <p:txBody>
          <a:bodyPr wrap="square" lIns="0" tIns="0" rIns="0" bIns="0" rtlCol="0" anchor="ctr"/>
          <a:lstStyle/>
          <a:p>
            <a:pPr indent="0" marL="0">
              <a:buNone/>
            </a:pPr>
            <a:r>
              <a:rPr lang="en-US" sz="1050" dirty="0">
                <a:solidFill>
                  <a:schemeClr val="bg2"/>
                </a:solidFill>
              </a:rPr>
              <a:t>OLED refresh</a:t>
            </a:r>
            <a:endParaRPr lang="en-US" sz="1050" dirty="0"/>
          </a:p>
        </p:txBody>
      </p:sp>
      <p:sp>
        <p:nvSpPr>
          <p:cNvPr id="19" name="Text 17"/>
          <p:cNvSpPr txBox="1"/>
          <p:nvPr/>
        </p:nvSpPr>
        <p:spPr>
          <a:xfrm>
            <a:off x="7498080" y="3913632"/>
            <a:ext cx="914400" cy="256032"/>
          </a:xfrm>
          <a:prstGeom prst="rect">
            <a:avLst/>
          </a:prstGeom>
          <a:noFill/>
          <a:ln/>
        </p:spPr>
        <p:txBody>
          <a:bodyPr wrap="square" lIns="0" tIns="0" rIns="0" bIns="0" rtlCol="0" anchor="ctr"/>
          <a:lstStyle/>
          <a:p>
            <a:pPr algn="r" indent="0" marL="0">
              <a:buNone/>
            </a:pPr>
            <a:r>
              <a:rPr lang="en-US" sz="1050" b="1" dirty="0">
                <a:solidFill>
                  <a:schemeClr val="bg1"/>
                </a:solidFill>
              </a:rPr>
              <a:t>~5 per s</a:t>
            </a:r>
            <a:endParaRPr lang="en-US" sz="1050" dirty="0"/>
          </a:p>
        </p:txBody>
      </p:sp>
      <p:sp>
        <p:nvSpPr>
          <p:cNvPr id="20" name="Text 18"/>
          <p:cNvSpPr txBox="1"/>
          <p:nvPr/>
        </p:nvSpPr>
        <p:spPr>
          <a:xfrm>
            <a:off x="5943600" y="4187952"/>
            <a:ext cx="1600200" cy="256032"/>
          </a:xfrm>
          <a:prstGeom prst="rect">
            <a:avLst/>
          </a:prstGeom>
          <a:noFill/>
          <a:ln/>
        </p:spPr>
        <p:txBody>
          <a:bodyPr wrap="square" lIns="0" tIns="0" rIns="0" bIns="0" rtlCol="0" anchor="ctr"/>
          <a:lstStyle/>
          <a:p>
            <a:pPr indent="0" marL="0">
              <a:buNone/>
            </a:pPr>
            <a:r>
              <a:rPr lang="en-US" sz="1050" dirty="0">
                <a:solidFill>
                  <a:schemeClr val="bg2"/>
                </a:solidFill>
              </a:rPr>
              <a:t>Upload to server</a:t>
            </a:r>
            <a:endParaRPr lang="en-US" sz="1050" dirty="0"/>
          </a:p>
        </p:txBody>
      </p:sp>
      <p:sp>
        <p:nvSpPr>
          <p:cNvPr id="21" name="Text 19"/>
          <p:cNvSpPr txBox="1"/>
          <p:nvPr/>
        </p:nvSpPr>
        <p:spPr>
          <a:xfrm>
            <a:off x="7498080" y="4187952"/>
            <a:ext cx="914400" cy="256032"/>
          </a:xfrm>
          <a:prstGeom prst="rect">
            <a:avLst/>
          </a:prstGeom>
          <a:noFill/>
          <a:ln/>
        </p:spPr>
        <p:txBody>
          <a:bodyPr wrap="square" lIns="0" tIns="0" rIns="0" bIns="0" rtlCol="0" anchor="ctr"/>
          <a:lstStyle/>
          <a:p>
            <a:pPr algn="r" indent="0" marL="0">
              <a:buNone/>
            </a:pPr>
            <a:r>
              <a:rPr lang="en-US" sz="1050" b="1" dirty="0">
                <a:solidFill>
                  <a:schemeClr val="bg1"/>
                </a:solidFill>
              </a:rPr>
              <a:t>1 per s</a:t>
            </a:r>
            <a:endParaRPr lang="en-US" sz="10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SIGNAL PROCESSING</a:t>
            </a:r>
            <a:endParaRPr lang="en-US" sz="3000" dirty="0"/>
          </a:p>
        </p:txBody>
      </p:sp>
      <p:pic>
        <p:nvPicPr>
          <p:cNvPr id="3" name="Image 0" descr="img/ppg_acdc.png">    </p:cNvPr>
          <p:cNvPicPr>
            <a:picLocks noChangeAspect="1"/>
          </p:cNvPicPr>
          <p:nvPr/>
        </p:nvPicPr>
        <p:blipFill>
          <a:blip r:embed="rId1"/>
          <a:stretch>
            <a:fillRect/>
          </a:stretch>
        </p:blipFill>
        <p:spPr>
          <a:xfrm>
            <a:off x="548640" y="1143000"/>
            <a:ext cx="4572000" cy="1764792"/>
          </a:xfrm>
          <a:prstGeom prst="rect">
            <a:avLst/>
          </a:prstGeom>
        </p:spPr>
      </p:pic>
      <p:sp>
        <p:nvSpPr>
          <p:cNvPr id="4" name="Text 1"/>
          <p:cNvSpPr txBox="1"/>
          <p:nvPr/>
        </p:nvSpPr>
        <p:spPr>
          <a:xfrm>
            <a:off x="548640" y="3063240"/>
            <a:ext cx="1188720" cy="310896"/>
          </a:xfrm>
          <a:prstGeom prst="rect">
            <a:avLst/>
          </a:prstGeom>
          <a:noFill/>
          <a:ln/>
        </p:spPr>
        <p:txBody>
          <a:bodyPr wrap="square" lIns="0" tIns="0" rIns="0" bIns="0" rtlCol="0" anchor="ctr"/>
          <a:lstStyle/>
          <a:p>
            <a:pPr indent="0" marL="0">
              <a:buNone/>
            </a:pPr>
            <a:r>
              <a:rPr lang="en-US" sz="1150" b="1" dirty="0">
                <a:solidFill>
                  <a:schemeClr val="bg1"/>
                </a:solidFill>
              </a:rPr>
              <a:t>Heart rate</a:t>
            </a:r>
            <a:endParaRPr lang="en-US" sz="1150" dirty="0"/>
          </a:p>
        </p:txBody>
      </p:sp>
      <p:sp>
        <p:nvSpPr>
          <p:cNvPr id="5" name="Text 2"/>
          <p:cNvSpPr txBox="1"/>
          <p:nvPr/>
        </p:nvSpPr>
        <p:spPr>
          <a:xfrm>
            <a:off x="1737360" y="3063240"/>
            <a:ext cx="3429000" cy="310896"/>
          </a:xfrm>
          <a:prstGeom prst="rect">
            <a:avLst/>
          </a:prstGeom>
          <a:noFill/>
          <a:ln/>
        </p:spPr>
        <p:txBody>
          <a:bodyPr wrap="square" lIns="0" tIns="0" rIns="0" bIns="0" rtlCol="0" anchor="ctr"/>
          <a:lstStyle/>
          <a:p>
            <a:pPr indent="0" marL="0">
              <a:buNone/>
            </a:pPr>
            <a:r>
              <a:rPr lang="en-US" sz="950" dirty="0">
                <a:solidFill>
                  <a:schemeClr val="bg1"/>
                </a:solidFill>
                <a:latin typeface="Courier New" pitchFamily="34" charset="0"/>
                <a:ea typeface="Courier New" pitchFamily="34" charset="-122"/>
                <a:cs typeface="Courier New" pitchFamily="34" charset="-120"/>
              </a:rPr>
              <a:t>BPM = 60 / Δt, averaged over 4 beats</a:t>
            </a:r>
            <a:endParaRPr lang="en-US" sz="950" dirty="0"/>
          </a:p>
        </p:txBody>
      </p:sp>
      <p:sp>
        <p:nvSpPr>
          <p:cNvPr id="6" name="Text 3"/>
          <p:cNvSpPr txBox="1"/>
          <p:nvPr/>
        </p:nvSpPr>
        <p:spPr>
          <a:xfrm>
            <a:off x="548640" y="3429000"/>
            <a:ext cx="1188720" cy="310896"/>
          </a:xfrm>
          <a:prstGeom prst="rect">
            <a:avLst/>
          </a:prstGeom>
          <a:noFill/>
          <a:ln/>
        </p:spPr>
        <p:txBody>
          <a:bodyPr wrap="square" lIns="0" tIns="0" rIns="0" bIns="0" rtlCol="0" anchor="ctr"/>
          <a:lstStyle/>
          <a:p>
            <a:pPr indent="0" marL="0">
              <a:buNone/>
            </a:pPr>
            <a:r>
              <a:rPr lang="en-US" sz="1150" b="1" dirty="0">
                <a:solidFill>
                  <a:schemeClr val="accent1"/>
                </a:solidFill>
              </a:rPr>
              <a:t>SpO₂</a:t>
            </a:r>
            <a:endParaRPr lang="en-US" sz="1150" dirty="0"/>
          </a:p>
        </p:txBody>
      </p:sp>
      <p:sp>
        <p:nvSpPr>
          <p:cNvPr id="7" name="Text 4"/>
          <p:cNvSpPr txBox="1"/>
          <p:nvPr/>
        </p:nvSpPr>
        <p:spPr>
          <a:xfrm>
            <a:off x="1737360" y="3429000"/>
            <a:ext cx="3429000" cy="310896"/>
          </a:xfrm>
          <a:prstGeom prst="rect">
            <a:avLst/>
          </a:prstGeom>
          <a:noFill/>
          <a:ln/>
        </p:spPr>
        <p:txBody>
          <a:bodyPr wrap="square" lIns="0" tIns="0" rIns="0" bIns="0" rtlCol="0" anchor="ctr"/>
          <a:lstStyle/>
          <a:p>
            <a:pPr indent="0" marL="0">
              <a:buNone/>
            </a:pPr>
            <a:r>
              <a:rPr lang="en-US" sz="950" dirty="0">
                <a:solidFill>
                  <a:schemeClr val="bg1"/>
                </a:solidFill>
                <a:latin typeface="Courier New" pitchFamily="34" charset="0"/>
                <a:ea typeface="Courier New" pitchFamily="34" charset="-122"/>
                <a:cs typeface="Courier New" pitchFamily="34" charset="-120"/>
              </a:rPr>
              <a:t>R = (ACr/DCr) ÷ (ACir/DCir);  SpO₂ ≈ 110 − 25R</a:t>
            </a:r>
            <a:endParaRPr lang="en-US" sz="950" dirty="0"/>
          </a:p>
        </p:txBody>
      </p:sp>
      <p:sp>
        <p:nvSpPr>
          <p:cNvPr id="8" name="Text 5"/>
          <p:cNvSpPr txBox="1"/>
          <p:nvPr/>
        </p:nvSpPr>
        <p:spPr>
          <a:xfrm>
            <a:off x="548640" y="3794760"/>
            <a:ext cx="1188720" cy="310896"/>
          </a:xfrm>
          <a:prstGeom prst="rect">
            <a:avLst/>
          </a:prstGeom>
          <a:noFill/>
          <a:ln/>
        </p:spPr>
        <p:txBody>
          <a:bodyPr wrap="square" lIns="0" tIns="0" rIns="0" bIns="0" rtlCol="0" anchor="ctr"/>
          <a:lstStyle/>
          <a:p>
            <a:pPr indent="0" marL="0">
              <a:buNone/>
            </a:pPr>
            <a:r>
              <a:rPr lang="en-US" sz="1150" b="1" dirty="0">
                <a:solidFill>
                  <a:schemeClr val="accent2"/>
                </a:solidFill>
              </a:rPr>
              <a:t>Temperature</a:t>
            </a:r>
            <a:endParaRPr lang="en-US" sz="1150" dirty="0"/>
          </a:p>
        </p:txBody>
      </p:sp>
      <p:sp>
        <p:nvSpPr>
          <p:cNvPr id="9" name="Text 6"/>
          <p:cNvSpPr txBox="1"/>
          <p:nvPr/>
        </p:nvSpPr>
        <p:spPr>
          <a:xfrm>
            <a:off x="1737360" y="3794760"/>
            <a:ext cx="3429000" cy="310896"/>
          </a:xfrm>
          <a:prstGeom prst="rect">
            <a:avLst/>
          </a:prstGeom>
          <a:noFill/>
          <a:ln/>
        </p:spPr>
        <p:txBody>
          <a:bodyPr wrap="square" lIns="0" tIns="0" rIns="0" bIns="0" rtlCol="0" anchor="ctr"/>
          <a:lstStyle/>
          <a:p>
            <a:pPr indent="0" marL="0">
              <a:buNone/>
            </a:pPr>
            <a:r>
              <a:rPr lang="en-US" sz="950" dirty="0">
                <a:solidFill>
                  <a:schemeClr val="bg1"/>
                </a:solidFill>
                <a:latin typeface="Courier New" pitchFamily="34" charset="0"/>
                <a:ea typeface="Courier New" pitchFamily="34" charset="-122"/>
                <a:cs typeface="Courier New" pitchFamily="34" charset="-120"/>
              </a:rPr>
              <a:t>T_body ≈ T_skin + calibrated offset</a:t>
            </a:r>
            <a:endParaRPr lang="en-US" sz="950" dirty="0"/>
          </a:p>
        </p:txBody>
      </p:sp>
      <p:sp>
        <p:nvSpPr>
          <p:cNvPr id="10" name="Text 7"/>
          <p:cNvSpPr txBox="1"/>
          <p:nvPr/>
        </p:nvSpPr>
        <p:spPr>
          <a:xfrm>
            <a:off x="548640" y="4160520"/>
            <a:ext cx="1188720" cy="310896"/>
          </a:xfrm>
          <a:prstGeom prst="rect">
            <a:avLst/>
          </a:prstGeom>
          <a:noFill/>
          <a:ln/>
        </p:spPr>
        <p:txBody>
          <a:bodyPr wrap="square" lIns="0" tIns="0" rIns="0" bIns="0" rtlCol="0" anchor="ctr"/>
          <a:lstStyle/>
          <a:p>
            <a:pPr indent="0" marL="0">
              <a:buNone/>
            </a:pPr>
            <a:r>
              <a:rPr lang="en-US" sz="1150" b="1" dirty="0">
                <a:solidFill>
                  <a:schemeClr val="accent3"/>
                </a:solidFill>
              </a:rPr>
              <a:t>Finger check</a:t>
            </a:r>
            <a:endParaRPr lang="en-US" sz="1150" dirty="0"/>
          </a:p>
        </p:txBody>
      </p:sp>
      <p:sp>
        <p:nvSpPr>
          <p:cNvPr id="11" name="Text 8"/>
          <p:cNvSpPr txBox="1"/>
          <p:nvPr/>
        </p:nvSpPr>
        <p:spPr>
          <a:xfrm>
            <a:off x="1737360" y="4160520"/>
            <a:ext cx="3429000" cy="310896"/>
          </a:xfrm>
          <a:prstGeom prst="rect">
            <a:avLst/>
          </a:prstGeom>
          <a:noFill/>
          <a:ln/>
        </p:spPr>
        <p:txBody>
          <a:bodyPr wrap="square" lIns="0" tIns="0" rIns="0" bIns="0" rtlCol="0" anchor="ctr"/>
          <a:lstStyle/>
          <a:p>
            <a:pPr indent="0" marL="0">
              <a:buNone/>
            </a:pPr>
            <a:r>
              <a:rPr lang="en-US" sz="950" dirty="0">
                <a:solidFill>
                  <a:schemeClr val="bg1"/>
                </a:solidFill>
                <a:latin typeface="Courier New" pitchFamily="34" charset="0"/>
                <a:ea typeface="Courier New" pitchFamily="34" charset="-122"/>
                <a:cs typeface="Courier New" pitchFamily="34" charset="-120"/>
              </a:rPr>
              <a:t>IR &lt; ~50,000 → no finger, nothing sent</a:t>
            </a:r>
            <a:endParaRPr lang="en-US" sz="950" dirty="0"/>
          </a:p>
        </p:txBody>
      </p:sp>
      <p:sp>
        <p:nvSpPr>
          <p:cNvPr id="12" name="Shape 9"/>
          <p:cNvSpPr/>
          <p:nvPr/>
        </p:nvSpPr>
        <p:spPr>
          <a:xfrm>
            <a:off x="5349240" y="1188720"/>
            <a:ext cx="3246120" cy="3429000"/>
          </a:xfrm>
          <a:prstGeom prst="roundRect">
            <a:avLst>
              <a:gd name="adj" fmla="val 2817"/>
            </a:avLst>
          </a:prstGeom>
          <a:solidFill>
            <a:srgbClr val="12365A"/>
          </a:solidFill>
          <a:ln w="15875">
            <a:solidFill>
              <a:srgbClr val="FFFFFF"/>
            </a:solidFill>
            <a:prstDash val="solid"/>
          </a:ln>
        </p:spPr>
      </p:sp>
      <p:sp>
        <p:nvSpPr>
          <p:cNvPr id="13" name="Text 10"/>
          <p:cNvSpPr txBox="1"/>
          <p:nvPr/>
        </p:nvSpPr>
        <p:spPr>
          <a:xfrm>
            <a:off x="5513832" y="1298448"/>
            <a:ext cx="2916936" cy="228600"/>
          </a:xfrm>
          <a:prstGeom prst="rect">
            <a:avLst/>
          </a:prstGeom>
          <a:noFill/>
          <a:ln/>
        </p:spPr>
        <p:txBody>
          <a:bodyPr wrap="square" lIns="0" tIns="0" rIns="0" bIns="0" rtlCol="0" anchor="t"/>
          <a:lstStyle/>
          <a:p>
            <a:pPr indent="0" marL="0">
              <a:buNone/>
            </a:pPr>
            <a:r>
              <a:rPr lang="en-US" sz="950" b="1" dirty="0">
                <a:solidFill>
                  <a:srgbClr val="FFD166"/>
                </a:solidFill>
                <a:latin typeface="Courier New" pitchFamily="34" charset="0"/>
                <a:ea typeface="Courier New" pitchFamily="34" charset="-122"/>
                <a:cs typeface="Courier New" pitchFamily="34" charset="-120"/>
              </a:rPr>
              <a:t>loop() · beat detection</a:t>
            </a:r>
            <a:endParaRPr lang="en-US" sz="950" dirty="0"/>
          </a:p>
        </p:txBody>
      </p:sp>
      <p:sp>
        <p:nvSpPr>
          <p:cNvPr id="14" name="Text 11"/>
          <p:cNvSpPr txBox="1"/>
          <p:nvPr/>
        </p:nvSpPr>
        <p:spPr>
          <a:xfrm>
            <a:off x="5513832" y="1600200"/>
            <a:ext cx="2916936" cy="2926080"/>
          </a:xfrm>
          <a:prstGeom prst="rect">
            <a:avLst/>
          </a:prstGeom>
          <a:noFill/>
          <a:ln/>
        </p:spPr>
        <p:txBody>
          <a:bodyPr wrap="square" lIns="0" tIns="0" rIns="0" bIns="0" rtlCol="0" anchor="t"/>
          <a:lstStyle/>
          <a:p>
            <a:pPr indent="0" marL="0">
              <a:buNone/>
            </a:pPr>
            <a:r>
              <a:rPr lang="en-US" sz="900" dirty="0">
                <a:solidFill>
                  <a:srgbClr val="FFD166"/>
                </a:solidFill>
                <a:latin typeface="Courier New" pitchFamily="34" charset="0"/>
                <a:ea typeface="Courier New" pitchFamily="34" charset="-122"/>
                <a:cs typeface="Courier New" pitchFamily="34" charset="-120"/>
              </a:rPr>
              <a:t>long</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ir</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pox</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getIR</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D166"/>
                </a:solidFill>
                <a:latin typeface="Courier New" pitchFamily="34" charset="0"/>
                <a:ea typeface="Courier New" pitchFamily="34" charset="-122"/>
                <a:cs typeface="Courier New" pitchFamily="34" charset="-120"/>
              </a:rPr>
              <a:t>if</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ir</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&lt;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50000</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8FA9CC"/>
                </a:solidFill>
                <a:latin typeface="Courier New" pitchFamily="34" charset="0"/>
                <a:ea typeface="Courier New" pitchFamily="34" charset="-122"/>
                <a:cs typeface="Courier New" pitchFamily="34" charset="-120"/>
              </a:rPr>
              <a:t>// no finger</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showMsg</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B4A8"/>
                </a:solidFill>
                <a:latin typeface="Courier New" pitchFamily="34" charset="0"/>
                <a:ea typeface="Courier New" pitchFamily="34" charset="-122"/>
                <a:cs typeface="Courier New" pitchFamily="34" charset="-120"/>
              </a:rPr>
              <a:t>"Place finger"</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D166"/>
                </a:solidFill>
                <a:latin typeface="Courier New" pitchFamily="34" charset="0"/>
                <a:ea typeface="Courier New" pitchFamily="34" charset="-122"/>
                <a:cs typeface="Courier New" pitchFamily="34" charset="-120"/>
              </a:rPr>
              <a:t>return</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D166"/>
                </a:solidFill>
                <a:latin typeface="Courier New" pitchFamily="34" charset="0"/>
                <a:ea typeface="Courier New" pitchFamily="34" charset="-122"/>
                <a:cs typeface="Courier New" pitchFamily="34" charset="-120"/>
              </a:rPr>
              <a:t>if</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checkForBeat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ir</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8FA9CC"/>
                </a:solidFill>
                <a:latin typeface="Courier New" pitchFamily="34" charset="0"/>
                <a:ea typeface="Courier New" pitchFamily="34" charset="-122"/>
                <a:cs typeface="Courier New" pitchFamily="34" charset="-120"/>
              </a:rPr>
              <a:t>// peak found</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D166"/>
                </a:solidFill>
                <a:latin typeface="Courier New" pitchFamily="34" charset="0"/>
                <a:ea typeface="Courier New" pitchFamily="34" charset="-122"/>
                <a:cs typeface="Courier New" pitchFamily="34" charset="-120"/>
              </a:rPr>
              <a:t>long</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dt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millis</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lastBeat</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lastBeat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millis</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D166"/>
                </a:solidFill>
                <a:latin typeface="Courier New" pitchFamily="34" charset="0"/>
                <a:ea typeface="Courier New" pitchFamily="34" charset="-122"/>
                <a:cs typeface="Courier New" pitchFamily="34" charset="-120"/>
              </a:rPr>
              <a:t>float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bpm</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60.0</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dt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1000.0</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D166"/>
                </a:solidFill>
                <a:latin typeface="Courier New" pitchFamily="34" charset="0"/>
                <a:ea typeface="Courier New" pitchFamily="34" charset="-122"/>
                <a:cs typeface="Courier New" pitchFamily="34" charset="-120"/>
              </a:rPr>
              <a:t>if</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bpm</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&gt;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30</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&amp;</a:t>
            </a:r>
            <a:pPr indent="0" marL="0">
              <a:buNone/>
            </a:pPr>
            <a:r>
              <a:rPr lang="en-US" sz="900" dirty="0">
                <a:solidFill>
                  <a:srgbClr val="FFFFFF"/>
                </a:solidFill>
                <a:latin typeface="Courier New" pitchFamily="34" charset="0"/>
                <a:ea typeface="Courier New" pitchFamily="34" charset="-122"/>
                <a:cs typeface="Courier New" pitchFamily="34" charset="-120"/>
              </a:rPr>
              <a:t>&amp;</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bpm</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&lt;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220</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8FA9CC"/>
                </a:solidFill>
                <a:latin typeface="Courier New" pitchFamily="34" charset="0"/>
                <a:ea typeface="Courier New" pitchFamily="34" charset="-122"/>
                <a:cs typeface="Courier New" pitchFamily="34" charset="-120"/>
              </a:rPr>
              <a:t>// sanity</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rates</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n</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EC1EA"/>
                </a:solidFill>
                <a:latin typeface="Courier New" pitchFamily="34" charset="0"/>
                <a:ea typeface="Courier New" pitchFamily="34" charset="-122"/>
                <a:cs typeface="Courier New" pitchFamily="34" charset="-120"/>
              </a:rPr>
              <a:t>4</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bpm</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8FA9CC"/>
                </a:solidFill>
                <a:latin typeface="Courier New" pitchFamily="34" charset="0"/>
                <a:ea typeface="Courier New" pitchFamily="34" charset="-122"/>
                <a:cs typeface="Courier New" pitchFamily="34" charset="-120"/>
              </a:rPr>
              <a:t>// avg</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D166"/>
                </a:solidFill>
                <a:latin typeface="Courier New" pitchFamily="34" charset="0"/>
                <a:ea typeface="Courier New" pitchFamily="34" charset="-122"/>
                <a:cs typeface="Courier New" pitchFamily="34" charset="-120"/>
              </a:rPr>
              <a:t>float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tempC</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mlx</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readObjectTempC</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TEMP_OFFSET</a:t>
            </a:r>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SYSTEM ARCHITECTURE</a:t>
            </a:r>
            <a:endParaRPr lang="en-US" sz="3000" dirty="0"/>
          </a:p>
        </p:txBody>
      </p:sp>
      <p:sp>
        <p:nvSpPr>
          <p:cNvPr id="3" name="Shape 1"/>
          <p:cNvSpPr/>
          <p:nvPr/>
        </p:nvSpPr>
        <p:spPr>
          <a:xfrm>
            <a:off x="548640" y="1115568"/>
            <a:ext cx="1554480" cy="329184"/>
          </a:xfrm>
          <a:prstGeom prst="roundRect">
            <a:avLst>
              <a:gd name="adj" fmla="val 50000"/>
            </a:avLst>
          </a:prstGeom>
          <a:solidFill>
            <a:srgbClr val="214F7B"/>
          </a:solidFill>
          <a:ln w="15875">
            <a:solidFill>
              <a:srgbClr val="FFFFFF"/>
            </a:solidFill>
            <a:prstDash val="solid"/>
          </a:ln>
        </p:spPr>
      </p:sp>
      <p:sp>
        <p:nvSpPr>
          <p:cNvPr id="4" name="Text 2"/>
          <p:cNvSpPr txBox="1"/>
          <p:nvPr/>
        </p:nvSpPr>
        <p:spPr>
          <a:xfrm>
            <a:off x="548640" y="1115568"/>
            <a:ext cx="1554480" cy="329184"/>
          </a:xfrm>
          <a:prstGeom prst="rect">
            <a:avLst/>
          </a:prstGeom>
          <a:noFill/>
          <a:ln/>
        </p:spPr>
        <p:txBody>
          <a:bodyPr wrap="square" lIns="0" tIns="0" rIns="0" bIns="0" rtlCol="0" anchor="ctr"/>
          <a:lstStyle/>
          <a:p>
            <a:pPr algn="ctr" indent="0" marL="0">
              <a:buNone/>
            </a:pPr>
            <a:r>
              <a:rPr lang="en-US" sz="1000" b="1" dirty="0">
                <a:solidFill>
                  <a:schemeClr val="bg1"/>
                </a:solidFill>
              </a:rPr>
              <a:t>DEVICE</a:t>
            </a:r>
            <a:endParaRPr lang="en-US" sz="1000" dirty="0"/>
          </a:p>
        </p:txBody>
      </p:sp>
      <p:sp>
        <p:nvSpPr>
          <p:cNvPr id="5" name="Shape 3"/>
          <p:cNvSpPr/>
          <p:nvPr/>
        </p:nvSpPr>
        <p:spPr>
          <a:xfrm>
            <a:off x="2743200" y="1115568"/>
            <a:ext cx="1737360" cy="329184"/>
          </a:xfrm>
          <a:prstGeom prst="roundRect">
            <a:avLst>
              <a:gd name="adj" fmla="val 50000"/>
            </a:avLst>
          </a:prstGeom>
          <a:solidFill>
            <a:srgbClr val="214F7B"/>
          </a:solidFill>
          <a:ln w="15875">
            <a:solidFill>
              <a:srgbClr val="FFFFFF"/>
            </a:solidFill>
            <a:prstDash val="solid"/>
          </a:ln>
        </p:spPr>
      </p:sp>
      <p:sp>
        <p:nvSpPr>
          <p:cNvPr id="6" name="Text 4"/>
          <p:cNvSpPr txBox="1"/>
          <p:nvPr/>
        </p:nvSpPr>
        <p:spPr>
          <a:xfrm>
            <a:off x="2743200" y="1115568"/>
            <a:ext cx="1737360" cy="329184"/>
          </a:xfrm>
          <a:prstGeom prst="rect">
            <a:avLst/>
          </a:prstGeom>
          <a:noFill/>
          <a:ln/>
        </p:spPr>
        <p:txBody>
          <a:bodyPr wrap="square" lIns="0" tIns="0" rIns="0" bIns="0" rtlCol="0" anchor="ctr"/>
          <a:lstStyle/>
          <a:p>
            <a:pPr algn="ctr" indent="0" marL="0">
              <a:buNone/>
            </a:pPr>
            <a:r>
              <a:rPr lang="en-US" sz="1000" b="1" dirty="0">
                <a:solidFill>
                  <a:schemeClr val="bg1"/>
                </a:solidFill>
              </a:rPr>
              <a:t>VITAL SERVER</a:t>
            </a:r>
            <a:endParaRPr lang="en-US" sz="1000" dirty="0"/>
          </a:p>
        </p:txBody>
      </p:sp>
      <p:sp>
        <p:nvSpPr>
          <p:cNvPr id="7" name="Shape 5"/>
          <p:cNvSpPr/>
          <p:nvPr/>
        </p:nvSpPr>
        <p:spPr>
          <a:xfrm>
            <a:off x="5074920" y="1115568"/>
            <a:ext cx="1508760" cy="329184"/>
          </a:xfrm>
          <a:prstGeom prst="roundRect">
            <a:avLst>
              <a:gd name="adj" fmla="val 50000"/>
            </a:avLst>
          </a:prstGeom>
          <a:solidFill>
            <a:srgbClr val="214F7B"/>
          </a:solidFill>
          <a:ln w="15875">
            <a:solidFill>
              <a:srgbClr val="FFFFFF"/>
            </a:solidFill>
            <a:prstDash val="solid"/>
          </a:ln>
        </p:spPr>
      </p:sp>
      <p:sp>
        <p:nvSpPr>
          <p:cNvPr id="8" name="Text 6"/>
          <p:cNvSpPr txBox="1"/>
          <p:nvPr/>
        </p:nvSpPr>
        <p:spPr>
          <a:xfrm>
            <a:off x="5074920" y="1115568"/>
            <a:ext cx="1508760" cy="329184"/>
          </a:xfrm>
          <a:prstGeom prst="rect">
            <a:avLst/>
          </a:prstGeom>
          <a:noFill/>
          <a:ln/>
        </p:spPr>
        <p:txBody>
          <a:bodyPr wrap="square" lIns="0" tIns="0" rIns="0" bIns="0" rtlCol="0" anchor="ctr"/>
          <a:lstStyle/>
          <a:p>
            <a:pPr algn="ctr" indent="0" marL="0">
              <a:buNone/>
            </a:pPr>
            <a:r>
              <a:rPr lang="en-US" sz="1000" b="1" dirty="0">
                <a:solidFill>
                  <a:schemeClr val="bg1"/>
                </a:solidFill>
              </a:rPr>
              <a:t>PEOPLE</a:t>
            </a:r>
            <a:endParaRPr lang="en-US" sz="1000" dirty="0"/>
          </a:p>
        </p:txBody>
      </p:sp>
      <p:sp>
        <p:nvSpPr>
          <p:cNvPr id="9" name="Shape 7"/>
          <p:cNvSpPr/>
          <p:nvPr/>
        </p:nvSpPr>
        <p:spPr>
          <a:xfrm>
            <a:off x="7132320" y="1115568"/>
            <a:ext cx="1463040" cy="329184"/>
          </a:xfrm>
          <a:prstGeom prst="roundRect">
            <a:avLst>
              <a:gd name="adj" fmla="val 50000"/>
            </a:avLst>
          </a:prstGeom>
          <a:solidFill>
            <a:srgbClr val="214F7B"/>
          </a:solidFill>
          <a:ln w="15875">
            <a:solidFill>
              <a:srgbClr val="FFFFFF"/>
            </a:solidFill>
            <a:prstDash val="solid"/>
          </a:ln>
        </p:spPr>
      </p:sp>
      <p:sp>
        <p:nvSpPr>
          <p:cNvPr id="10" name="Text 8"/>
          <p:cNvSpPr txBox="1"/>
          <p:nvPr/>
        </p:nvSpPr>
        <p:spPr>
          <a:xfrm>
            <a:off x="7132320" y="1115568"/>
            <a:ext cx="1463040" cy="329184"/>
          </a:xfrm>
          <a:prstGeom prst="rect">
            <a:avLst/>
          </a:prstGeom>
          <a:noFill/>
          <a:ln/>
        </p:spPr>
        <p:txBody>
          <a:bodyPr wrap="square" lIns="0" tIns="0" rIns="0" bIns="0" rtlCol="0" anchor="ctr"/>
          <a:lstStyle/>
          <a:p>
            <a:pPr algn="ctr" indent="0" marL="0">
              <a:buNone/>
            </a:pPr>
            <a:r>
              <a:rPr lang="en-US" sz="1000" b="1" dirty="0">
                <a:solidFill>
                  <a:schemeClr val="bg1"/>
                </a:solidFill>
              </a:rPr>
              <a:t>SMART CITY</a:t>
            </a:r>
            <a:endParaRPr lang="en-US" sz="1000" dirty="0"/>
          </a:p>
        </p:txBody>
      </p:sp>
      <p:sp>
        <p:nvSpPr>
          <p:cNvPr id="11" name="Shape 9"/>
          <p:cNvSpPr/>
          <p:nvPr/>
        </p:nvSpPr>
        <p:spPr>
          <a:xfrm>
            <a:off x="411480" y="1600200"/>
            <a:ext cx="1828800" cy="530352"/>
          </a:xfrm>
          <a:prstGeom prst="roundRect">
            <a:avLst>
              <a:gd name="adj" fmla="val 17241"/>
            </a:avLst>
          </a:prstGeom>
          <a:solidFill>
            <a:srgbClr val="1B4670">
              <a:alpha val="70000"/>
            </a:srgbClr>
          </a:solidFill>
          <a:ln w="15875">
            <a:solidFill>
              <a:srgbClr val="FFFFFF"/>
            </a:solidFill>
            <a:prstDash val="solid"/>
          </a:ln>
        </p:spPr>
      </p:sp>
      <p:sp>
        <p:nvSpPr>
          <p:cNvPr id="12" name="Text 10"/>
          <p:cNvSpPr txBox="1"/>
          <p:nvPr/>
        </p:nvSpPr>
        <p:spPr>
          <a:xfrm>
            <a:off x="502920" y="1655064"/>
            <a:ext cx="1645920" cy="237744"/>
          </a:xfrm>
          <a:prstGeom prst="rect">
            <a:avLst/>
          </a:prstGeom>
          <a:noFill/>
          <a:ln/>
        </p:spPr>
        <p:txBody>
          <a:bodyPr wrap="square" lIns="0" tIns="0" rIns="0" bIns="0" rtlCol="0" anchor="t"/>
          <a:lstStyle/>
          <a:p>
            <a:pPr indent="0" marL="0">
              <a:buNone/>
            </a:pPr>
            <a:r>
              <a:rPr lang="en-US" sz="1050" b="1" dirty="0">
                <a:solidFill>
                  <a:schemeClr val="bg1"/>
                </a:solidFill>
              </a:rPr>
              <a:t>MAX30102</a:t>
            </a:r>
            <a:endParaRPr lang="en-US" sz="1050" dirty="0"/>
          </a:p>
        </p:txBody>
      </p:sp>
      <p:sp>
        <p:nvSpPr>
          <p:cNvPr id="13" name="Text 11"/>
          <p:cNvSpPr txBox="1"/>
          <p:nvPr/>
        </p:nvSpPr>
        <p:spPr>
          <a:xfrm>
            <a:off x="502920" y="1874520"/>
            <a:ext cx="1645920" cy="228600"/>
          </a:xfrm>
          <a:prstGeom prst="rect">
            <a:avLst/>
          </a:prstGeom>
          <a:noFill/>
          <a:ln/>
        </p:spPr>
        <p:txBody>
          <a:bodyPr wrap="square" lIns="0" tIns="0" rIns="0" bIns="0" rtlCol="0" anchor="t"/>
          <a:lstStyle/>
          <a:p>
            <a:pPr indent="0" marL="0">
              <a:buNone/>
            </a:pPr>
            <a:r>
              <a:rPr lang="en-US" sz="850" dirty="0">
                <a:solidFill>
                  <a:schemeClr val="bg2"/>
                </a:solidFill>
              </a:rPr>
              <a:t>Heart rate + SpO₂</a:t>
            </a:r>
            <a:endParaRPr lang="en-US" sz="850" dirty="0"/>
          </a:p>
        </p:txBody>
      </p:sp>
      <p:sp>
        <p:nvSpPr>
          <p:cNvPr id="14" name="Shape 12"/>
          <p:cNvSpPr/>
          <p:nvPr/>
        </p:nvSpPr>
        <p:spPr>
          <a:xfrm>
            <a:off x="411480" y="2240280"/>
            <a:ext cx="1828800" cy="530352"/>
          </a:xfrm>
          <a:prstGeom prst="roundRect">
            <a:avLst>
              <a:gd name="adj" fmla="val 17241"/>
            </a:avLst>
          </a:prstGeom>
          <a:solidFill>
            <a:srgbClr val="1B4670">
              <a:alpha val="70000"/>
            </a:srgbClr>
          </a:solidFill>
          <a:ln w="15875">
            <a:solidFill>
              <a:srgbClr val="FFFFFF"/>
            </a:solidFill>
            <a:prstDash val="solid"/>
          </a:ln>
        </p:spPr>
      </p:sp>
      <p:sp>
        <p:nvSpPr>
          <p:cNvPr id="15" name="Text 13"/>
          <p:cNvSpPr txBox="1"/>
          <p:nvPr/>
        </p:nvSpPr>
        <p:spPr>
          <a:xfrm>
            <a:off x="502920" y="2295144"/>
            <a:ext cx="1645920" cy="237744"/>
          </a:xfrm>
          <a:prstGeom prst="rect">
            <a:avLst/>
          </a:prstGeom>
          <a:noFill/>
          <a:ln/>
        </p:spPr>
        <p:txBody>
          <a:bodyPr wrap="square" lIns="0" tIns="0" rIns="0" bIns="0" rtlCol="0" anchor="t"/>
          <a:lstStyle/>
          <a:p>
            <a:pPr indent="0" marL="0">
              <a:buNone/>
            </a:pPr>
            <a:r>
              <a:rPr lang="en-US" sz="1050" b="1" dirty="0">
                <a:solidFill>
                  <a:schemeClr val="bg1"/>
                </a:solidFill>
              </a:rPr>
              <a:t>MLX90614</a:t>
            </a:r>
            <a:endParaRPr lang="en-US" sz="1050" dirty="0"/>
          </a:p>
        </p:txBody>
      </p:sp>
      <p:sp>
        <p:nvSpPr>
          <p:cNvPr id="16" name="Text 14"/>
          <p:cNvSpPr txBox="1"/>
          <p:nvPr/>
        </p:nvSpPr>
        <p:spPr>
          <a:xfrm>
            <a:off x="502920" y="2514600"/>
            <a:ext cx="1645920" cy="228600"/>
          </a:xfrm>
          <a:prstGeom prst="rect">
            <a:avLst/>
          </a:prstGeom>
          <a:noFill/>
          <a:ln/>
        </p:spPr>
        <p:txBody>
          <a:bodyPr wrap="square" lIns="0" tIns="0" rIns="0" bIns="0" rtlCol="0" anchor="t"/>
          <a:lstStyle/>
          <a:p>
            <a:pPr indent="0" marL="0">
              <a:buNone/>
            </a:pPr>
            <a:r>
              <a:rPr lang="en-US" sz="850" dirty="0">
                <a:solidFill>
                  <a:schemeClr val="bg2"/>
                </a:solidFill>
              </a:rPr>
              <a:t>Skin temperature</a:t>
            </a:r>
            <a:endParaRPr lang="en-US" sz="850" dirty="0"/>
          </a:p>
        </p:txBody>
      </p:sp>
      <p:sp>
        <p:nvSpPr>
          <p:cNvPr id="17" name="Shape 15"/>
          <p:cNvSpPr/>
          <p:nvPr/>
        </p:nvSpPr>
        <p:spPr>
          <a:xfrm>
            <a:off x="411480" y="2926080"/>
            <a:ext cx="1828800" cy="548640"/>
          </a:xfrm>
          <a:prstGeom prst="roundRect">
            <a:avLst>
              <a:gd name="adj" fmla="val 16667"/>
            </a:avLst>
          </a:prstGeom>
          <a:solidFill>
            <a:srgbClr val="1B4670">
              <a:alpha val="70000"/>
            </a:srgbClr>
          </a:solidFill>
          <a:ln w="15875">
            <a:solidFill>
              <a:srgbClr val="FFFFFF"/>
            </a:solidFill>
            <a:prstDash val="solid"/>
          </a:ln>
        </p:spPr>
      </p:sp>
      <p:sp>
        <p:nvSpPr>
          <p:cNvPr id="18" name="Text 16"/>
          <p:cNvSpPr txBox="1"/>
          <p:nvPr/>
        </p:nvSpPr>
        <p:spPr>
          <a:xfrm>
            <a:off x="502920" y="2980944"/>
            <a:ext cx="1645920" cy="237744"/>
          </a:xfrm>
          <a:prstGeom prst="rect">
            <a:avLst/>
          </a:prstGeom>
          <a:noFill/>
          <a:ln/>
        </p:spPr>
        <p:txBody>
          <a:bodyPr wrap="square" lIns="0" tIns="0" rIns="0" bIns="0" rtlCol="0" anchor="t"/>
          <a:lstStyle/>
          <a:p>
            <a:pPr indent="0" marL="0">
              <a:buNone/>
            </a:pPr>
            <a:r>
              <a:rPr lang="en-US" sz="1050" b="1" dirty="0">
                <a:solidFill>
                  <a:schemeClr val="bg1"/>
                </a:solidFill>
              </a:rPr>
              <a:t>ESP32</a:t>
            </a:r>
            <a:endParaRPr lang="en-US" sz="1050" dirty="0"/>
          </a:p>
        </p:txBody>
      </p:sp>
      <p:sp>
        <p:nvSpPr>
          <p:cNvPr id="19" name="Text 17"/>
          <p:cNvSpPr txBox="1"/>
          <p:nvPr/>
        </p:nvSpPr>
        <p:spPr>
          <a:xfrm>
            <a:off x="502920" y="3200400"/>
            <a:ext cx="1645920" cy="246888"/>
          </a:xfrm>
          <a:prstGeom prst="rect">
            <a:avLst/>
          </a:prstGeom>
          <a:noFill/>
          <a:ln/>
        </p:spPr>
        <p:txBody>
          <a:bodyPr wrap="square" lIns="0" tIns="0" rIns="0" bIns="0" rtlCol="0" anchor="t"/>
          <a:lstStyle/>
          <a:p>
            <a:pPr indent="0" marL="0">
              <a:buNone/>
            </a:pPr>
            <a:r>
              <a:rPr lang="en-US" sz="850" dirty="0">
                <a:solidFill>
                  <a:schemeClr val="bg2"/>
                </a:solidFill>
              </a:rPr>
              <a:t>Sends JSON over Wi-Fi, 1 s</a:t>
            </a:r>
            <a:endParaRPr lang="en-US" sz="850" dirty="0"/>
          </a:p>
        </p:txBody>
      </p:sp>
      <p:sp>
        <p:nvSpPr>
          <p:cNvPr id="20" name="Shape 18"/>
          <p:cNvSpPr/>
          <p:nvPr/>
        </p:nvSpPr>
        <p:spPr>
          <a:xfrm>
            <a:off x="411480" y="3630168"/>
            <a:ext cx="1828800" cy="530352"/>
          </a:xfrm>
          <a:prstGeom prst="roundRect">
            <a:avLst>
              <a:gd name="adj" fmla="val 17241"/>
            </a:avLst>
          </a:prstGeom>
          <a:solidFill>
            <a:srgbClr val="1B4670">
              <a:alpha val="70000"/>
            </a:srgbClr>
          </a:solidFill>
          <a:ln w="15875">
            <a:solidFill>
              <a:srgbClr val="FFFFFF"/>
            </a:solidFill>
            <a:prstDash val="solid"/>
          </a:ln>
        </p:spPr>
      </p:sp>
      <p:sp>
        <p:nvSpPr>
          <p:cNvPr id="21" name="Text 19"/>
          <p:cNvSpPr txBox="1"/>
          <p:nvPr/>
        </p:nvSpPr>
        <p:spPr>
          <a:xfrm>
            <a:off x="502920" y="3685032"/>
            <a:ext cx="1645920" cy="237744"/>
          </a:xfrm>
          <a:prstGeom prst="rect">
            <a:avLst/>
          </a:prstGeom>
          <a:noFill/>
          <a:ln/>
        </p:spPr>
        <p:txBody>
          <a:bodyPr wrap="square" lIns="0" tIns="0" rIns="0" bIns="0" rtlCol="0" anchor="t"/>
          <a:lstStyle/>
          <a:p>
            <a:pPr indent="0" marL="0">
              <a:buNone/>
            </a:pPr>
            <a:r>
              <a:rPr lang="en-US" sz="1050" b="1" dirty="0">
                <a:solidFill>
                  <a:schemeClr val="bg1"/>
                </a:solidFill>
              </a:rPr>
              <a:t>OLED display</a:t>
            </a:r>
            <a:endParaRPr lang="en-US" sz="1050" dirty="0"/>
          </a:p>
        </p:txBody>
      </p:sp>
      <p:sp>
        <p:nvSpPr>
          <p:cNvPr id="22" name="Text 20"/>
          <p:cNvSpPr txBox="1"/>
          <p:nvPr/>
        </p:nvSpPr>
        <p:spPr>
          <a:xfrm>
            <a:off x="502920" y="3904488"/>
            <a:ext cx="1645920" cy="228600"/>
          </a:xfrm>
          <a:prstGeom prst="rect">
            <a:avLst/>
          </a:prstGeom>
          <a:noFill/>
          <a:ln/>
        </p:spPr>
        <p:txBody>
          <a:bodyPr wrap="square" lIns="0" tIns="0" rIns="0" bIns="0" rtlCol="0" anchor="t"/>
          <a:lstStyle/>
          <a:p>
            <a:pPr indent="0" marL="0">
              <a:buNone/>
            </a:pPr>
            <a:r>
              <a:rPr lang="en-US" sz="850" dirty="0">
                <a:solidFill>
                  <a:schemeClr val="bg2"/>
                </a:solidFill>
              </a:rPr>
              <a:t>Readings + ALERT</a:t>
            </a:r>
            <a:endParaRPr lang="en-US" sz="850" dirty="0"/>
          </a:p>
        </p:txBody>
      </p:sp>
      <p:sp>
        <p:nvSpPr>
          <p:cNvPr id="23" name="Shape 21"/>
          <p:cNvSpPr/>
          <p:nvPr/>
        </p:nvSpPr>
        <p:spPr>
          <a:xfrm>
            <a:off x="1325880" y="2770632"/>
            <a:ext cx="0" cy="155448"/>
          </a:xfrm>
          <a:prstGeom prst="line">
            <a:avLst/>
          </a:prstGeom>
          <a:noFill/>
          <a:ln w="19050">
            <a:solidFill>
              <a:srgbClr val="FFFFFF"/>
            </a:solidFill>
            <a:prstDash val="solid"/>
            <a:tailEnd type="triangle"/>
          </a:ln>
        </p:spPr>
      </p:sp>
      <p:sp>
        <p:nvSpPr>
          <p:cNvPr id="24" name="Shape 22"/>
          <p:cNvSpPr/>
          <p:nvPr/>
        </p:nvSpPr>
        <p:spPr>
          <a:xfrm>
            <a:off x="1325880" y="3474720"/>
            <a:ext cx="0" cy="155448"/>
          </a:xfrm>
          <a:prstGeom prst="line">
            <a:avLst/>
          </a:prstGeom>
          <a:noFill/>
          <a:ln w="19050">
            <a:solidFill>
              <a:srgbClr val="FFFFFF"/>
            </a:solidFill>
            <a:prstDash val="solid"/>
            <a:tailEnd type="triangle"/>
          </a:ln>
        </p:spPr>
      </p:sp>
      <p:sp>
        <p:nvSpPr>
          <p:cNvPr id="25" name="Shape 23"/>
          <p:cNvSpPr/>
          <p:nvPr/>
        </p:nvSpPr>
        <p:spPr>
          <a:xfrm>
            <a:off x="2606040" y="1600200"/>
            <a:ext cx="2011680" cy="530352"/>
          </a:xfrm>
          <a:prstGeom prst="roundRect">
            <a:avLst>
              <a:gd name="adj" fmla="val 17241"/>
            </a:avLst>
          </a:prstGeom>
          <a:solidFill>
            <a:srgbClr val="1B4670">
              <a:alpha val="70000"/>
            </a:srgbClr>
          </a:solidFill>
          <a:ln w="15875">
            <a:solidFill>
              <a:srgbClr val="FFFFFF"/>
            </a:solidFill>
            <a:prstDash val="solid"/>
          </a:ln>
        </p:spPr>
      </p:sp>
      <p:sp>
        <p:nvSpPr>
          <p:cNvPr id="26" name="Text 24"/>
          <p:cNvSpPr txBox="1"/>
          <p:nvPr/>
        </p:nvSpPr>
        <p:spPr>
          <a:xfrm>
            <a:off x="2697480" y="1655064"/>
            <a:ext cx="1828800" cy="237744"/>
          </a:xfrm>
          <a:prstGeom prst="rect">
            <a:avLst/>
          </a:prstGeom>
          <a:noFill/>
          <a:ln/>
        </p:spPr>
        <p:txBody>
          <a:bodyPr wrap="square" lIns="0" tIns="0" rIns="0" bIns="0" rtlCol="0" anchor="t"/>
          <a:lstStyle/>
          <a:p>
            <a:pPr indent="0" marL="0">
              <a:buNone/>
            </a:pPr>
            <a:r>
              <a:rPr lang="en-US" sz="1050" b="1" dirty="0">
                <a:solidFill>
                  <a:schemeClr val="bg1"/>
                </a:solidFill>
              </a:rPr>
              <a:t>Flask API</a:t>
            </a:r>
            <a:endParaRPr lang="en-US" sz="1050" dirty="0"/>
          </a:p>
        </p:txBody>
      </p:sp>
      <p:sp>
        <p:nvSpPr>
          <p:cNvPr id="27" name="Text 25"/>
          <p:cNvSpPr txBox="1"/>
          <p:nvPr/>
        </p:nvSpPr>
        <p:spPr>
          <a:xfrm>
            <a:off x="2697480" y="1874520"/>
            <a:ext cx="1828800" cy="228600"/>
          </a:xfrm>
          <a:prstGeom prst="rect">
            <a:avLst/>
          </a:prstGeom>
          <a:noFill/>
          <a:ln/>
        </p:spPr>
        <p:txBody>
          <a:bodyPr wrap="square" lIns="0" tIns="0" rIns="0" bIns="0" rtlCol="0" anchor="t"/>
          <a:lstStyle/>
          <a:p>
            <a:pPr indent="0" marL="0">
              <a:buNone/>
            </a:pPr>
            <a:r>
              <a:rPr lang="en-US" sz="850" dirty="0">
                <a:solidFill>
                  <a:schemeClr val="bg2"/>
                </a:solidFill>
              </a:rPr>
              <a:t>Receives readings</a:t>
            </a:r>
            <a:endParaRPr lang="en-US" sz="850" dirty="0"/>
          </a:p>
        </p:txBody>
      </p:sp>
      <p:sp>
        <p:nvSpPr>
          <p:cNvPr id="28" name="Shape 26"/>
          <p:cNvSpPr/>
          <p:nvPr/>
        </p:nvSpPr>
        <p:spPr>
          <a:xfrm>
            <a:off x="2606040" y="2240280"/>
            <a:ext cx="2011680" cy="530352"/>
          </a:xfrm>
          <a:prstGeom prst="roundRect">
            <a:avLst>
              <a:gd name="adj" fmla="val 17241"/>
            </a:avLst>
          </a:prstGeom>
          <a:solidFill>
            <a:srgbClr val="1B4670">
              <a:alpha val="70000"/>
            </a:srgbClr>
          </a:solidFill>
          <a:ln w="15875">
            <a:solidFill>
              <a:srgbClr val="FFFFFF"/>
            </a:solidFill>
            <a:prstDash val="solid"/>
          </a:ln>
        </p:spPr>
      </p:sp>
      <p:sp>
        <p:nvSpPr>
          <p:cNvPr id="29" name="Text 27"/>
          <p:cNvSpPr txBox="1"/>
          <p:nvPr/>
        </p:nvSpPr>
        <p:spPr>
          <a:xfrm>
            <a:off x="2697480" y="2295144"/>
            <a:ext cx="1828800" cy="237744"/>
          </a:xfrm>
          <a:prstGeom prst="rect">
            <a:avLst/>
          </a:prstGeom>
          <a:noFill/>
          <a:ln/>
        </p:spPr>
        <p:txBody>
          <a:bodyPr wrap="square" lIns="0" tIns="0" rIns="0" bIns="0" rtlCol="0" anchor="t"/>
          <a:lstStyle/>
          <a:p>
            <a:pPr indent="0" marL="0">
              <a:buNone/>
            </a:pPr>
            <a:r>
              <a:rPr lang="en-US" sz="1050" b="1" dirty="0">
                <a:solidFill>
                  <a:schemeClr val="bg1"/>
                </a:solidFill>
              </a:rPr>
              <a:t>Database (SQLite)</a:t>
            </a:r>
            <a:endParaRPr lang="en-US" sz="1050" dirty="0"/>
          </a:p>
        </p:txBody>
      </p:sp>
      <p:sp>
        <p:nvSpPr>
          <p:cNvPr id="30" name="Text 28"/>
          <p:cNvSpPr txBox="1"/>
          <p:nvPr/>
        </p:nvSpPr>
        <p:spPr>
          <a:xfrm>
            <a:off x="2697480" y="2514600"/>
            <a:ext cx="1828800" cy="228600"/>
          </a:xfrm>
          <a:prstGeom prst="rect">
            <a:avLst/>
          </a:prstGeom>
          <a:noFill/>
          <a:ln/>
        </p:spPr>
        <p:txBody>
          <a:bodyPr wrap="square" lIns="0" tIns="0" rIns="0" bIns="0" rtlCol="0" anchor="t"/>
          <a:lstStyle/>
          <a:p>
            <a:pPr indent="0" marL="0">
              <a:buNone/>
            </a:pPr>
            <a:r>
              <a:rPr lang="en-US" sz="850" dirty="0">
                <a:solidFill>
                  <a:schemeClr val="bg2"/>
                </a:solidFill>
              </a:rPr>
              <a:t>Users, sessions, readings</a:t>
            </a:r>
            <a:endParaRPr lang="en-US" sz="850" dirty="0"/>
          </a:p>
        </p:txBody>
      </p:sp>
      <p:sp>
        <p:nvSpPr>
          <p:cNvPr id="31" name="Shape 29"/>
          <p:cNvSpPr/>
          <p:nvPr/>
        </p:nvSpPr>
        <p:spPr>
          <a:xfrm>
            <a:off x="2606040" y="2926080"/>
            <a:ext cx="2011680" cy="548640"/>
          </a:xfrm>
          <a:prstGeom prst="roundRect">
            <a:avLst>
              <a:gd name="adj" fmla="val 16667"/>
            </a:avLst>
          </a:prstGeom>
          <a:solidFill>
            <a:srgbClr val="1B4670">
              <a:alpha val="70000"/>
            </a:srgbClr>
          </a:solidFill>
          <a:ln w="15875">
            <a:solidFill>
              <a:srgbClr val="FFFFFF"/>
            </a:solidFill>
            <a:prstDash val="solid"/>
          </a:ln>
        </p:spPr>
      </p:sp>
      <p:sp>
        <p:nvSpPr>
          <p:cNvPr id="32" name="Text 30"/>
          <p:cNvSpPr txBox="1"/>
          <p:nvPr/>
        </p:nvSpPr>
        <p:spPr>
          <a:xfrm>
            <a:off x="2697480" y="2980944"/>
            <a:ext cx="1828800" cy="237744"/>
          </a:xfrm>
          <a:prstGeom prst="rect">
            <a:avLst/>
          </a:prstGeom>
          <a:noFill/>
          <a:ln/>
        </p:spPr>
        <p:txBody>
          <a:bodyPr wrap="square" lIns="0" tIns="0" rIns="0" bIns="0" rtlCol="0" anchor="t"/>
          <a:lstStyle/>
          <a:p>
            <a:pPr indent="0" marL="0">
              <a:buNone/>
            </a:pPr>
            <a:r>
              <a:rPr lang="en-US" sz="1050" b="1" dirty="0">
                <a:solidFill>
                  <a:schemeClr val="bg1"/>
                </a:solidFill>
              </a:rPr>
              <a:t>ML engine</a:t>
            </a:r>
            <a:endParaRPr lang="en-US" sz="1050" dirty="0"/>
          </a:p>
        </p:txBody>
      </p:sp>
      <p:sp>
        <p:nvSpPr>
          <p:cNvPr id="33" name="Text 31"/>
          <p:cNvSpPr txBox="1"/>
          <p:nvPr/>
        </p:nvSpPr>
        <p:spPr>
          <a:xfrm>
            <a:off x="2697480" y="3200400"/>
            <a:ext cx="1828800" cy="246888"/>
          </a:xfrm>
          <a:prstGeom prst="rect">
            <a:avLst/>
          </a:prstGeom>
          <a:noFill/>
          <a:ln/>
        </p:spPr>
        <p:txBody>
          <a:bodyPr wrap="square" lIns="0" tIns="0" rIns="0" bIns="0" rtlCol="0" anchor="t"/>
          <a:lstStyle/>
          <a:p>
            <a:pPr indent="0" marL="0">
              <a:buNone/>
            </a:pPr>
            <a:r>
              <a:rPr lang="en-US" sz="850" dirty="0">
                <a:solidFill>
                  <a:schemeClr val="bg2"/>
                </a:solidFill>
              </a:rPr>
              <a:t>Anomaly + trend prediction</a:t>
            </a:r>
            <a:endParaRPr lang="en-US" sz="850" dirty="0"/>
          </a:p>
        </p:txBody>
      </p:sp>
      <p:sp>
        <p:nvSpPr>
          <p:cNvPr id="34" name="Shape 32"/>
          <p:cNvSpPr/>
          <p:nvPr/>
        </p:nvSpPr>
        <p:spPr>
          <a:xfrm>
            <a:off x="2606040" y="3630168"/>
            <a:ext cx="2011680" cy="530352"/>
          </a:xfrm>
          <a:prstGeom prst="roundRect">
            <a:avLst>
              <a:gd name="adj" fmla="val 17241"/>
            </a:avLst>
          </a:prstGeom>
          <a:solidFill>
            <a:srgbClr val="1B4670">
              <a:alpha val="70000"/>
            </a:srgbClr>
          </a:solidFill>
          <a:ln w="15875">
            <a:solidFill>
              <a:srgbClr val="FF7B7B"/>
            </a:solidFill>
            <a:prstDash val="solid"/>
          </a:ln>
        </p:spPr>
      </p:sp>
      <p:sp>
        <p:nvSpPr>
          <p:cNvPr id="35" name="Text 33"/>
          <p:cNvSpPr txBox="1"/>
          <p:nvPr/>
        </p:nvSpPr>
        <p:spPr>
          <a:xfrm>
            <a:off x="2697480" y="3685032"/>
            <a:ext cx="1828800" cy="237744"/>
          </a:xfrm>
          <a:prstGeom prst="rect">
            <a:avLst/>
          </a:prstGeom>
          <a:noFill/>
          <a:ln/>
        </p:spPr>
        <p:txBody>
          <a:bodyPr wrap="square" lIns="0" tIns="0" rIns="0" bIns="0" rtlCol="0" anchor="t"/>
          <a:lstStyle/>
          <a:p>
            <a:pPr indent="0" marL="0">
              <a:buNone/>
            </a:pPr>
            <a:r>
              <a:rPr lang="en-US" sz="1050" b="1" dirty="0">
                <a:solidFill>
                  <a:schemeClr val="bg1"/>
                </a:solidFill>
              </a:rPr>
              <a:t>Alert service</a:t>
            </a:r>
            <a:endParaRPr lang="en-US" sz="1050" dirty="0"/>
          </a:p>
        </p:txBody>
      </p:sp>
      <p:sp>
        <p:nvSpPr>
          <p:cNvPr id="36" name="Text 34"/>
          <p:cNvSpPr txBox="1"/>
          <p:nvPr/>
        </p:nvSpPr>
        <p:spPr>
          <a:xfrm>
            <a:off x="2697480" y="3904488"/>
            <a:ext cx="1828800" cy="228600"/>
          </a:xfrm>
          <a:prstGeom prst="rect">
            <a:avLst/>
          </a:prstGeom>
          <a:noFill/>
          <a:ln/>
        </p:spPr>
        <p:txBody>
          <a:bodyPr wrap="square" lIns="0" tIns="0" rIns="0" bIns="0" rtlCol="0" anchor="t"/>
          <a:lstStyle/>
          <a:p>
            <a:pPr indent="0" marL="0">
              <a:buNone/>
            </a:pPr>
            <a:r>
              <a:rPr lang="en-US" sz="850" dirty="0">
                <a:solidFill>
                  <a:schemeClr val="bg2"/>
                </a:solidFill>
              </a:rPr>
              <a:t>Rules + cooldown</a:t>
            </a:r>
            <a:endParaRPr lang="en-US" sz="850" dirty="0"/>
          </a:p>
        </p:txBody>
      </p:sp>
      <p:sp>
        <p:nvSpPr>
          <p:cNvPr id="37" name="Shape 35"/>
          <p:cNvSpPr/>
          <p:nvPr/>
        </p:nvSpPr>
        <p:spPr>
          <a:xfrm>
            <a:off x="3611880" y="2130552"/>
            <a:ext cx="0" cy="109728"/>
          </a:xfrm>
          <a:prstGeom prst="line">
            <a:avLst/>
          </a:prstGeom>
          <a:noFill/>
          <a:ln w="19050">
            <a:solidFill>
              <a:srgbClr val="FFFFFF"/>
            </a:solidFill>
            <a:prstDash val="solid"/>
            <a:tailEnd type="triangle"/>
          </a:ln>
        </p:spPr>
      </p:sp>
      <p:sp>
        <p:nvSpPr>
          <p:cNvPr id="38" name="Shape 36"/>
          <p:cNvSpPr/>
          <p:nvPr/>
        </p:nvSpPr>
        <p:spPr>
          <a:xfrm>
            <a:off x="3611880" y="2770632"/>
            <a:ext cx="0" cy="155448"/>
          </a:xfrm>
          <a:prstGeom prst="line">
            <a:avLst/>
          </a:prstGeom>
          <a:noFill/>
          <a:ln w="19050">
            <a:solidFill>
              <a:srgbClr val="FFFFFF"/>
            </a:solidFill>
            <a:prstDash val="solid"/>
            <a:tailEnd type="triangle"/>
          </a:ln>
        </p:spPr>
      </p:sp>
      <p:sp>
        <p:nvSpPr>
          <p:cNvPr id="39" name="Shape 37"/>
          <p:cNvSpPr/>
          <p:nvPr/>
        </p:nvSpPr>
        <p:spPr>
          <a:xfrm>
            <a:off x="3611880" y="3474720"/>
            <a:ext cx="0" cy="155448"/>
          </a:xfrm>
          <a:prstGeom prst="line">
            <a:avLst/>
          </a:prstGeom>
          <a:noFill/>
          <a:ln w="19050">
            <a:solidFill>
              <a:srgbClr val="FFFFFF"/>
            </a:solidFill>
            <a:prstDash val="solid"/>
            <a:tailEnd type="triangle"/>
          </a:ln>
        </p:spPr>
      </p:sp>
      <p:sp>
        <p:nvSpPr>
          <p:cNvPr id="40" name="Shape 38"/>
          <p:cNvSpPr/>
          <p:nvPr/>
        </p:nvSpPr>
        <p:spPr>
          <a:xfrm>
            <a:off x="4937760" y="1600200"/>
            <a:ext cx="1783080" cy="530352"/>
          </a:xfrm>
          <a:prstGeom prst="roundRect">
            <a:avLst>
              <a:gd name="adj" fmla="val 17241"/>
            </a:avLst>
          </a:prstGeom>
          <a:solidFill>
            <a:srgbClr val="1B4670">
              <a:alpha val="70000"/>
            </a:srgbClr>
          </a:solidFill>
          <a:ln w="15875">
            <a:solidFill>
              <a:srgbClr val="FFFFFF"/>
            </a:solidFill>
            <a:prstDash val="solid"/>
          </a:ln>
        </p:spPr>
      </p:sp>
      <p:sp>
        <p:nvSpPr>
          <p:cNvPr id="41" name="Text 39"/>
          <p:cNvSpPr txBox="1"/>
          <p:nvPr/>
        </p:nvSpPr>
        <p:spPr>
          <a:xfrm>
            <a:off x="5029200" y="1655064"/>
            <a:ext cx="1600200" cy="237744"/>
          </a:xfrm>
          <a:prstGeom prst="rect">
            <a:avLst/>
          </a:prstGeom>
          <a:noFill/>
          <a:ln/>
        </p:spPr>
        <p:txBody>
          <a:bodyPr wrap="square" lIns="0" tIns="0" rIns="0" bIns="0" rtlCol="0" anchor="t"/>
          <a:lstStyle/>
          <a:p>
            <a:pPr indent="0" marL="0">
              <a:buNone/>
            </a:pPr>
            <a:r>
              <a:rPr lang="en-US" sz="1050" b="1" dirty="0">
                <a:solidFill>
                  <a:schemeClr val="bg1"/>
                </a:solidFill>
              </a:rPr>
              <a:t>User page</a:t>
            </a:r>
            <a:endParaRPr lang="en-US" sz="1050" dirty="0"/>
          </a:p>
        </p:txBody>
      </p:sp>
      <p:sp>
        <p:nvSpPr>
          <p:cNvPr id="42" name="Text 40"/>
          <p:cNvSpPr txBox="1"/>
          <p:nvPr/>
        </p:nvSpPr>
        <p:spPr>
          <a:xfrm>
            <a:off x="5029200" y="1874520"/>
            <a:ext cx="1600200" cy="228600"/>
          </a:xfrm>
          <a:prstGeom prst="rect">
            <a:avLst/>
          </a:prstGeom>
          <a:noFill/>
          <a:ln/>
        </p:spPr>
        <p:txBody>
          <a:bodyPr wrap="square" lIns="0" tIns="0" rIns="0" bIns="0" rtlCol="0" anchor="t"/>
          <a:lstStyle/>
          <a:p>
            <a:pPr indent="0" marL="0">
              <a:buNone/>
            </a:pPr>
            <a:r>
              <a:rPr lang="en-US" sz="850" dirty="0">
                <a:solidFill>
                  <a:schemeClr val="bg2"/>
                </a:solidFill>
              </a:rPr>
              <a:t>Simple / Detailed</a:t>
            </a:r>
            <a:endParaRPr lang="en-US" sz="850" dirty="0"/>
          </a:p>
        </p:txBody>
      </p:sp>
      <p:sp>
        <p:nvSpPr>
          <p:cNvPr id="43" name="Shape 41"/>
          <p:cNvSpPr/>
          <p:nvPr/>
        </p:nvSpPr>
        <p:spPr>
          <a:xfrm>
            <a:off x="4937760" y="2240280"/>
            <a:ext cx="1783080" cy="530352"/>
          </a:xfrm>
          <a:prstGeom prst="roundRect">
            <a:avLst>
              <a:gd name="adj" fmla="val 17241"/>
            </a:avLst>
          </a:prstGeom>
          <a:solidFill>
            <a:srgbClr val="1B4670">
              <a:alpha val="70000"/>
            </a:srgbClr>
          </a:solidFill>
          <a:ln w="15875">
            <a:solidFill>
              <a:srgbClr val="FFFFFF"/>
            </a:solidFill>
            <a:prstDash val="solid"/>
          </a:ln>
        </p:spPr>
      </p:sp>
      <p:sp>
        <p:nvSpPr>
          <p:cNvPr id="44" name="Text 42"/>
          <p:cNvSpPr txBox="1"/>
          <p:nvPr/>
        </p:nvSpPr>
        <p:spPr>
          <a:xfrm>
            <a:off x="5029200" y="2295144"/>
            <a:ext cx="1600200" cy="237744"/>
          </a:xfrm>
          <a:prstGeom prst="rect">
            <a:avLst/>
          </a:prstGeom>
          <a:noFill/>
          <a:ln/>
        </p:spPr>
        <p:txBody>
          <a:bodyPr wrap="square" lIns="0" tIns="0" rIns="0" bIns="0" rtlCol="0" anchor="t"/>
          <a:lstStyle/>
          <a:p>
            <a:pPr indent="0" marL="0">
              <a:buNone/>
            </a:pPr>
            <a:r>
              <a:rPr lang="en-US" sz="1050" b="1" dirty="0">
                <a:solidFill>
                  <a:schemeClr val="bg1"/>
                </a:solidFill>
              </a:rPr>
              <a:t>Admin station</a:t>
            </a:r>
            <a:endParaRPr lang="en-US" sz="1050" dirty="0"/>
          </a:p>
        </p:txBody>
      </p:sp>
      <p:sp>
        <p:nvSpPr>
          <p:cNvPr id="45" name="Text 43"/>
          <p:cNvSpPr txBox="1"/>
          <p:nvPr/>
        </p:nvSpPr>
        <p:spPr>
          <a:xfrm>
            <a:off x="5029200" y="2514600"/>
            <a:ext cx="1600200" cy="228600"/>
          </a:xfrm>
          <a:prstGeom prst="rect">
            <a:avLst/>
          </a:prstGeom>
          <a:noFill/>
          <a:ln/>
        </p:spPr>
        <p:txBody>
          <a:bodyPr wrap="square" lIns="0" tIns="0" rIns="0" bIns="0" rtlCol="0" anchor="t"/>
          <a:lstStyle/>
          <a:p>
            <a:pPr indent="0" marL="0">
              <a:buNone/>
            </a:pPr>
            <a:r>
              <a:rPr lang="en-US" sz="850" dirty="0">
                <a:solidFill>
                  <a:schemeClr val="bg2"/>
                </a:solidFill>
              </a:rPr>
              <a:t>All users, alerts</a:t>
            </a:r>
            <a:endParaRPr lang="en-US" sz="850" dirty="0"/>
          </a:p>
        </p:txBody>
      </p:sp>
      <p:sp>
        <p:nvSpPr>
          <p:cNvPr id="46" name="Shape 44"/>
          <p:cNvSpPr/>
          <p:nvPr/>
        </p:nvSpPr>
        <p:spPr>
          <a:xfrm>
            <a:off x="4937760" y="3630168"/>
            <a:ext cx="1783080" cy="530352"/>
          </a:xfrm>
          <a:prstGeom prst="roundRect">
            <a:avLst>
              <a:gd name="adj" fmla="val 17241"/>
            </a:avLst>
          </a:prstGeom>
          <a:solidFill>
            <a:srgbClr val="1B4670">
              <a:alpha val="70000"/>
            </a:srgbClr>
          </a:solidFill>
          <a:ln w="15875">
            <a:solidFill>
              <a:srgbClr val="FF7B7B"/>
            </a:solidFill>
            <a:prstDash val="solid"/>
          </a:ln>
        </p:spPr>
      </p:sp>
      <p:sp>
        <p:nvSpPr>
          <p:cNvPr id="47" name="Text 45"/>
          <p:cNvSpPr txBox="1"/>
          <p:nvPr/>
        </p:nvSpPr>
        <p:spPr>
          <a:xfrm>
            <a:off x="5029200" y="3685032"/>
            <a:ext cx="1600200" cy="237744"/>
          </a:xfrm>
          <a:prstGeom prst="rect">
            <a:avLst/>
          </a:prstGeom>
          <a:noFill/>
          <a:ln/>
        </p:spPr>
        <p:txBody>
          <a:bodyPr wrap="square" lIns="0" tIns="0" rIns="0" bIns="0" rtlCol="0" anchor="t"/>
          <a:lstStyle/>
          <a:p>
            <a:pPr indent="0" marL="0">
              <a:buNone/>
            </a:pPr>
            <a:r>
              <a:rPr lang="en-US" sz="1050" b="1" dirty="0">
                <a:solidFill>
                  <a:schemeClr val="accent3"/>
                </a:solidFill>
              </a:rPr>
              <a:t>Emergency contact</a:t>
            </a:r>
            <a:endParaRPr lang="en-US" sz="1050" dirty="0"/>
          </a:p>
        </p:txBody>
      </p:sp>
      <p:sp>
        <p:nvSpPr>
          <p:cNvPr id="48" name="Text 46"/>
          <p:cNvSpPr txBox="1"/>
          <p:nvPr/>
        </p:nvSpPr>
        <p:spPr>
          <a:xfrm>
            <a:off x="5029200" y="3904488"/>
            <a:ext cx="1600200" cy="228600"/>
          </a:xfrm>
          <a:prstGeom prst="rect">
            <a:avLst/>
          </a:prstGeom>
          <a:noFill/>
          <a:ln/>
        </p:spPr>
        <p:txBody>
          <a:bodyPr wrap="square" lIns="0" tIns="0" rIns="0" bIns="0" rtlCol="0" anchor="t"/>
          <a:lstStyle/>
          <a:p>
            <a:pPr indent="0" marL="0">
              <a:buNone/>
            </a:pPr>
            <a:r>
              <a:rPr lang="en-US" sz="850" dirty="0">
                <a:solidFill>
                  <a:schemeClr val="bg2"/>
                </a:solidFill>
              </a:rPr>
              <a:t>Telegram message</a:t>
            </a:r>
            <a:endParaRPr lang="en-US" sz="850" dirty="0"/>
          </a:p>
        </p:txBody>
      </p:sp>
      <p:sp>
        <p:nvSpPr>
          <p:cNvPr id="49" name="Shape 47"/>
          <p:cNvSpPr/>
          <p:nvPr/>
        </p:nvSpPr>
        <p:spPr>
          <a:xfrm>
            <a:off x="6995160" y="1600200"/>
            <a:ext cx="1737360" cy="685800"/>
          </a:xfrm>
          <a:prstGeom prst="roundRect">
            <a:avLst>
              <a:gd name="adj" fmla="val 13333"/>
            </a:avLst>
          </a:prstGeom>
          <a:solidFill>
            <a:srgbClr val="1B4670">
              <a:alpha val="70000"/>
            </a:srgbClr>
          </a:solidFill>
          <a:ln w="15875">
            <a:solidFill>
              <a:srgbClr val="FFFFFF"/>
            </a:solidFill>
            <a:prstDash val="dash"/>
          </a:ln>
        </p:spPr>
      </p:sp>
      <p:sp>
        <p:nvSpPr>
          <p:cNvPr id="50" name="Text 48"/>
          <p:cNvSpPr txBox="1"/>
          <p:nvPr/>
        </p:nvSpPr>
        <p:spPr>
          <a:xfrm>
            <a:off x="7086600" y="1655064"/>
            <a:ext cx="1554480" cy="237744"/>
          </a:xfrm>
          <a:prstGeom prst="rect">
            <a:avLst/>
          </a:prstGeom>
          <a:noFill/>
          <a:ln/>
        </p:spPr>
        <p:txBody>
          <a:bodyPr wrap="square" lIns="0" tIns="0" rIns="0" bIns="0" rtlCol="0" anchor="t"/>
          <a:lstStyle/>
          <a:p>
            <a:pPr indent="0" marL="0">
              <a:buNone/>
            </a:pPr>
            <a:r>
              <a:rPr lang="en-US" sz="1050" b="1" dirty="0">
                <a:solidFill>
                  <a:schemeClr val="bg1"/>
                </a:solidFill>
              </a:rPr>
              <a:t>City platform</a:t>
            </a:r>
            <a:endParaRPr lang="en-US" sz="1050" dirty="0"/>
          </a:p>
        </p:txBody>
      </p:sp>
      <p:sp>
        <p:nvSpPr>
          <p:cNvPr id="51" name="Text 49"/>
          <p:cNvSpPr txBox="1"/>
          <p:nvPr/>
        </p:nvSpPr>
        <p:spPr>
          <a:xfrm>
            <a:off x="7086600" y="1874520"/>
            <a:ext cx="1554480" cy="384048"/>
          </a:xfrm>
          <a:prstGeom prst="rect">
            <a:avLst/>
          </a:prstGeom>
          <a:noFill/>
          <a:ln/>
        </p:spPr>
        <p:txBody>
          <a:bodyPr wrap="square" lIns="0" tIns="0" rIns="0" bIns="0" rtlCol="0" anchor="t"/>
          <a:lstStyle/>
          <a:p>
            <a:pPr indent="0" marL="0">
              <a:buNone/>
            </a:pPr>
            <a:r>
              <a:rPr lang="en-US" sz="850" dirty="0">
                <a:solidFill>
                  <a:schemeClr val="bg2"/>
                </a:solidFill>
              </a:rPr>
              <a:t>ICCC · ward health map</a:t>
            </a:r>
            <a:endParaRPr lang="en-US" sz="850" dirty="0"/>
          </a:p>
        </p:txBody>
      </p:sp>
      <p:sp>
        <p:nvSpPr>
          <p:cNvPr id="52" name="Shape 50"/>
          <p:cNvSpPr/>
          <p:nvPr/>
        </p:nvSpPr>
        <p:spPr>
          <a:xfrm>
            <a:off x="6995160" y="2423160"/>
            <a:ext cx="1737360" cy="621792"/>
          </a:xfrm>
          <a:prstGeom prst="roundRect">
            <a:avLst>
              <a:gd name="adj" fmla="val 14706"/>
            </a:avLst>
          </a:prstGeom>
          <a:solidFill>
            <a:srgbClr val="1B4670">
              <a:alpha val="70000"/>
            </a:srgbClr>
          </a:solidFill>
          <a:ln w="15875">
            <a:solidFill>
              <a:srgbClr val="FFFFFF"/>
            </a:solidFill>
            <a:prstDash val="dash"/>
          </a:ln>
        </p:spPr>
      </p:sp>
      <p:sp>
        <p:nvSpPr>
          <p:cNvPr id="53" name="Text 51"/>
          <p:cNvSpPr txBox="1"/>
          <p:nvPr/>
        </p:nvSpPr>
        <p:spPr>
          <a:xfrm>
            <a:off x="7086600" y="2478024"/>
            <a:ext cx="1554480" cy="237744"/>
          </a:xfrm>
          <a:prstGeom prst="rect">
            <a:avLst/>
          </a:prstGeom>
          <a:noFill/>
          <a:ln/>
        </p:spPr>
        <p:txBody>
          <a:bodyPr wrap="square" lIns="0" tIns="0" rIns="0" bIns="0" rtlCol="0" anchor="t"/>
          <a:lstStyle/>
          <a:p>
            <a:pPr indent="0" marL="0">
              <a:buNone/>
            </a:pPr>
            <a:r>
              <a:rPr lang="en-US" sz="1050" b="1" dirty="0">
                <a:solidFill>
                  <a:schemeClr val="bg1"/>
                </a:solidFill>
              </a:rPr>
              <a:t>Hospital / 108</a:t>
            </a:r>
            <a:endParaRPr lang="en-US" sz="1050" dirty="0"/>
          </a:p>
        </p:txBody>
      </p:sp>
      <p:sp>
        <p:nvSpPr>
          <p:cNvPr id="54" name="Text 52"/>
          <p:cNvSpPr txBox="1"/>
          <p:nvPr/>
        </p:nvSpPr>
        <p:spPr>
          <a:xfrm>
            <a:off x="7086600" y="2697480"/>
            <a:ext cx="1554480" cy="320040"/>
          </a:xfrm>
          <a:prstGeom prst="rect">
            <a:avLst/>
          </a:prstGeom>
          <a:noFill/>
          <a:ln/>
        </p:spPr>
        <p:txBody>
          <a:bodyPr wrap="square" lIns="0" tIns="0" rIns="0" bIns="0" rtlCol="0" anchor="t"/>
          <a:lstStyle/>
          <a:p>
            <a:pPr indent="0" marL="0">
              <a:buNone/>
            </a:pPr>
            <a:r>
              <a:rPr lang="en-US" sz="850" dirty="0">
                <a:solidFill>
                  <a:schemeClr val="bg2"/>
                </a:solidFill>
              </a:rPr>
              <a:t>Emergency dispatch</a:t>
            </a:r>
            <a:endParaRPr lang="en-US" sz="850" dirty="0"/>
          </a:p>
        </p:txBody>
      </p:sp>
      <p:sp>
        <p:nvSpPr>
          <p:cNvPr id="55" name="Shape 53"/>
          <p:cNvSpPr/>
          <p:nvPr/>
        </p:nvSpPr>
        <p:spPr>
          <a:xfrm>
            <a:off x="6995160" y="3182112"/>
            <a:ext cx="1737360" cy="621792"/>
          </a:xfrm>
          <a:prstGeom prst="roundRect">
            <a:avLst>
              <a:gd name="adj" fmla="val 14706"/>
            </a:avLst>
          </a:prstGeom>
          <a:solidFill>
            <a:srgbClr val="1B4670">
              <a:alpha val="70000"/>
            </a:srgbClr>
          </a:solidFill>
          <a:ln w="15875">
            <a:solidFill>
              <a:srgbClr val="FFFFFF"/>
            </a:solidFill>
            <a:prstDash val="dash"/>
          </a:ln>
        </p:spPr>
      </p:sp>
      <p:sp>
        <p:nvSpPr>
          <p:cNvPr id="56" name="Text 54"/>
          <p:cNvSpPr txBox="1"/>
          <p:nvPr/>
        </p:nvSpPr>
        <p:spPr>
          <a:xfrm>
            <a:off x="7086600" y="3236976"/>
            <a:ext cx="1554480" cy="237744"/>
          </a:xfrm>
          <a:prstGeom prst="rect">
            <a:avLst/>
          </a:prstGeom>
          <a:noFill/>
          <a:ln/>
        </p:spPr>
        <p:txBody>
          <a:bodyPr wrap="square" lIns="0" tIns="0" rIns="0" bIns="0" rtlCol="0" anchor="t"/>
          <a:lstStyle/>
          <a:p>
            <a:pPr indent="0" marL="0">
              <a:buNone/>
            </a:pPr>
            <a:r>
              <a:rPr lang="en-US" sz="1050" b="1" dirty="0">
                <a:solidFill>
                  <a:schemeClr val="bg1"/>
                </a:solidFill>
              </a:rPr>
              <a:t>Health records</a:t>
            </a:r>
            <a:endParaRPr lang="en-US" sz="1050" dirty="0"/>
          </a:p>
        </p:txBody>
      </p:sp>
      <p:sp>
        <p:nvSpPr>
          <p:cNvPr id="57" name="Text 55"/>
          <p:cNvSpPr txBox="1"/>
          <p:nvPr/>
        </p:nvSpPr>
        <p:spPr>
          <a:xfrm>
            <a:off x="7086600" y="3456432"/>
            <a:ext cx="1554480" cy="320040"/>
          </a:xfrm>
          <a:prstGeom prst="rect">
            <a:avLst/>
          </a:prstGeom>
          <a:noFill/>
          <a:ln/>
        </p:spPr>
        <p:txBody>
          <a:bodyPr wrap="square" lIns="0" tIns="0" rIns="0" bIns="0" rtlCol="0" anchor="t"/>
          <a:lstStyle/>
          <a:p>
            <a:pPr indent="0" marL="0">
              <a:buNone/>
            </a:pPr>
            <a:r>
              <a:rPr lang="en-US" sz="850" dirty="0">
                <a:solidFill>
                  <a:schemeClr val="bg2"/>
                </a:solidFill>
              </a:rPr>
              <a:t>HL7 FHIR format</a:t>
            </a:r>
            <a:endParaRPr lang="en-US" sz="850" dirty="0"/>
          </a:p>
        </p:txBody>
      </p:sp>
      <p:sp>
        <p:nvSpPr>
          <p:cNvPr id="58" name="Shape 56"/>
          <p:cNvSpPr/>
          <p:nvPr/>
        </p:nvSpPr>
        <p:spPr>
          <a:xfrm flipV="1">
            <a:off x="2240280" y="1865376"/>
            <a:ext cx="365760" cy="1335024"/>
          </a:xfrm>
          <a:prstGeom prst="line">
            <a:avLst/>
          </a:prstGeom>
          <a:noFill/>
          <a:ln w="19050">
            <a:solidFill>
              <a:srgbClr val="FFFFFF"/>
            </a:solidFill>
            <a:prstDash val="solid"/>
            <a:tailEnd type="triangle"/>
          </a:ln>
        </p:spPr>
      </p:sp>
      <p:sp>
        <p:nvSpPr>
          <p:cNvPr id="59" name="Shape 57"/>
          <p:cNvSpPr/>
          <p:nvPr/>
        </p:nvSpPr>
        <p:spPr>
          <a:xfrm>
            <a:off x="4617720" y="1865376"/>
            <a:ext cx="320040" cy="0"/>
          </a:xfrm>
          <a:prstGeom prst="line">
            <a:avLst/>
          </a:prstGeom>
          <a:noFill/>
          <a:ln w="19050">
            <a:solidFill>
              <a:srgbClr val="FFFFFF"/>
            </a:solidFill>
            <a:prstDash val="solid"/>
            <a:tailEnd type="triangle"/>
          </a:ln>
        </p:spPr>
      </p:sp>
      <p:sp>
        <p:nvSpPr>
          <p:cNvPr id="60" name="Shape 58"/>
          <p:cNvSpPr/>
          <p:nvPr/>
        </p:nvSpPr>
        <p:spPr>
          <a:xfrm>
            <a:off x="4617720" y="2011680"/>
            <a:ext cx="320040" cy="493776"/>
          </a:xfrm>
          <a:prstGeom prst="line">
            <a:avLst/>
          </a:prstGeom>
          <a:noFill/>
          <a:ln w="19050">
            <a:solidFill>
              <a:srgbClr val="FFFFFF"/>
            </a:solidFill>
            <a:prstDash val="solid"/>
            <a:tailEnd type="triangle"/>
          </a:ln>
        </p:spPr>
      </p:sp>
      <p:sp>
        <p:nvSpPr>
          <p:cNvPr id="61" name="Shape 59"/>
          <p:cNvSpPr/>
          <p:nvPr/>
        </p:nvSpPr>
        <p:spPr>
          <a:xfrm>
            <a:off x="4617720" y="3895344"/>
            <a:ext cx="320040" cy="0"/>
          </a:xfrm>
          <a:prstGeom prst="line">
            <a:avLst/>
          </a:prstGeom>
          <a:noFill/>
          <a:ln w="19050">
            <a:solidFill>
              <a:srgbClr val="FF7B7B"/>
            </a:solidFill>
            <a:prstDash val="solid"/>
            <a:tailEnd type="triangle"/>
          </a:ln>
        </p:spPr>
      </p:sp>
      <p:sp>
        <p:nvSpPr>
          <p:cNvPr id="62" name="Shape 60"/>
          <p:cNvSpPr/>
          <p:nvPr/>
        </p:nvSpPr>
        <p:spPr>
          <a:xfrm>
            <a:off x="3611880" y="4160520"/>
            <a:ext cx="0" cy="246888"/>
          </a:xfrm>
          <a:prstGeom prst="line">
            <a:avLst/>
          </a:prstGeom>
          <a:noFill/>
          <a:ln w="19050">
            <a:solidFill>
              <a:srgbClr val="FFFFFF"/>
            </a:solidFill>
            <a:prstDash val="dash"/>
          </a:ln>
        </p:spPr>
      </p:sp>
      <p:sp>
        <p:nvSpPr>
          <p:cNvPr id="63" name="Shape 61"/>
          <p:cNvSpPr/>
          <p:nvPr/>
        </p:nvSpPr>
        <p:spPr>
          <a:xfrm>
            <a:off x="3611880" y="4407408"/>
            <a:ext cx="4251960" cy="0"/>
          </a:xfrm>
          <a:prstGeom prst="line">
            <a:avLst/>
          </a:prstGeom>
          <a:noFill/>
          <a:ln w="19050">
            <a:solidFill>
              <a:srgbClr val="FFFFFF"/>
            </a:solidFill>
            <a:prstDash val="dash"/>
          </a:ln>
        </p:spPr>
      </p:sp>
      <p:sp>
        <p:nvSpPr>
          <p:cNvPr id="64" name="Shape 62"/>
          <p:cNvSpPr/>
          <p:nvPr/>
        </p:nvSpPr>
        <p:spPr>
          <a:xfrm flipV="1">
            <a:off x="7863840" y="3803904"/>
            <a:ext cx="0" cy="603504"/>
          </a:xfrm>
          <a:prstGeom prst="line">
            <a:avLst/>
          </a:prstGeom>
          <a:noFill/>
          <a:ln w="19050">
            <a:solidFill>
              <a:srgbClr val="FFFFFF"/>
            </a:solidFill>
            <a:prstDash val="dash"/>
            <a:tailEnd type="triangle"/>
          </a:ln>
        </p:spPr>
      </p:sp>
      <p:sp>
        <p:nvSpPr>
          <p:cNvPr id="65" name="Text 63"/>
          <p:cNvSpPr txBox="1"/>
          <p:nvPr/>
        </p:nvSpPr>
        <p:spPr>
          <a:xfrm>
            <a:off x="3749040" y="4443984"/>
            <a:ext cx="4023360" cy="219456"/>
          </a:xfrm>
          <a:prstGeom prst="rect">
            <a:avLst/>
          </a:prstGeom>
          <a:noFill/>
          <a:ln/>
        </p:spPr>
        <p:txBody>
          <a:bodyPr wrap="square" lIns="0" tIns="0" rIns="0" bIns="0" rtlCol="0" anchor="t"/>
          <a:lstStyle/>
          <a:p>
            <a:pPr algn="ctr" indent="0" marL="0">
              <a:buNone/>
            </a:pPr>
            <a:r>
              <a:rPr lang="en-US" sz="850" dirty="0">
                <a:solidFill>
                  <a:schemeClr val="accent2"/>
                </a:solidFill>
              </a:rPr>
              <a:t>MQTT · anonymised summaries + emergency forwarding</a:t>
            </a:r>
            <a:endParaRPr lang="en-US" sz="8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SERVER &amp; DATA</a:t>
            </a:r>
            <a:endParaRPr lang="en-US" sz="3000" dirty="0"/>
          </a:p>
        </p:txBody>
      </p:sp>
      <p:sp>
        <p:nvSpPr>
          <p:cNvPr id="3" name="Shape 1"/>
          <p:cNvSpPr/>
          <p:nvPr/>
        </p:nvSpPr>
        <p:spPr>
          <a:xfrm>
            <a:off x="548640" y="1188720"/>
            <a:ext cx="2926080" cy="3429000"/>
          </a:xfrm>
          <a:prstGeom prst="roundRect">
            <a:avLst>
              <a:gd name="adj" fmla="val 3125"/>
            </a:avLst>
          </a:prstGeom>
          <a:solidFill>
            <a:srgbClr val="12365A"/>
          </a:solidFill>
          <a:ln w="15875">
            <a:solidFill>
              <a:srgbClr val="FFFFFF"/>
            </a:solidFill>
            <a:prstDash val="solid"/>
          </a:ln>
        </p:spPr>
      </p:sp>
      <p:sp>
        <p:nvSpPr>
          <p:cNvPr id="4" name="Text 2"/>
          <p:cNvSpPr txBox="1"/>
          <p:nvPr/>
        </p:nvSpPr>
        <p:spPr>
          <a:xfrm>
            <a:off x="713232" y="1298448"/>
            <a:ext cx="2596896" cy="228600"/>
          </a:xfrm>
          <a:prstGeom prst="rect">
            <a:avLst/>
          </a:prstGeom>
          <a:noFill/>
          <a:ln/>
        </p:spPr>
        <p:txBody>
          <a:bodyPr wrap="square" lIns="0" tIns="0" rIns="0" bIns="0" rtlCol="0" anchor="t"/>
          <a:lstStyle/>
          <a:p>
            <a:pPr indent="0" marL="0">
              <a:buNone/>
            </a:pPr>
            <a:r>
              <a:rPr lang="en-US" sz="950" b="1" dirty="0">
                <a:solidFill>
                  <a:srgbClr val="FFD166"/>
                </a:solidFill>
                <a:latin typeface="Courier New" pitchFamily="34" charset="0"/>
                <a:ea typeface="Courier New" pitchFamily="34" charset="-122"/>
                <a:cs typeface="Courier New" pitchFamily="34" charset="-120"/>
              </a:rPr>
              <a:t>POST /api/reading · JSON</a:t>
            </a:r>
            <a:endParaRPr lang="en-US" sz="950" dirty="0"/>
          </a:p>
        </p:txBody>
      </p:sp>
      <p:sp>
        <p:nvSpPr>
          <p:cNvPr id="5" name="Text 3"/>
          <p:cNvSpPr txBox="1"/>
          <p:nvPr/>
        </p:nvSpPr>
        <p:spPr>
          <a:xfrm>
            <a:off x="713232" y="1600200"/>
            <a:ext cx="2596896" cy="2926080"/>
          </a:xfrm>
          <a:prstGeom prst="rect">
            <a:avLst/>
          </a:prstGeom>
          <a:noFill/>
          <a:ln/>
        </p:spPr>
        <p:txBody>
          <a:bodyPr wrap="square" lIns="0" tIns="0" rIns="0" bIns="0" rtlCol="0" anchor="t"/>
          <a:lstStyle/>
          <a:p>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FFB4A8"/>
                </a:solidFill>
                <a:latin typeface="Courier New" pitchFamily="34" charset="0"/>
                <a:ea typeface="Courier New" pitchFamily="34" charset="-122"/>
                <a:cs typeface="Courier New" pitchFamily="34" charset="-120"/>
              </a:rPr>
              <a:t>"device"</a:t>
            </a:r>
            <a:pPr indent="0" marL="0">
              <a:buNone/>
            </a:pPr>
            <a:r>
              <a:rPr lang="en-US" sz="1100" dirty="0">
                <a:solidFill>
                  <a:srgbClr val="FFFFFF"/>
                </a:solidFill>
                <a:latin typeface="Courier New" pitchFamily="34" charset="0"/>
                <a:ea typeface="Courier New" pitchFamily="34" charset="-122"/>
                <a:cs typeface="Courier New" pitchFamily="34" charset="-120"/>
              </a:rPr>
              <a:t>:</a:t>
            </a:r>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FFB4A8"/>
                </a:solidFill>
                <a:latin typeface="Courier New" pitchFamily="34" charset="0"/>
                <a:ea typeface="Courier New" pitchFamily="34" charset="-122"/>
                <a:cs typeface="Courier New" pitchFamily="34" charset="-120"/>
              </a:rPr>
              <a:t>"vital-01"</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FFB4A8"/>
                </a:solidFill>
                <a:latin typeface="Courier New" pitchFamily="34" charset="0"/>
                <a:ea typeface="Courier New" pitchFamily="34" charset="-122"/>
                <a:cs typeface="Courier New" pitchFamily="34" charset="-120"/>
              </a:rPr>
              <a:t>"ts"</a:t>
            </a:r>
            <a:pPr indent="0" marL="0">
              <a:buNone/>
            </a:pPr>
            <a:r>
              <a:rPr lang="en-US" sz="1100" dirty="0">
                <a:solidFill>
                  <a:srgbClr val="FFFFFF"/>
                </a:solidFill>
                <a:latin typeface="Courier New" pitchFamily="34" charset="0"/>
                <a:ea typeface="Courier New" pitchFamily="34" charset="-122"/>
                <a:cs typeface="Courier New" pitchFamily="34" charset="-120"/>
              </a:rPr>
              <a:t>:</a:t>
            </a:r>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9EC1EA"/>
                </a:solidFill>
                <a:latin typeface="Courier New" pitchFamily="34" charset="0"/>
                <a:ea typeface="Courier New" pitchFamily="34" charset="-122"/>
                <a:cs typeface="Courier New" pitchFamily="34" charset="-120"/>
              </a:rPr>
              <a:t>1761212400</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FFB4A8"/>
                </a:solidFill>
                <a:latin typeface="Courier New" pitchFamily="34" charset="0"/>
                <a:ea typeface="Courier New" pitchFamily="34" charset="-122"/>
                <a:cs typeface="Courier New" pitchFamily="34" charset="-120"/>
              </a:rPr>
              <a:t>"bpm"</a:t>
            </a:r>
            <a:pPr indent="0" marL="0">
              <a:buNone/>
            </a:pPr>
            <a:r>
              <a:rPr lang="en-US" sz="1100" dirty="0">
                <a:solidFill>
                  <a:srgbClr val="FFFFFF"/>
                </a:solidFill>
                <a:latin typeface="Courier New" pitchFamily="34" charset="0"/>
                <a:ea typeface="Courier New" pitchFamily="34" charset="-122"/>
                <a:cs typeface="Courier New" pitchFamily="34" charset="-120"/>
              </a:rPr>
              <a:t>:</a:t>
            </a:r>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9EC1EA"/>
                </a:solidFill>
                <a:latin typeface="Courier New" pitchFamily="34" charset="0"/>
                <a:ea typeface="Courier New" pitchFamily="34" charset="-122"/>
                <a:cs typeface="Courier New" pitchFamily="34" charset="-120"/>
              </a:rPr>
              <a:t>74.2</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FFB4A8"/>
                </a:solidFill>
                <a:latin typeface="Courier New" pitchFamily="34" charset="0"/>
                <a:ea typeface="Courier New" pitchFamily="34" charset="-122"/>
                <a:cs typeface="Courier New" pitchFamily="34" charset="-120"/>
              </a:rPr>
              <a:t>"spo2"</a:t>
            </a:r>
            <a:pPr indent="0" marL="0">
              <a:buNone/>
            </a:pPr>
            <a:r>
              <a:rPr lang="en-US" sz="1100" dirty="0">
                <a:solidFill>
                  <a:srgbClr val="FFFFFF"/>
                </a:solidFill>
                <a:latin typeface="Courier New" pitchFamily="34" charset="0"/>
                <a:ea typeface="Courier New" pitchFamily="34" charset="-122"/>
                <a:cs typeface="Courier New" pitchFamily="34" charset="-120"/>
              </a:rPr>
              <a:t>:</a:t>
            </a:r>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9EC1EA"/>
                </a:solidFill>
                <a:latin typeface="Courier New" pitchFamily="34" charset="0"/>
                <a:ea typeface="Courier New" pitchFamily="34" charset="-122"/>
                <a:cs typeface="Courier New" pitchFamily="34" charset="-120"/>
              </a:rPr>
              <a:t>98</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FFB4A8"/>
                </a:solidFill>
                <a:latin typeface="Courier New" pitchFamily="34" charset="0"/>
                <a:ea typeface="Courier New" pitchFamily="34" charset="-122"/>
                <a:cs typeface="Courier New" pitchFamily="34" charset="-120"/>
              </a:rPr>
              <a:t>"temp"</a:t>
            </a:r>
            <a:pPr indent="0" marL="0">
              <a:buNone/>
            </a:pPr>
            <a:r>
              <a:rPr lang="en-US" sz="1100" dirty="0">
                <a:solidFill>
                  <a:srgbClr val="FFFFFF"/>
                </a:solidFill>
                <a:latin typeface="Courier New" pitchFamily="34" charset="0"/>
                <a:ea typeface="Courier New" pitchFamily="34" charset="-122"/>
                <a:cs typeface="Courier New" pitchFamily="34" charset="-120"/>
              </a:rPr>
              <a:t>:</a:t>
            </a:r>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9EC1EA"/>
                </a:solidFill>
                <a:latin typeface="Courier New" pitchFamily="34" charset="0"/>
                <a:ea typeface="Courier New" pitchFamily="34" charset="-122"/>
                <a:cs typeface="Courier New" pitchFamily="34" charset="-120"/>
              </a:rPr>
              <a:t>36.62</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FFB4A8"/>
                </a:solidFill>
                <a:latin typeface="Courier New" pitchFamily="34" charset="0"/>
                <a:ea typeface="Courier New" pitchFamily="34" charset="-122"/>
                <a:cs typeface="Courier New" pitchFamily="34" charset="-120"/>
              </a:rPr>
              <a:t>"ir"</a:t>
            </a:r>
            <a:pPr indent="0" marL="0">
              <a:buNone/>
            </a:pPr>
            <a:r>
              <a:rPr lang="en-US" sz="1100" dirty="0">
                <a:solidFill>
                  <a:srgbClr val="FFFFFF"/>
                </a:solidFill>
                <a:latin typeface="Courier New" pitchFamily="34" charset="0"/>
                <a:ea typeface="Courier New" pitchFamily="34" charset="-122"/>
                <a:cs typeface="Courier New" pitchFamily="34" charset="-120"/>
              </a:rPr>
              <a:t>:</a:t>
            </a:r>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9EC1EA"/>
                </a:solidFill>
                <a:latin typeface="Courier New" pitchFamily="34" charset="0"/>
                <a:ea typeface="Courier New" pitchFamily="34" charset="-122"/>
                <a:cs typeface="Courier New" pitchFamily="34" charset="-120"/>
              </a:rPr>
              <a:t>112840</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FFB4A8"/>
                </a:solidFill>
                <a:latin typeface="Courier New" pitchFamily="34" charset="0"/>
                <a:ea typeface="Courier New" pitchFamily="34" charset="-122"/>
                <a:cs typeface="Courier New" pitchFamily="34" charset="-120"/>
              </a:rPr>
              <a:t>"red"</a:t>
            </a:r>
            <a:pPr indent="0" marL="0">
              <a:buNone/>
            </a:pPr>
            <a:r>
              <a:rPr lang="en-US" sz="1100" dirty="0">
                <a:solidFill>
                  <a:srgbClr val="FFFFFF"/>
                </a:solidFill>
                <a:latin typeface="Courier New" pitchFamily="34" charset="0"/>
                <a:ea typeface="Courier New" pitchFamily="34" charset="-122"/>
                <a:cs typeface="Courier New" pitchFamily="34" charset="-120"/>
              </a:rPr>
              <a:t>:</a:t>
            </a:r>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9EC1EA"/>
                </a:solidFill>
                <a:latin typeface="Courier New" pitchFamily="34" charset="0"/>
                <a:ea typeface="Courier New" pitchFamily="34" charset="-122"/>
                <a:cs typeface="Courier New" pitchFamily="34" charset="-120"/>
              </a:rPr>
              <a:t>98215</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FFB4A8"/>
                </a:solidFill>
                <a:latin typeface="Courier New" pitchFamily="34" charset="0"/>
                <a:ea typeface="Courier New" pitchFamily="34" charset="-122"/>
                <a:cs typeface="Courier New" pitchFamily="34" charset="-120"/>
              </a:rPr>
              <a:t>"finger"</a:t>
            </a:r>
            <a:pPr indent="0" marL="0">
              <a:buNone/>
            </a:pPr>
            <a:r>
              <a:rPr lang="en-US" sz="1100" dirty="0">
                <a:solidFill>
                  <a:srgbClr val="FFFFFF"/>
                </a:solidFill>
                <a:latin typeface="Courier New" pitchFamily="34" charset="0"/>
                <a:ea typeface="Courier New" pitchFamily="34" charset="-122"/>
                <a:cs typeface="Courier New" pitchFamily="34" charset="-120"/>
              </a:rPr>
              <a:t>:</a:t>
            </a:r>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FFFFFF"/>
                </a:solidFill>
                <a:latin typeface="Courier New" pitchFamily="34" charset="0"/>
                <a:ea typeface="Courier New" pitchFamily="34" charset="-122"/>
                <a:cs typeface="Courier New" pitchFamily="34" charset="-120"/>
              </a:rPr>
              <a:t>true</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713232" y="4251960"/>
            <a:ext cx="2651760" cy="237744"/>
          </a:xfrm>
          <a:prstGeom prst="rect">
            <a:avLst/>
          </a:prstGeom>
          <a:noFill/>
          <a:ln/>
        </p:spPr>
        <p:txBody>
          <a:bodyPr wrap="square" lIns="0" tIns="0" rIns="0" bIns="0" rtlCol="0" anchor="t"/>
          <a:lstStyle/>
          <a:p>
            <a:pPr indent="0" marL="0">
              <a:buNone/>
            </a:pPr>
            <a:r>
              <a:rPr lang="en-US" sz="950" i="1" dirty="0">
                <a:solidFill>
                  <a:schemeClr val="bg2"/>
                </a:solidFill>
              </a:rPr>
              <a:t>One reading per second, about 150 bytes</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703320" y="1188720"/>
          <a:ext cx="4892040" cy="914400"/>
        </p:xfrm>
        <a:graphic>
          <a:graphicData uri="http://schemas.openxmlformats.org/drawingml/2006/table">
            <a:tbl>
              <a:tblPr/>
              <a:tblGrid>
                <a:gridCol w="685800"/>
                <a:gridCol w="2194560"/>
                <a:gridCol w="2011680"/>
              </a:tblGrid>
              <a:tr h="265176">
                <a:tc>
                  <a:txBody>
                    <a:bodyPr/>
                    <a:lstStyle/>
                    <a:p>
                      <a:pPr indent="0" marL="0">
                        <a:buNone/>
                      </a:pPr>
                      <a:r>
                        <a:rPr lang="en-US" sz="950" b="1" dirty="0">
                          <a:solidFill>
                            <a:srgbClr val="DCE8F7"/>
                          </a:solidFill>
                        </a:rPr>
                        <a:t>Method</a:t>
                      </a:r>
                      <a:endParaRPr lang="en-US" sz="950" dirty="0"/>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950" b="1" dirty="0">
                          <a:solidFill>
                            <a:srgbClr val="DCE8F7"/>
                          </a:solidFill>
                        </a:rPr>
                        <a:t>Endpoint</a:t>
                      </a:r>
                      <a:endParaRPr lang="en-US" sz="950" dirty="0"/>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950" b="1" dirty="0">
                          <a:solidFill>
                            <a:srgbClr val="DCE8F7"/>
                          </a:solidFill>
                        </a:rPr>
                        <a:t>Used by</a:t>
                      </a:r>
                      <a:endParaRPr lang="en-US" sz="950" dirty="0"/>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265176">
                <a:tc>
                  <a:txBody>
                    <a:bodyPr/>
                    <a:lstStyle/>
                    <a:p>
                      <a:pPr indent="0" marL="0">
                        <a:buNone/>
                      </a:pPr>
                      <a:r>
                        <a:rPr lang="en-US" sz="950" b="1" dirty="0">
                          <a:solidFill>
                            <a:srgbClr val="FFD166"/>
                          </a:solidFill>
                          <a:latin typeface="Courier New" pitchFamily="34" charset="0"/>
                          <a:ea typeface="Courier New" pitchFamily="34" charset="-122"/>
                          <a:cs typeface="Courier New" pitchFamily="34" charset="-120"/>
                        </a:rPr>
                        <a:t>POST</a:t>
                      </a:r>
                      <a:endParaRPr lang="en-US" sz="950" dirty="0">
                        <a:latin typeface="Courier New" charset="0"/>
                        <a:ea typeface="Courier New" charset="0"/>
                        <a:cs typeface="Courier New" charset="0"/>
                      </a:endParaRPr>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/api/reading</a:t>
                      </a:r>
                      <a:endParaRPr lang="en-US" sz="950" dirty="0">
                        <a:latin typeface="Courier New" charset="0"/>
                        <a:ea typeface="Courier New" charset="0"/>
                        <a:cs typeface="Courier New" charset="0"/>
                      </a:endParaRPr>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950" dirty="0">
                          <a:solidFill>
                            <a:srgbClr val="FFFFFF"/>
                          </a:solidFill>
                        </a:rPr>
                        <a:t>ESP32, every second</a:t>
                      </a:r>
                      <a:endParaRPr lang="en-US" sz="950" dirty="0"/>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265176">
                <a:tc>
                  <a:txBody>
                    <a:bodyPr/>
                    <a:lstStyle/>
                    <a:p>
                      <a:pPr indent="0" marL="0">
                        <a:buNone/>
                      </a:pPr>
                      <a:r>
                        <a:rPr lang="en-US" sz="950" b="1" dirty="0">
                          <a:solidFill>
                            <a:srgbClr val="FFD166"/>
                          </a:solidFill>
                          <a:latin typeface="Courier New" pitchFamily="34" charset="0"/>
                          <a:ea typeface="Courier New" pitchFamily="34" charset="-122"/>
                          <a:cs typeface="Courier New" pitchFamily="34" charset="-120"/>
                        </a:rPr>
                        <a:t>POST</a:t>
                      </a:r>
                      <a:endParaRPr lang="en-US" sz="950" dirty="0">
                        <a:latin typeface="Courier New" charset="0"/>
                        <a:ea typeface="Courier New" charset="0"/>
                        <a:cs typeface="Courier New" charset="0"/>
                      </a:endParaRPr>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/api/session/start</a:t>
                      </a:r>
                      <a:endParaRPr lang="en-US" sz="950" dirty="0">
                        <a:latin typeface="Courier New" charset="0"/>
                        <a:ea typeface="Courier New" charset="0"/>
                        <a:cs typeface="Courier New" charset="0"/>
                      </a:endParaRPr>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950" dirty="0">
                          <a:solidFill>
                            <a:srgbClr val="FFFFFF"/>
                          </a:solidFill>
                        </a:rPr>
                        <a:t>User presses Start</a:t>
                      </a:r>
                      <a:endParaRPr lang="en-US" sz="950" dirty="0"/>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265176">
                <a:tc>
                  <a:txBody>
                    <a:bodyPr/>
                    <a:lstStyle/>
                    <a:p>
                      <a:pPr indent="0" marL="0">
                        <a:buNone/>
                      </a:pPr>
                      <a:r>
                        <a:rPr lang="en-US" sz="950" b="1" dirty="0">
                          <a:solidFill>
                            <a:srgbClr val="9FC8FF"/>
                          </a:solidFill>
                          <a:latin typeface="Courier New" pitchFamily="34" charset="0"/>
                          <a:ea typeface="Courier New" pitchFamily="34" charset="-122"/>
                          <a:cs typeface="Courier New" pitchFamily="34" charset="-120"/>
                        </a:rPr>
                        <a:t>GET</a:t>
                      </a:r>
                      <a:endParaRPr lang="en-US" sz="950" dirty="0">
                        <a:latin typeface="Courier New" charset="0"/>
                        <a:ea typeface="Courier New" charset="0"/>
                        <a:cs typeface="Courier New" charset="0"/>
                      </a:endParaRPr>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/api/live/&lt;user&gt;</a:t>
                      </a:r>
                      <a:endParaRPr lang="en-US" sz="950" dirty="0">
                        <a:latin typeface="Courier New" charset="0"/>
                        <a:ea typeface="Courier New" charset="0"/>
                        <a:cs typeface="Courier New" charset="0"/>
                      </a:endParaRPr>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950" dirty="0">
                          <a:solidFill>
                            <a:srgbClr val="FFFFFF"/>
                          </a:solidFill>
                        </a:rPr>
                        <a:t>User page, live view</a:t>
                      </a:r>
                      <a:endParaRPr lang="en-US" sz="950" dirty="0"/>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265176">
                <a:tc>
                  <a:txBody>
                    <a:bodyPr/>
                    <a:lstStyle/>
                    <a:p>
                      <a:pPr indent="0" marL="0">
                        <a:buNone/>
                      </a:pPr>
                      <a:r>
                        <a:rPr lang="en-US" sz="950" b="1" dirty="0">
                          <a:solidFill>
                            <a:srgbClr val="9FC8FF"/>
                          </a:solidFill>
                          <a:latin typeface="Courier New" pitchFamily="34" charset="0"/>
                          <a:ea typeface="Courier New" pitchFamily="34" charset="-122"/>
                          <a:cs typeface="Courier New" pitchFamily="34" charset="-120"/>
                        </a:rPr>
                        <a:t>GET</a:t>
                      </a:r>
                      <a:endParaRPr lang="en-US" sz="950" dirty="0">
                        <a:latin typeface="Courier New" charset="0"/>
                        <a:ea typeface="Courier New" charset="0"/>
                        <a:cs typeface="Courier New" charset="0"/>
                      </a:endParaRPr>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/api/history/&lt;user&gt;</a:t>
                      </a:r>
                      <a:endParaRPr lang="en-US" sz="950" dirty="0">
                        <a:latin typeface="Courier New" charset="0"/>
                        <a:ea typeface="Courier New" charset="0"/>
                        <a:cs typeface="Courier New" charset="0"/>
                      </a:endParaRPr>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950" dirty="0">
                          <a:solidFill>
                            <a:srgbClr val="FFFFFF"/>
                          </a:solidFill>
                        </a:rPr>
                        <a:t>7-day charts</a:t>
                      </a:r>
                      <a:endParaRPr lang="en-US" sz="950" dirty="0"/>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265176">
                <a:tc>
                  <a:txBody>
                    <a:bodyPr/>
                    <a:lstStyle/>
                    <a:p>
                      <a:pPr indent="0" marL="0">
                        <a:buNone/>
                      </a:pPr>
                      <a:r>
                        <a:rPr lang="en-US" sz="950" b="1" dirty="0">
                          <a:solidFill>
                            <a:srgbClr val="9FC8FF"/>
                          </a:solidFill>
                          <a:latin typeface="Courier New" pitchFamily="34" charset="0"/>
                          <a:ea typeface="Courier New" pitchFamily="34" charset="-122"/>
                          <a:cs typeface="Courier New" pitchFamily="34" charset="-120"/>
                        </a:rPr>
                        <a:t>GET</a:t>
                      </a:r>
                      <a:endParaRPr lang="en-US" sz="950" dirty="0">
                        <a:latin typeface="Courier New" charset="0"/>
                        <a:ea typeface="Courier New" charset="0"/>
                        <a:cs typeface="Courier New" charset="0"/>
                      </a:endParaRPr>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/api/admin/overview</a:t>
                      </a:r>
                      <a:endParaRPr lang="en-US" sz="950" dirty="0">
                        <a:latin typeface="Courier New" charset="0"/>
                        <a:ea typeface="Courier New" charset="0"/>
                        <a:cs typeface="Courier New" charset="0"/>
                      </a:endParaRPr>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indent="0" marL="0">
                        <a:buNone/>
                      </a:pPr>
                      <a:r>
                        <a:rPr lang="en-US" sz="950" dirty="0">
                          <a:solidFill>
                            <a:srgbClr val="FFFFFF"/>
                          </a:solidFill>
                        </a:rPr>
                        <a:t>Admin station</a:t>
                      </a:r>
                      <a:endParaRPr lang="en-US" sz="950" dirty="0"/>
                    </a:p>
                  </a:txBody>
                  <a:tcPr marL="73152" marR="73152" marT="18288" marB="18288"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bl>
          </a:graphicData>
        </a:graphic>
      </p:graphicFrame>
      <p:sp>
        <p:nvSpPr>
          <p:cNvPr id="8" name="Text 5"/>
          <p:cNvSpPr txBox="1"/>
          <p:nvPr/>
        </p:nvSpPr>
        <p:spPr>
          <a:xfrm>
            <a:off x="3703320" y="2926080"/>
            <a:ext cx="4846320" cy="237744"/>
          </a:xfrm>
          <a:prstGeom prst="rect">
            <a:avLst/>
          </a:prstGeom>
          <a:noFill/>
          <a:ln/>
        </p:spPr>
        <p:txBody>
          <a:bodyPr wrap="square" lIns="0" tIns="0" rIns="0" bIns="0" rtlCol="0" anchor="t"/>
          <a:lstStyle/>
          <a:p>
            <a:pPr indent="0" marL="0">
              <a:buNone/>
            </a:pPr>
            <a:r>
              <a:rPr lang="en-US" sz="1000" b="1" dirty="0">
                <a:solidFill>
                  <a:schemeClr val="accent2"/>
                </a:solidFill>
              </a:rPr>
              <a:t>DATABASE (SQLITE)</a:t>
            </a:r>
            <a:endParaRPr lang="en-US" sz="1000" dirty="0"/>
          </a:p>
        </p:txBody>
      </p:sp>
      <p:sp>
        <p:nvSpPr>
          <p:cNvPr id="9" name="Shape 6"/>
          <p:cNvSpPr/>
          <p:nvPr/>
        </p:nvSpPr>
        <p:spPr>
          <a:xfrm>
            <a:off x="3703320" y="3200400"/>
            <a:ext cx="4892040" cy="301752"/>
          </a:xfrm>
          <a:prstGeom prst="roundRect">
            <a:avLst>
              <a:gd name="adj" fmla="val 18182"/>
            </a:avLst>
          </a:prstGeom>
          <a:solidFill>
            <a:srgbClr val="1B4670">
              <a:alpha val="80000"/>
            </a:srgbClr>
          </a:solidFill>
          <a:ln w="15875">
            <a:solidFill>
              <a:srgbClr val="FFFFFF"/>
            </a:solidFill>
            <a:prstDash val="solid"/>
          </a:ln>
        </p:spPr>
      </p:sp>
      <p:sp>
        <p:nvSpPr>
          <p:cNvPr id="10" name="Text 7"/>
          <p:cNvSpPr txBox="1"/>
          <p:nvPr/>
        </p:nvSpPr>
        <p:spPr>
          <a:xfrm>
            <a:off x="3822192" y="3200400"/>
            <a:ext cx="868680" cy="301752"/>
          </a:xfrm>
          <a:prstGeom prst="rect">
            <a:avLst/>
          </a:prstGeom>
          <a:noFill/>
          <a:ln/>
        </p:spPr>
        <p:txBody>
          <a:bodyPr wrap="square" lIns="0" tIns="0" rIns="0" bIns="0" rtlCol="0" anchor="ctr"/>
          <a:lstStyle/>
          <a:p>
            <a:pPr indent="0" marL="0">
              <a:buNone/>
            </a:pPr>
            <a:r>
              <a:rPr lang="en-US" sz="950" b="1" dirty="0">
                <a:solidFill>
                  <a:schemeClr val="accent2"/>
                </a:solidFill>
                <a:latin typeface="Courier New" pitchFamily="34" charset="0"/>
                <a:ea typeface="Courier New" pitchFamily="34" charset="-122"/>
                <a:cs typeface="Courier New" pitchFamily="34" charset="-120"/>
              </a:rPr>
              <a:t>users</a:t>
            </a:r>
            <a:endParaRPr lang="en-US" sz="950" dirty="0"/>
          </a:p>
        </p:txBody>
      </p:sp>
      <p:sp>
        <p:nvSpPr>
          <p:cNvPr id="11" name="Text 8"/>
          <p:cNvSpPr txBox="1"/>
          <p:nvPr/>
        </p:nvSpPr>
        <p:spPr>
          <a:xfrm>
            <a:off x="4709160" y="3200400"/>
            <a:ext cx="3840480" cy="301752"/>
          </a:xfrm>
          <a:prstGeom prst="rect">
            <a:avLst/>
          </a:prstGeom>
          <a:noFill/>
          <a:ln/>
        </p:spPr>
        <p:txBody>
          <a:bodyPr wrap="square" lIns="0" tIns="0" rIns="0" bIns="0" rtlCol="0" anchor="ctr"/>
          <a:lstStyle/>
          <a:p>
            <a:pPr indent="0" marL="0">
              <a:buNone/>
            </a:pPr>
            <a:r>
              <a:rPr lang="en-US" sz="900" dirty="0">
                <a:solidFill>
                  <a:schemeClr val="bg1"/>
                </a:solidFill>
                <a:latin typeface="Courier New" pitchFamily="34" charset="0"/>
                <a:ea typeface="Courier New" pitchFamily="34" charset="-122"/>
                <a:cs typeface="Courier New" pitchFamily="34" charset="-120"/>
              </a:rPr>
              <a:t>id, name, role, baseline, emergency_chat</a:t>
            </a:r>
            <a:endParaRPr lang="en-US" sz="900" dirty="0"/>
          </a:p>
        </p:txBody>
      </p:sp>
      <p:sp>
        <p:nvSpPr>
          <p:cNvPr id="12" name="Shape 9"/>
          <p:cNvSpPr/>
          <p:nvPr/>
        </p:nvSpPr>
        <p:spPr>
          <a:xfrm>
            <a:off x="3703320" y="3557016"/>
            <a:ext cx="4892040" cy="301752"/>
          </a:xfrm>
          <a:prstGeom prst="roundRect">
            <a:avLst>
              <a:gd name="adj" fmla="val 18182"/>
            </a:avLst>
          </a:prstGeom>
          <a:solidFill>
            <a:srgbClr val="1B4670">
              <a:alpha val="80000"/>
            </a:srgbClr>
          </a:solidFill>
          <a:ln w="15875">
            <a:solidFill>
              <a:srgbClr val="FFFFFF"/>
            </a:solidFill>
            <a:prstDash val="solid"/>
          </a:ln>
        </p:spPr>
      </p:sp>
      <p:sp>
        <p:nvSpPr>
          <p:cNvPr id="13" name="Text 10"/>
          <p:cNvSpPr txBox="1"/>
          <p:nvPr/>
        </p:nvSpPr>
        <p:spPr>
          <a:xfrm>
            <a:off x="3822192" y="3557016"/>
            <a:ext cx="868680" cy="301752"/>
          </a:xfrm>
          <a:prstGeom prst="rect">
            <a:avLst/>
          </a:prstGeom>
          <a:noFill/>
          <a:ln/>
        </p:spPr>
        <p:txBody>
          <a:bodyPr wrap="square" lIns="0" tIns="0" rIns="0" bIns="0" rtlCol="0" anchor="ctr"/>
          <a:lstStyle/>
          <a:p>
            <a:pPr indent="0" marL="0">
              <a:buNone/>
            </a:pPr>
            <a:r>
              <a:rPr lang="en-US" sz="950" b="1" dirty="0">
                <a:solidFill>
                  <a:schemeClr val="accent2"/>
                </a:solidFill>
                <a:latin typeface="Courier New" pitchFamily="34" charset="0"/>
                <a:ea typeface="Courier New" pitchFamily="34" charset="-122"/>
                <a:cs typeface="Courier New" pitchFamily="34" charset="-120"/>
              </a:rPr>
              <a:t>sessions</a:t>
            </a:r>
            <a:endParaRPr lang="en-US" sz="950" dirty="0"/>
          </a:p>
        </p:txBody>
      </p:sp>
      <p:sp>
        <p:nvSpPr>
          <p:cNvPr id="14" name="Text 11"/>
          <p:cNvSpPr txBox="1"/>
          <p:nvPr/>
        </p:nvSpPr>
        <p:spPr>
          <a:xfrm>
            <a:off x="4709160" y="3557016"/>
            <a:ext cx="3840480" cy="301752"/>
          </a:xfrm>
          <a:prstGeom prst="rect">
            <a:avLst/>
          </a:prstGeom>
          <a:noFill/>
          <a:ln/>
        </p:spPr>
        <p:txBody>
          <a:bodyPr wrap="square" lIns="0" tIns="0" rIns="0" bIns="0" rtlCol="0" anchor="ctr"/>
          <a:lstStyle/>
          <a:p>
            <a:pPr indent="0" marL="0">
              <a:buNone/>
            </a:pPr>
            <a:r>
              <a:rPr lang="en-US" sz="900" dirty="0">
                <a:solidFill>
                  <a:schemeClr val="bg1"/>
                </a:solidFill>
                <a:latin typeface="Courier New" pitchFamily="34" charset="0"/>
                <a:ea typeface="Courier New" pitchFamily="34" charset="-122"/>
                <a:cs typeface="Courier New" pitchFamily="34" charset="-120"/>
              </a:rPr>
              <a:t>id, user_id, start, end</a:t>
            </a:r>
            <a:endParaRPr lang="en-US" sz="900" dirty="0"/>
          </a:p>
        </p:txBody>
      </p:sp>
      <p:sp>
        <p:nvSpPr>
          <p:cNvPr id="15" name="Shape 12"/>
          <p:cNvSpPr/>
          <p:nvPr/>
        </p:nvSpPr>
        <p:spPr>
          <a:xfrm>
            <a:off x="3703320" y="3913632"/>
            <a:ext cx="4892040" cy="301752"/>
          </a:xfrm>
          <a:prstGeom prst="roundRect">
            <a:avLst>
              <a:gd name="adj" fmla="val 18182"/>
            </a:avLst>
          </a:prstGeom>
          <a:solidFill>
            <a:srgbClr val="1B4670">
              <a:alpha val="80000"/>
            </a:srgbClr>
          </a:solidFill>
          <a:ln w="15875">
            <a:solidFill>
              <a:srgbClr val="FFFFFF"/>
            </a:solidFill>
            <a:prstDash val="solid"/>
          </a:ln>
        </p:spPr>
      </p:sp>
      <p:sp>
        <p:nvSpPr>
          <p:cNvPr id="16" name="Text 13"/>
          <p:cNvSpPr txBox="1"/>
          <p:nvPr/>
        </p:nvSpPr>
        <p:spPr>
          <a:xfrm>
            <a:off x="3822192" y="3913632"/>
            <a:ext cx="868680" cy="301752"/>
          </a:xfrm>
          <a:prstGeom prst="rect">
            <a:avLst/>
          </a:prstGeom>
          <a:noFill/>
          <a:ln/>
        </p:spPr>
        <p:txBody>
          <a:bodyPr wrap="square" lIns="0" tIns="0" rIns="0" bIns="0" rtlCol="0" anchor="ctr"/>
          <a:lstStyle/>
          <a:p>
            <a:pPr indent="0" marL="0">
              <a:buNone/>
            </a:pPr>
            <a:r>
              <a:rPr lang="en-US" sz="950" b="1" dirty="0">
                <a:solidFill>
                  <a:schemeClr val="accent2"/>
                </a:solidFill>
                <a:latin typeface="Courier New" pitchFamily="34" charset="0"/>
                <a:ea typeface="Courier New" pitchFamily="34" charset="-122"/>
                <a:cs typeface="Courier New" pitchFamily="34" charset="-120"/>
              </a:rPr>
              <a:t>readings</a:t>
            </a:r>
            <a:endParaRPr lang="en-US" sz="950" dirty="0"/>
          </a:p>
        </p:txBody>
      </p:sp>
      <p:sp>
        <p:nvSpPr>
          <p:cNvPr id="17" name="Text 14"/>
          <p:cNvSpPr txBox="1"/>
          <p:nvPr/>
        </p:nvSpPr>
        <p:spPr>
          <a:xfrm>
            <a:off x="4709160" y="3913632"/>
            <a:ext cx="3840480" cy="301752"/>
          </a:xfrm>
          <a:prstGeom prst="rect">
            <a:avLst/>
          </a:prstGeom>
          <a:noFill/>
          <a:ln/>
        </p:spPr>
        <p:txBody>
          <a:bodyPr wrap="square" lIns="0" tIns="0" rIns="0" bIns="0" rtlCol="0" anchor="ctr"/>
          <a:lstStyle/>
          <a:p>
            <a:pPr indent="0" marL="0">
              <a:buNone/>
            </a:pPr>
            <a:r>
              <a:rPr lang="en-US" sz="900" dirty="0">
                <a:solidFill>
                  <a:schemeClr val="bg1"/>
                </a:solidFill>
                <a:latin typeface="Courier New" pitchFamily="34" charset="0"/>
                <a:ea typeface="Courier New" pitchFamily="34" charset="-122"/>
                <a:cs typeface="Courier New" pitchFamily="34" charset="-120"/>
              </a:rPr>
              <a:t>id, session_id, ts, bpm, spo2, temp, anomaly</a:t>
            </a:r>
            <a:endParaRPr lang="en-US" sz="900" dirty="0"/>
          </a:p>
        </p:txBody>
      </p:sp>
      <p:sp>
        <p:nvSpPr>
          <p:cNvPr id="18" name="Shape 15"/>
          <p:cNvSpPr/>
          <p:nvPr/>
        </p:nvSpPr>
        <p:spPr>
          <a:xfrm>
            <a:off x="3703320" y="4270248"/>
            <a:ext cx="4892040" cy="301752"/>
          </a:xfrm>
          <a:prstGeom prst="roundRect">
            <a:avLst>
              <a:gd name="adj" fmla="val 18182"/>
            </a:avLst>
          </a:prstGeom>
          <a:solidFill>
            <a:srgbClr val="1B4670">
              <a:alpha val="80000"/>
            </a:srgbClr>
          </a:solidFill>
          <a:ln w="15875">
            <a:solidFill>
              <a:srgbClr val="FFFFFF"/>
            </a:solidFill>
            <a:prstDash val="solid"/>
          </a:ln>
        </p:spPr>
      </p:sp>
      <p:sp>
        <p:nvSpPr>
          <p:cNvPr id="19" name="Text 16"/>
          <p:cNvSpPr txBox="1"/>
          <p:nvPr/>
        </p:nvSpPr>
        <p:spPr>
          <a:xfrm>
            <a:off x="3822192" y="4270248"/>
            <a:ext cx="868680" cy="301752"/>
          </a:xfrm>
          <a:prstGeom prst="rect">
            <a:avLst/>
          </a:prstGeom>
          <a:noFill/>
          <a:ln/>
        </p:spPr>
        <p:txBody>
          <a:bodyPr wrap="square" lIns="0" tIns="0" rIns="0" bIns="0" rtlCol="0" anchor="ctr"/>
          <a:lstStyle/>
          <a:p>
            <a:pPr indent="0" marL="0">
              <a:buNone/>
            </a:pPr>
            <a:r>
              <a:rPr lang="en-US" sz="950" b="1" dirty="0">
                <a:solidFill>
                  <a:schemeClr val="accent2"/>
                </a:solidFill>
                <a:latin typeface="Courier New" pitchFamily="34" charset="0"/>
                <a:ea typeface="Courier New" pitchFamily="34" charset="-122"/>
                <a:cs typeface="Courier New" pitchFamily="34" charset="-120"/>
              </a:rPr>
              <a:t>alerts</a:t>
            </a:r>
            <a:endParaRPr lang="en-US" sz="950" dirty="0"/>
          </a:p>
        </p:txBody>
      </p:sp>
      <p:sp>
        <p:nvSpPr>
          <p:cNvPr id="20" name="Text 17"/>
          <p:cNvSpPr txBox="1"/>
          <p:nvPr/>
        </p:nvSpPr>
        <p:spPr>
          <a:xfrm>
            <a:off x="4709160" y="4270248"/>
            <a:ext cx="3840480" cy="301752"/>
          </a:xfrm>
          <a:prstGeom prst="rect">
            <a:avLst/>
          </a:prstGeom>
          <a:noFill/>
          <a:ln/>
        </p:spPr>
        <p:txBody>
          <a:bodyPr wrap="square" lIns="0" tIns="0" rIns="0" bIns="0" rtlCol="0" anchor="ctr"/>
          <a:lstStyle/>
          <a:p>
            <a:pPr indent="0" marL="0">
              <a:buNone/>
            </a:pPr>
            <a:r>
              <a:rPr lang="en-US" sz="900" dirty="0">
                <a:solidFill>
                  <a:schemeClr val="bg1"/>
                </a:solidFill>
                <a:latin typeface="Courier New" pitchFamily="34" charset="0"/>
                <a:ea typeface="Courier New" pitchFamily="34" charset="-122"/>
                <a:cs typeface="Courier New" pitchFamily="34" charset="-120"/>
              </a:rPr>
              <a:t>id, user_id, ts, type, reason, sent_to</a:t>
            </a:r>
            <a:endParaRPr lang="en-US" sz="90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USER DASHBOARD: SIMPLE MODE</a:t>
            </a:r>
            <a:endParaRPr lang="en-US" sz="3000" dirty="0"/>
          </a:p>
        </p:txBody>
      </p:sp>
      <p:sp>
        <p:nvSpPr>
          <p:cNvPr id="3" name="Shape 1"/>
          <p:cNvSpPr/>
          <p:nvPr/>
        </p:nvSpPr>
        <p:spPr>
          <a:xfrm>
            <a:off x="557784" y="1197864"/>
            <a:ext cx="5285232" cy="3328416"/>
          </a:xfrm>
          <a:prstGeom prst="rect">
            <a:avLst/>
          </a:prstGeom>
          <a:solidFill>
            <a:srgbClr val="FFFFFF"/>
          </a:solidFill>
          <a:ln w="12700">
            <a:solidFill>
              <a:srgbClr val="FFFFFF"/>
            </a:solidFill>
            <a:prstDash val="solid"/>
          </a:ln>
        </p:spPr>
      </p:sp>
      <p:pic>
        <p:nvPicPr>
          <p:cNvPr id="4" name="Image 0" descr="img/dash_simple.png">    </p:cNvPr>
          <p:cNvPicPr>
            <a:picLocks noChangeAspect="1"/>
          </p:cNvPicPr>
          <p:nvPr/>
        </p:nvPicPr>
        <p:blipFill>
          <a:blip r:embed="rId1"/>
          <a:stretch>
            <a:fillRect/>
          </a:stretch>
        </p:blipFill>
        <p:spPr>
          <a:xfrm>
            <a:off x="594360" y="1234440"/>
            <a:ext cx="5212080" cy="3255264"/>
          </a:xfrm>
          <a:prstGeom prst="rect">
            <a:avLst/>
          </a:prstGeom>
        </p:spPr>
      </p:pic>
      <p:sp>
        <p:nvSpPr>
          <p:cNvPr id="5" name="Shape 2"/>
          <p:cNvSpPr/>
          <p:nvPr/>
        </p:nvSpPr>
        <p:spPr>
          <a:xfrm>
            <a:off x="6153912" y="1280160"/>
            <a:ext cx="402336" cy="402336"/>
          </a:xfrm>
          <a:prstGeom prst="ellipse">
            <a:avLst/>
          </a:prstGeom>
          <a:solidFill>
            <a:srgbClr val="214F7B"/>
          </a:solidFill>
          <a:ln w="19050">
            <a:solidFill>
              <a:srgbClr val="FFFFFF"/>
            </a:solidFill>
            <a:prstDash val="solid"/>
          </a:ln>
        </p:spPr>
      </p:sp>
      <p:sp>
        <p:nvSpPr>
          <p:cNvPr id="6" name="Text 3"/>
          <p:cNvSpPr txBox="1"/>
          <p:nvPr/>
        </p:nvSpPr>
        <p:spPr>
          <a:xfrm>
            <a:off x="6153912" y="128016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6675120" y="1325880"/>
            <a:ext cx="1965960" cy="310896"/>
          </a:xfrm>
          <a:prstGeom prst="rect">
            <a:avLst/>
          </a:prstGeom>
          <a:noFill/>
          <a:ln/>
        </p:spPr>
        <p:txBody>
          <a:bodyPr wrap="square" lIns="0" tIns="0" rIns="0" bIns="0" rtlCol="0" anchor="t"/>
          <a:lstStyle/>
          <a:p>
            <a:pPr indent="0" marL="0">
              <a:buNone/>
            </a:pPr>
            <a:r>
              <a:rPr lang="en-US" sz="1250" b="1" dirty="0">
                <a:solidFill>
                  <a:schemeClr val="bg1"/>
                </a:solidFill>
              </a:rPr>
              <a:t>Live pulse wave</a:t>
            </a:r>
            <a:endParaRPr lang="en-US" sz="1250" dirty="0"/>
          </a:p>
        </p:txBody>
      </p:sp>
      <p:sp>
        <p:nvSpPr>
          <p:cNvPr id="8" name="Text 5"/>
          <p:cNvSpPr txBox="1"/>
          <p:nvPr/>
        </p:nvSpPr>
        <p:spPr>
          <a:xfrm>
            <a:off x="6675120" y="1664208"/>
            <a:ext cx="1965960" cy="640080"/>
          </a:xfrm>
          <a:prstGeom prst="rect">
            <a:avLst/>
          </a:prstGeom>
          <a:noFill/>
          <a:ln/>
        </p:spPr>
        <p:txBody>
          <a:bodyPr wrap="square" lIns="0" tIns="0" rIns="0" bIns="0" rtlCol="0" anchor="t"/>
          <a:lstStyle/>
          <a:p>
            <a:pPr indent="0" marL="0">
              <a:buNone/>
            </a:pPr>
            <a:r>
              <a:rPr lang="en-US" sz="1050" dirty="0">
                <a:solidFill>
                  <a:schemeClr val="bg2"/>
                </a:solidFill>
              </a:rPr>
              <a:t>A hospital-monitor style trace that beats at your real heart rate.</a:t>
            </a:r>
            <a:endParaRPr lang="en-US" sz="1050" dirty="0"/>
          </a:p>
        </p:txBody>
      </p:sp>
      <p:sp>
        <p:nvSpPr>
          <p:cNvPr id="9" name="Shape 6"/>
          <p:cNvSpPr/>
          <p:nvPr/>
        </p:nvSpPr>
        <p:spPr>
          <a:xfrm>
            <a:off x="6153912" y="2377440"/>
            <a:ext cx="402336" cy="402336"/>
          </a:xfrm>
          <a:prstGeom prst="ellipse">
            <a:avLst/>
          </a:prstGeom>
          <a:solidFill>
            <a:srgbClr val="214F7B"/>
          </a:solidFill>
          <a:ln w="19050">
            <a:solidFill>
              <a:srgbClr val="FFFFFF"/>
            </a:solidFill>
            <a:prstDash val="solid"/>
          </a:ln>
        </p:spPr>
      </p:sp>
      <p:sp>
        <p:nvSpPr>
          <p:cNvPr id="10" name="Text 7"/>
          <p:cNvSpPr txBox="1"/>
          <p:nvPr/>
        </p:nvSpPr>
        <p:spPr>
          <a:xfrm>
            <a:off x="6153912" y="237744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8"/>
          <p:cNvSpPr txBox="1"/>
          <p:nvPr/>
        </p:nvSpPr>
        <p:spPr>
          <a:xfrm>
            <a:off x="6675120" y="2423160"/>
            <a:ext cx="1965960" cy="310896"/>
          </a:xfrm>
          <a:prstGeom prst="rect">
            <a:avLst/>
          </a:prstGeom>
          <a:noFill/>
          <a:ln/>
        </p:spPr>
        <p:txBody>
          <a:bodyPr wrap="square" lIns="0" tIns="0" rIns="0" bIns="0" rtlCol="0" anchor="t"/>
          <a:lstStyle/>
          <a:p>
            <a:pPr indent="0" marL="0">
              <a:buNone/>
            </a:pPr>
            <a:r>
              <a:rPr lang="en-US" sz="1250" b="1" dirty="0">
                <a:solidFill>
                  <a:schemeClr val="bg1"/>
                </a:solidFill>
              </a:rPr>
              <a:t>One clear status</a:t>
            </a:r>
            <a:endParaRPr lang="en-US" sz="1250" dirty="0"/>
          </a:p>
        </p:txBody>
      </p:sp>
      <p:sp>
        <p:nvSpPr>
          <p:cNvPr id="12" name="Text 9"/>
          <p:cNvSpPr txBox="1"/>
          <p:nvPr/>
        </p:nvSpPr>
        <p:spPr>
          <a:xfrm>
            <a:off x="6675120" y="2761488"/>
            <a:ext cx="1965960" cy="640080"/>
          </a:xfrm>
          <a:prstGeom prst="rect">
            <a:avLst/>
          </a:prstGeom>
          <a:noFill/>
          <a:ln/>
        </p:spPr>
        <p:txBody>
          <a:bodyPr wrap="square" lIns="0" tIns="0" rIns="0" bIns="0" rtlCol="0" anchor="t"/>
          <a:lstStyle/>
          <a:p>
            <a:pPr indent="0" marL="0">
              <a:buNone/>
            </a:pPr>
            <a:r>
              <a:rPr lang="en-US" sz="1050" dirty="0">
                <a:solidFill>
                  <a:schemeClr val="bg2"/>
                </a:solidFill>
              </a:rPr>
              <a:t>All good, Keep an eye, or Check this. Nothing to decode.</a:t>
            </a:r>
            <a:endParaRPr lang="en-US" sz="1050" dirty="0"/>
          </a:p>
        </p:txBody>
      </p:sp>
      <p:sp>
        <p:nvSpPr>
          <p:cNvPr id="13" name="Shape 10"/>
          <p:cNvSpPr/>
          <p:nvPr/>
        </p:nvSpPr>
        <p:spPr>
          <a:xfrm>
            <a:off x="6153912" y="3474720"/>
            <a:ext cx="402336" cy="402336"/>
          </a:xfrm>
          <a:prstGeom prst="ellipse">
            <a:avLst/>
          </a:prstGeom>
          <a:solidFill>
            <a:srgbClr val="214F7B"/>
          </a:solidFill>
          <a:ln w="19050">
            <a:solidFill>
              <a:srgbClr val="FFFFFF"/>
            </a:solidFill>
            <a:prstDash val="solid"/>
          </a:ln>
        </p:spPr>
      </p:sp>
      <p:sp>
        <p:nvSpPr>
          <p:cNvPr id="14" name="Text 11"/>
          <p:cNvSpPr txBox="1"/>
          <p:nvPr/>
        </p:nvSpPr>
        <p:spPr>
          <a:xfrm>
            <a:off x="6153912" y="347472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2"/>
          <p:cNvSpPr txBox="1"/>
          <p:nvPr/>
        </p:nvSpPr>
        <p:spPr>
          <a:xfrm>
            <a:off x="6675120" y="3520440"/>
            <a:ext cx="1965960" cy="310896"/>
          </a:xfrm>
          <a:prstGeom prst="rect">
            <a:avLst/>
          </a:prstGeom>
          <a:noFill/>
          <a:ln/>
        </p:spPr>
        <p:txBody>
          <a:bodyPr wrap="square" lIns="0" tIns="0" rIns="0" bIns="0" rtlCol="0" anchor="t"/>
          <a:lstStyle/>
          <a:p>
            <a:pPr indent="0" marL="0">
              <a:buNone/>
            </a:pPr>
            <a:r>
              <a:rPr lang="en-US" sz="1250" b="1" dirty="0">
                <a:solidFill>
                  <a:schemeClr val="bg1"/>
                </a:solidFill>
              </a:rPr>
              <a:t>Plain-English insights</a:t>
            </a:r>
            <a:endParaRPr lang="en-US" sz="1250" dirty="0"/>
          </a:p>
        </p:txBody>
      </p:sp>
      <p:sp>
        <p:nvSpPr>
          <p:cNvPr id="16" name="Text 13"/>
          <p:cNvSpPr txBox="1"/>
          <p:nvPr/>
        </p:nvSpPr>
        <p:spPr>
          <a:xfrm>
            <a:off x="6675120" y="3858768"/>
            <a:ext cx="1965960" cy="640080"/>
          </a:xfrm>
          <a:prstGeom prst="rect">
            <a:avLst/>
          </a:prstGeom>
          <a:noFill/>
          <a:ln/>
        </p:spPr>
        <p:txBody>
          <a:bodyPr wrap="square" lIns="0" tIns="0" rIns="0" bIns="0" rtlCol="0" anchor="t"/>
          <a:lstStyle/>
          <a:p>
            <a:pPr indent="0" marL="0">
              <a:buNone/>
            </a:pPr>
            <a:r>
              <a:rPr lang="en-US" sz="1050" dirty="0">
                <a:solidFill>
                  <a:schemeClr val="bg2"/>
                </a:solidFill>
              </a:rPr>
              <a:t>The ML compares today with your own usual, not a textbook.</a:t>
            </a:r>
            <a:endParaRPr lang="en-US" sz="10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DETAILED MODE &amp; ADMIN</a:t>
            </a:r>
            <a:endParaRPr lang="en-US" sz="3000" dirty="0"/>
          </a:p>
        </p:txBody>
      </p:sp>
      <p:sp>
        <p:nvSpPr>
          <p:cNvPr id="3" name="Shape 1"/>
          <p:cNvSpPr/>
          <p:nvPr/>
        </p:nvSpPr>
        <p:spPr>
          <a:xfrm>
            <a:off x="557784" y="1197864"/>
            <a:ext cx="3913632" cy="2478024"/>
          </a:xfrm>
          <a:prstGeom prst="rect">
            <a:avLst/>
          </a:prstGeom>
          <a:solidFill>
            <a:srgbClr val="FFFFFF"/>
          </a:solidFill>
          <a:ln w="12700">
            <a:solidFill>
              <a:srgbClr val="FFFFFF"/>
            </a:solidFill>
            <a:prstDash val="solid"/>
          </a:ln>
        </p:spPr>
      </p:sp>
      <p:pic>
        <p:nvPicPr>
          <p:cNvPr id="4" name="Image 0" descr="img/dash_detailed.png">    </p:cNvPr>
          <p:cNvPicPr>
            <a:picLocks noChangeAspect="1"/>
          </p:cNvPicPr>
          <p:nvPr/>
        </p:nvPicPr>
        <p:blipFill>
          <a:blip r:embed="rId1"/>
          <a:stretch>
            <a:fillRect/>
          </a:stretch>
        </p:blipFill>
        <p:spPr>
          <a:xfrm>
            <a:off x="594360" y="1234440"/>
            <a:ext cx="3840480" cy="2404872"/>
          </a:xfrm>
          <a:prstGeom prst="rect">
            <a:avLst/>
          </a:prstGeom>
        </p:spPr>
      </p:pic>
      <p:sp>
        <p:nvSpPr>
          <p:cNvPr id="5" name="Shape 2"/>
          <p:cNvSpPr/>
          <p:nvPr/>
        </p:nvSpPr>
        <p:spPr>
          <a:xfrm>
            <a:off x="1600200" y="3767328"/>
            <a:ext cx="1828800" cy="347472"/>
          </a:xfrm>
          <a:prstGeom prst="roundRect">
            <a:avLst>
              <a:gd name="adj" fmla="val 50000"/>
            </a:avLst>
          </a:prstGeom>
          <a:solidFill>
            <a:srgbClr val="214F7B"/>
          </a:solidFill>
          <a:ln w="15875">
            <a:solidFill>
              <a:srgbClr val="FFFFFF"/>
            </a:solidFill>
            <a:prstDash val="solid"/>
          </a:ln>
        </p:spPr>
      </p:sp>
      <p:sp>
        <p:nvSpPr>
          <p:cNvPr id="6" name="Text 3"/>
          <p:cNvSpPr txBox="1"/>
          <p:nvPr/>
        </p:nvSpPr>
        <p:spPr>
          <a:xfrm>
            <a:off x="1600200" y="3767328"/>
            <a:ext cx="1828800" cy="347472"/>
          </a:xfrm>
          <a:prstGeom prst="rect">
            <a:avLst/>
          </a:prstGeom>
          <a:noFill/>
          <a:ln/>
        </p:spPr>
        <p:txBody>
          <a:bodyPr wrap="square" lIns="0" tIns="0" rIns="0" bIns="0" rtlCol="0" anchor="ctr"/>
          <a:lstStyle/>
          <a:p>
            <a:pPr algn="ctr" indent="0" marL="0">
              <a:buNone/>
            </a:pPr>
            <a:r>
              <a:rPr lang="en-US" sz="1050" b="1" dirty="0">
                <a:solidFill>
                  <a:schemeClr val="bg1"/>
                </a:solidFill>
              </a:rPr>
              <a:t>DETAILED MODE</a:t>
            </a:r>
            <a:endParaRPr lang="en-US" sz="1050" dirty="0"/>
          </a:p>
        </p:txBody>
      </p:sp>
      <p:sp>
        <p:nvSpPr>
          <p:cNvPr id="7" name="Text 4"/>
          <p:cNvSpPr txBox="1"/>
          <p:nvPr/>
        </p:nvSpPr>
        <p:spPr>
          <a:xfrm>
            <a:off x="594360" y="4206240"/>
            <a:ext cx="3840480" cy="457200"/>
          </a:xfrm>
          <a:prstGeom prst="rect">
            <a:avLst/>
          </a:prstGeom>
          <a:noFill/>
          <a:ln/>
        </p:spPr>
        <p:txBody>
          <a:bodyPr wrap="square" lIns="0" tIns="0" rIns="0" bIns="0" rtlCol="0" anchor="t"/>
          <a:lstStyle/>
          <a:p>
            <a:pPr algn="ctr" indent="0" marL="0">
              <a:buNone/>
            </a:pPr>
            <a:r>
              <a:rPr lang="en-US" sz="1050" dirty="0">
                <a:solidFill>
                  <a:schemeClr val="bg2"/>
                </a:solidFill>
              </a:rPr>
              <a:t>Raw infrared and red signals, exact values, ML anomaly score, signal quality and device health.</a:t>
            </a:r>
            <a:endParaRPr lang="en-US" sz="1050" dirty="0"/>
          </a:p>
        </p:txBody>
      </p:sp>
      <p:sp>
        <p:nvSpPr>
          <p:cNvPr id="8" name="Shape 5"/>
          <p:cNvSpPr/>
          <p:nvPr/>
        </p:nvSpPr>
        <p:spPr>
          <a:xfrm>
            <a:off x="4718304" y="1197864"/>
            <a:ext cx="3913632" cy="2478024"/>
          </a:xfrm>
          <a:prstGeom prst="rect">
            <a:avLst/>
          </a:prstGeom>
          <a:solidFill>
            <a:srgbClr val="FFFFFF"/>
          </a:solidFill>
          <a:ln w="12700">
            <a:solidFill>
              <a:srgbClr val="FFFFFF"/>
            </a:solidFill>
            <a:prstDash val="solid"/>
          </a:ln>
        </p:spPr>
      </p:sp>
      <p:pic>
        <p:nvPicPr>
          <p:cNvPr id="9" name="Image 1" descr="img/dash_admin.png">    </p:cNvPr>
          <p:cNvPicPr>
            <a:picLocks noChangeAspect="1"/>
          </p:cNvPicPr>
          <p:nvPr/>
        </p:nvPicPr>
        <p:blipFill>
          <a:blip r:embed="rId2"/>
          <a:stretch>
            <a:fillRect/>
          </a:stretch>
        </p:blipFill>
        <p:spPr>
          <a:xfrm>
            <a:off x="4754880" y="1234440"/>
            <a:ext cx="3840480" cy="2404872"/>
          </a:xfrm>
          <a:prstGeom prst="rect">
            <a:avLst/>
          </a:prstGeom>
        </p:spPr>
      </p:pic>
      <p:sp>
        <p:nvSpPr>
          <p:cNvPr id="10" name="Shape 6"/>
          <p:cNvSpPr/>
          <p:nvPr/>
        </p:nvSpPr>
        <p:spPr>
          <a:xfrm>
            <a:off x="5760720" y="3767328"/>
            <a:ext cx="1828800" cy="347472"/>
          </a:xfrm>
          <a:prstGeom prst="roundRect">
            <a:avLst>
              <a:gd name="adj" fmla="val 50000"/>
            </a:avLst>
          </a:prstGeom>
          <a:solidFill>
            <a:srgbClr val="214F7B"/>
          </a:solidFill>
          <a:ln w="15875">
            <a:solidFill>
              <a:srgbClr val="FFFFFF"/>
            </a:solidFill>
            <a:prstDash val="solid"/>
          </a:ln>
        </p:spPr>
      </p:sp>
      <p:sp>
        <p:nvSpPr>
          <p:cNvPr id="11" name="Text 7"/>
          <p:cNvSpPr txBox="1"/>
          <p:nvPr/>
        </p:nvSpPr>
        <p:spPr>
          <a:xfrm>
            <a:off x="5760720" y="3767328"/>
            <a:ext cx="1828800" cy="347472"/>
          </a:xfrm>
          <a:prstGeom prst="rect">
            <a:avLst/>
          </a:prstGeom>
          <a:noFill/>
          <a:ln/>
        </p:spPr>
        <p:txBody>
          <a:bodyPr wrap="square" lIns="0" tIns="0" rIns="0" bIns="0" rtlCol="0" anchor="ctr"/>
          <a:lstStyle/>
          <a:p>
            <a:pPr algn="ctr" indent="0" marL="0">
              <a:buNone/>
            </a:pPr>
            <a:r>
              <a:rPr lang="en-US" sz="1050" b="1" dirty="0">
                <a:solidFill>
                  <a:schemeClr val="bg1"/>
                </a:solidFill>
              </a:rPr>
              <a:t>ADMIN STATION</a:t>
            </a:r>
            <a:endParaRPr lang="en-US" sz="1050" dirty="0"/>
          </a:p>
        </p:txBody>
      </p:sp>
      <p:sp>
        <p:nvSpPr>
          <p:cNvPr id="12" name="Text 8"/>
          <p:cNvSpPr txBox="1"/>
          <p:nvPr/>
        </p:nvSpPr>
        <p:spPr>
          <a:xfrm>
            <a:off x="4754880" y="4206240"/>
            <a:ext cx="3840480" cy="457200"/>
          </a:xfrm>
          <a:prstGeom prst="rect">
            <a:avLst/>
          </a:prstGeom>
          <a:noFill/>
          <a:ln/>
        </p:spPr>
        <p:txBody>
          <a:bodyPr wrap="square" lIns="0" tIns="0" rIns="0" bIns="0" rtlCol="0" anchor="t"/>
          <a:lstStyle/>
          <a:p>
            <a:pPr algn="ctr" indent="0" marL="0">
              <a:buNone/>
            </a:pPr>
            <a:r>
              <a:rPr lang="en-US" sz="1050" dirty="0">
                <a:solidFill>
                  <a:schemeClr val="bg2"/>
                </a:solidFill>
              </a:rPr>
              <a:t>Every user at a glance, like a nurses' station. A tile turns red when a reading is unusual for that person.</a:t>
            </a:r>
            <a:endParaRPr lang="en-US" sz="10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MACHINE LEARNING</a:t>
            </a:r>
            <a:endParaRPr lang="en-US" sz="3000" dirty="0"/>
          </a:p>
        </p:txBody>
      </p:sp>
      <p:sp>
        <p:nvSpPr>
          <p:cNvPr id="3" name="ml1"/>
          <p:cNvSpPr/>
          <p:nvPr/>
        </p:nvSpPr>
        <p:spPr>
          <a:xfrm>
            <a:off x="548640" y="1417320"/>
            <a:ext cx="1874520" cy="2377440"/>
          </a:xfrm>
          <a:prstGeom prst="roundRect">
            <a:avLst>
              <a:gd name="adj" fmla="val 6829"/>
            </a:avLst>
          </a:prstGeom>
          <a:solidFill>
            <a:srgbClr val="1B4670">
              <a:alpha val="70000"/>
            </a:srgbClr>
          </a:solidFill>
          <a:ln w="15875">
            <a:solidFill>
              <a:srgbClr val="FFD166"/>
            </a:solidFill>
            <a:prstDash val="solid"/>
          </a:ln>
        </p:spPr>
      </p:sp>
      <p:sp>
        <p:nvSpPr>
          <p:cNvPr id="4" name="Shape 2"/>
          <p:cNvSpPr/>
          <p:nvPr/>
        </p:nvSpPr>
        <p:spPr>
          <a:xfrm>
            <a:off x="777240" y="1234440"/>
            <a:ext cx="1417320" cy="329184"/>
          </a:xfrm>
          <a:prstGeom prst="roundRect">
            <a:avLst>
              <a:gd name="adj" fmla="val 50000"/>
            </a:avLst>
          </a:prstGeom>
          <a:solidFill>
            <a:srgbClr val="214F7B"/>
          </a:solidFill>
          <a:ln w="15875">
            <a:solidFill>
              <a:srgbClr val="FFFFFF"/>
            </a:solidFill>
            <a:prstDash val="solid"/>
          </a:ln>
        </p:spPr>
      </p:sp>
      <p:sp>
        <p:nvSpPr>
          <p:cNvPr id="5" name="Text 3"/>
          <p:cNvSpPr txBox="1"/>
          <p:nvPr/>
        </p:nvSpPr>
        <p:spPr>
          <a:xfrm>
            <a:off x="777240" y="1234440"/>
            <a:ext cx="1417320" cy="329184"/>
          </a:xfrm>
          <a:prstGeom prst="rect">
            <a:avLst/>
          </a:prstGeom>
          <a:noFill/>
          <a:ln/>
        </p:spPr>
        <p:txBody>
          <a:bodyPr wrap="square" lIns="0" tIns="0" rIns="0" bIns="0" rtlCol="0" anchor="ctr"/>
          <a:lstStyle/>
          <a:p>
            <a:pPr algn="ctr" indent="0" marL="0">
              <a:buNone/>
            </a:pPr>
            <a:r>
              <a:rPr lang="en-US" sz="950" b="1" dirty="0">
                <a:solidFill>
                  <a:schemeClr val="accent2"/>
                </a:solidFill>
              </a:rPr>
              <a:t>MAIN MODEL</a:t>
            </a:r>
            <a:endParaRPr lang="en-US" sz="950" dirty="0"/>
          </a:p>
        </p:txBody>
      </p:sp>
      <p:sp>
        <p:nvSpPr>
          <p:cNvPr id="6" name="Text 4"/>
          <p:cNvSpPr txBox="1"/>
          <p:nvPr/>
        </p:nvSpPr>
        <p:spPr>
          <a:xfrm>
            <a:off x="685800" y="1691640"/>
            <a:ext cx="1600200" cy="502920"/>
          </a:xfrm>
          <a:prstGeom prst="rect">
            <a:avLst/>
          </a:prstGeom>
          <a:noFill/>
          <a:ln/>
        </p:spPr>
        <p:txBody>
          <a:bodyPr wrap="square" lIns="0" tIns="0" rIns="0" bIns="0" rtlCol="0" anchor="ctr"/>
          <a:lstStyle/>
          <a:p>
            <a:pPr algn="ctr" indent="0" marL="0">
              <a:buNone/>
            </a:pPr>
            <a:r>
              <a:rPr lang="en-US" sz="1250" b="1" dirty="0">
                <a:solidFill>
                  <a:schemeClr val="bg1"/>
                </a:solidFill>
              </a:rPr>
              <a:t>Anomaly detection</a:t>
            </a:r>
            <a:endParaRPr lang="en-US" sz="1250" dirty="0"/>
          </a:p>
        </p:txBody>
      </p:sp>
      <p:sp>
        <p:nvSpPr>
          <p:cNvPr id="7" name="Text 5"/>
          <p:cNvSpPr txBox="1"/>
          <p:nvPr/>
        </p:nvSpPr>
        <p:spPr>
          <a:xfrm>
            <a:off x="685800" y="2240280"/>
            <a:ext cx="1600200" cy="1463040"/>
          </a:xfrm>
          <a:prstGeom prst="rect">
            <a:avLst/>
          </a:prstGeom>
          <a:noFill/>
          <a:ln/>
        </p:spPr>
        <p:txBody>
          <a:bodyPr wrap="square" lIns="0" tIns="0" rIns="0" bIns="0" rtlCol="0" anchor="t"/>
          <a:lstStyle/>
          <a:p>
            <a:pPr algn="ctr" indent="0" marL="0">
              <a:buNone/>
            </a:pPr>
            <a:r>
              <a:rPr lang="en-US" sz="1000" dirty="0">
                <a:solidFill>
                  <a:schemeClr val="bg2"/>
                </a:solidFill>
              </a:rPr>
              <a:t>Learns each user's usual heart rate, SpO₂ and temperature (Isolation Forest) and scores how unusual each reading is.</a:t>
            </a:r>
            <a:endParaRPr lang="en-US" sz="1000" dirty="0"/>
          </a:p>
        </p:txBody>
      </p:sp>
      <p:sp>
        <p:nvSpPr>
          <p:cNvPr id="8" name="ml2"/>
          <p:cNvSpPr/>
          <p:nvPr/>
        </p:nvSpPr>
        <p:spPr>
          <a:xfrm>
            <a:off x="2606040" y="1417320"/>
            <a:ext cx="1874520" cy="2377440"/>
          </a:xfrm>
          <a:prstGeom prst="roundRect">
            <a:avLst>
              <a:gd name="adj" fmla="val 6829"/>
            </a:avLst>
          </a:prstGeom>
          <a:solidFill>
            <a:srgbClr val="1B4670">
              <a:alpha val="70000"/>
            </a:srgbClr>
          </a:solidFill>
          <a:ln w="15875">
            <a:solidFill>
              <a:srgbClr val="FFD166"/>
            </a:solidFill>
            <a:prstDash val="solid"/>
          </a:ln>
        </p:spPr>
      </p:sp>
      <p:sp>
        <p:nvSpPr>
          <p:cNvPr id="9" name="Shape 7"/>
          <p:cNvSpPr/>
          <p:nvPr/>
        </p:nvSpPr>
        <p:spPr>
          <a:xfrm>
            <a:off x="2834640" y="1234440"/>
            <a:ext cx="1417320" cy="329184"/>
          </a:xfrm>
          <a:prstGeom prst="roundRect">
            <a:avLst>
              <a:gd name="adj" fmla="val 50000"/>
            </a:avLst>
          </a:prstGeom>
          <a:solidFill>
            <a:srgbClr val="214F7B"/>
          </a:solidFill>
          <a:ln w="15875">
            <a:solidFill>
              <a:srgbClr val="FFFFFF"/>
            </a:solidFill>
            <a:prstDash val="solid"/>
          </a:ln>
        </p:spPr>
      </p:sp>
      <p:sp>
        <p:nvSpPr>
          <p:cNvPr id="10" name="Text 8"/>
          <p:cNvSpPr txBox="1"/>
          <p:nvPr/>
        </p:nvSpPr>
        <p:spPr>
          <a:xfrm>
            <a:off x="2834640" y="1234440"/>
            <a:ext cx="1417320" cy="329184"/>
          </a:xfrm>
          <a:prstGeom prst="rect">
            <a:avLst/>
          </a:prstGeom>
          <a:noFill/>
          <a:ln/>
        </p:spPr>
        <p:txBody>
          <a:bodyPr wrap="square" lIns="0" tIns="0" rIns="0" bIns="0" rtlCol="0" anchor="ctr"/>
          <a:lstStyle/>
          <a:p>
            <a:pPr algn="ctr" indent="0" marL="0">
              <a:buNone/>
            </a:pPr>
            <a:r>
              <a:rPr lang="en-US" sz="950" b="1" dirty="0">
                <a:solidFill>
                  <a:schemeClr val="accent2"/>
                </a:solidFill>
              </a:rPr>
              <a:t>PREDICTION</a:t>
            </a:r>
            <a:endParaRPr lang="en-US" sz="950" dirty="0"/>
          </a:p>
        </p:txBody>
      </p:sp>
      <p:sp>
        <p:nvSpPr>
          <p:cNvPr id="11" name="Text 9"/>
          <p:cNvSpPr txBox="1"/>
          <p:nvPr/>
        </p:nvSpPr>
        <p:spPr>
          <a:xfrm>
            <a:off x="2743200" y="1691640"/>
            <a:ext cx="1600200" cy="502920"/>
          </a:xfrm>
          <a:prstGeom prst="rect">
            <a:avLst/>
          </a:prstGeom>
          <a:noFill/>
          <a:ln/>
        </p:spPr>
        <p:txBody>
          <a:bodyPr wrap="square" lIns="0" tIns="0" rIns="0" bIns="0" rtlCol="0" anchor="ctr"/>
          <a:lstStyle/>
          <a:p>
            <a:pPr algn="ctr" indent="0" marL="0">
              <a:buNone/>
            </a:pPr>
            <a:r>
              <a:rPr lang="en-US" sz="1250" b="1" dirty="0">
                <a:solidFill>
                  <a:schemeClr val="bg1"/>
                </a:solidFill>
              </a:rPr>
              <a:t>Trend forecasting</a:t>
            </a:r>
            <a:endParaRPr lang="en-US" sz="1250" dirty="0"/>
          </a:p>
        </p:txBody>
      </p:sp>
      <p:sp>
        <p:nvSpPr>
          <p:cNvPr id="12" name="Text 10"/>
          <p:cNvSpPr txBox="1"/>
          <p:nvPr/>
        </p:nvSpPr>
        <p:spPr>
          <a:xfrm>
            <a:off x="2743200" y="2240280"/>
            <a:ext cx="1600200" cy="1463040"/>
          </a:xfrm>
          <a:prstGeom prst="rect">
            <a:avLst/>
          </a:prstGeom>
          <a:noFill/>
          <a:ln/>
        </p:spPr>
        <p:txBody>
          <a:bodyPr wrap="square" lIns="0" tIns="0" rIns="0" bIns="0" rtlCol="0" anchor="t"/>
          <a:lstStyle/>
          <a:p>
            <a:pPr algn="ctr" indent="0" marL="0">
              <a:buNone/>
            </a:pPr>
            <a:r>
              <a:rPr lang="en-US" sz="1000" dirty="0">
                <a:solidFill>
                  <a:schemeClr val="bg2"/>
                </a:solidFill>
              </a:rPr>
              <a:t>Fits the recent trend of each vital and projects it 15 minutes ahead to warn early.</a:t>
            </a:r>
            <a:endParaRPr lang="en-US" sz="1000" dirty="0"/>
          </a:p>
        </p:txBody>
      </p:sp>
      <p:sp>
        <p:nvSpPr>
          <p:cNvPr id="13" name="ml3"/>
          <p:cNvSpPr/>
          <p:nvPr/>
        </p:nvSpPr>
        <p:spPr>
          <a:xfrm>
            <a:off x="4663440" y="1417320"/>
            <a:ext cx="1874520" cy="2377440"/>
          </a:xfrm>
          <a:prstGeom prst="roundRect">
            <a:avLst>
              <a:gd name="adj" fmla="val 6829"/>
            </a:avLst>
          </a:prstGeom>
          <a:solidFill>
            <a:srgbClr val="1B4670">
              <a:alpha val="70000"/>
            </a:srgbClr>
          </a:solidFill>
          <a:ln w="15875">
            <a:solidFill>
              <a:srgbClr val="FFFFFF"/>
            </a:solidFill>
            <a:prstDash val="solid"/>
          </a:ln>
        </p:spPr>
      </p:sp>
      <p:sp>
        <p:nvSpPr>
          <p:cNvPr id="14" name="Shape 12"/>
          <p:cNvSpPr/>
          <p:nvPr/>
        </p:nvSpPr>
        <p:spPr>
          <a:xfrm>
            <a:off x="4892040" y="1234440"/>
            <a:ext cx="1417320" cy="329184"/>
          </a:xfrm>
          <a:prstGeom prst="roundRect">
            <a:avLst>
              <a:gd name="adj" fmla="val 50000"/>
            </a:avLst>
          </a:prstGeom>
          <a:solidFill>
            <a:srgbClr val="214F7B"/>
          </a:solidFill>
          <a:ln w="15875">
            <a:solidFill>
              <a:srgbClr val="FFFFFF"/>
            </a:solidFill>
            <a:prstDash val="solid"/>
          </a:ln>
        </p:spPr>
      </p:sp>
      <p:sp>
        <p:nvSpPr>
          <p:cNvPr id="15" name="Text 13"/>
          <p:cNvSpPr txBox="1"/>
          <p:nvPr/>
        </p:nvSpPr>
        <p:spPr>
          <a:xfrm>
            <a:off x="4892040" y="1234440"/>
            <a:ext cx="1417320" cy="329184"/>
          </a:xfrm>
          <a:prstGeom prst="rect">
            <a:avLst/>
          </a:prstGeom>
          <a:noFill/>
          <a:ln/>
        </p:spPr>
        <p:txBody>
          <a:bodyPr wrap="square" lIns="0" tIns="0" rIns="0" bIns="0" rtlCol="0" anchor="ctr"/>
          <a:lstStyle/>
          <a:p>
            <a:pPr algn="ctr" indent="0" marL="0">
              <a:buNone/>
            </a:pPr>
            <a:r>
              <a:rPr lang="en-US" sz="950" b="1" dirty="0">
                <a:solidFill>
                  <a:schemeClr val="bg1"/>
                </a:solidFill>
              </a:rPr>
              <a:t>SUPPORT</a:t>
            </a:r>
            <a:endParaRPr lang="en-US" sz="950" dirty="0"/>
          </a:p>
        </p:txBody>
      </p:sp>
      <p:sp>
        <p:nvSpPr>
          <p:cNvPr id="16" name="Text 14"/>
          <p:cNvSpPr txBox="1"/>
          <p:nvPr/>
        </p:nvSpPr>
        <p:spPr>
          <a:xfrm>
            <a:off x="4800600" y="1691640"/>
            <a:ext cx="1600200" cy="502920"/>
          </a:xfrm>
          <a:prstGeom prst="rect">
            <a:avLst/>
          </a:prstGeom>
          <a:noFill/>
          <a:ln/>
        </p:spPr>
        <p:txBody>
          <a:bodyPr wrap="square" lIns="0" tIns="0" rIns="0" bIns="0" rtlCol="0" anchor="ctr"/>
          <a:lstStyle/>
          <a:p>
            <a:pPr algn="ctr" indent="0" marL="0">
              <a:buNone/>
            </a:pPr>
            <a:r>
              <a:rPr lang="en-US" sz="1250" b="1" dirty="0">
                <a:solidFill>
                  <a:schemeClr val="bg1"/>
                </a:solidFill>
              </a:rPr>
              <a:t>Health state</a:t>
            </a:r>
            <a:endParaRPr lang="en-US" sz="1250" dirty="0"/>
          </a:p>
        </p:txBody>
      </p:sp>
      <p:sp>
        <p:nvSpPr>
          <p:cNvPr id="17" name="Text 15"/>
          <p:cNvSpPr txBox="1"/>
          <p:nvPr/>
        </p:nvSpPr>
        <p:spPr>
          <a:xfrm>
            <a:off x="4800600" y="2240280"/>
            <a:ext cx="1600200" cy="1463040"/>
          </a:xfrm>
          <a:prstGeom prst="rect">
            <a:avLst/>
          </a:prstGeom>
          <a:noFill/>
          <a:ln/>
        </p:spPr>
        <p:txBody>
          <a:bodyPr wrap="square" lIns="0" tIns="0" rIns="0" bIns="0" rtlCol="0" anchor="t"/>
          <a:lstStyle/>
          <a:p>
            <a:pPr algn="ctr" indent="0" marL="0">
              <a:buNone/>
            </a:pPr>
            <a:r>
              <a:rPr lang="en-US" sz="1000" dirty="0">
                <a:solidFill>
                  <a:schemeClr val="bg2"/>
                </a:solidFill>
              </a:rPr>
              <a:t>Labels a session: Resting, Elevated, Possible fever or Low oxygen.</a:t>
            </a:r>
            <a:endParaRPr lang="en-US" sz="1000" dirty="0"/>
          </a:p>
        </p:txBody>
      </p:sp>
      <p:sp>
        <p:nvSpPr>
          <p:cNvPr id="18" name="ml4"/>
          <p:cNvSpPr/>
          <p:nvPr/>
        </p:nvSpPr>
        <p:spPr>
          <a:xfrm>
            <a:off x="6720840" y="1417320"/>
            <a:ext cx="1874520" cy="2377440"/>
          </a:xfrm>
          <a:prstGeom prst="roundRect">
            <a:avLst>
              <a:gd name="adj" fmla="val 6829"/>
            </a:avLst>
          </a:prstGeom>
          <a:solidFill>
            <a:srgbClr val="1B4670">
              <a:alpha val="70000"/>
            </a:srgbClr>
          </a:solidFill>
          <a:ln w="15875">
            <a:solidFill>
              <a:srgbClr val="FFFFFF"/>
            </a:solidFill>
            <a:prstDash val="solid"/>
          </a:ln>
        </p:spPr>
      </p:sp>
      <p:sp>
        <p:nvSpPr>
          <p:cNvPr id="19" name="Shape 17"/>
          <p:cNvSpPr/>
          <p:nvPr/>
        </p:nvSpPr>
        <p:spPr>
          <a:xfrm>
            <a:off x="6949440" y="1234440"/>
            <a:ext cx="1417320" cy="329184"/>
          </a:xfrm>
          <a:prstGeom prst="roundRect">
            <a:avLst>
              <a:gd name="adj" fmla="val 50000"/>
            </a:avLst>
          </a:prstGeom>
          <a:solidFill>
            <a:srgbClr val="214F7B"/>
          </a:solidFill>
          <a:ln w="15875">
            <a:solidFill>
              <a:srgbClr val="FFFFFF"/>
            </a:solidFill>
            <a:prstDash val="solid"/>
          </a:ln>
        </p:spPr>
      </p:sp>
      <p:sp>
        <p:nvSpPr>
          <p:cNvPr id="20" name="Text 18"/>
          <p:cNvSpPr txBox="1"/>
          <p:nvPr/>
        </p:nvSpPr>
        <p:spPr>
          <a:xfrm>
            <a:off x="6949440" y="1234440"/>
            <a:ext cx="1417320" cy="329184"/>
          </a:xfrm>
          <a:prstGeom prst="rect">
            <a:avLst/>
          </a:prstGeom>
          <a:noFill/>
          <a:ln/>
        </p:spPr>
        <p:txBody>
          <a:bodyPr wrap="square" lIns="0" tIns="0" rIns="0" bIns="0" rtlCol="0" anchor="ctr"/>
          <a:lstStyle/>
          <a:p>
            <a:pPr algn="ctr" indent="0" marL="0">
              <a:buNone/>
            </a:pPr>
            <a:r>
              <a:rPr lang="en-US" sz="950" b="1" dirty="0">
                <a:solidFill>
                  <a:schemeClr val="bg1"/>
                </a:solidFill>
              </a:rPr>
              <a:t>SUPPORT</a:t>
            </a:r>
            <a:endParaRPr lang="en-US" sz="950" dirty="0"/>
          </a:p>
        </p:txBody>
      </p:sp>
      <p:sp>
        <p:nvSpPr>
          <p:cNvPr id="21" name="Text 19"/>
          <p:cNvSpPr txBox="1"/>
          <p:nvPr/>
        </p:nvSpPr>
        <p:spPr>
          <a:xfrm>
            <a:off x="6858000" y="1691640"/>
            <a:ext cx="1600200" cy="502920"/>
          </a:xfrm>
          <a:prstGeom prst="rect">
            <a:avLst/>
          </a:prstGeom>
          <a:noFill/>
          <a:ln/>
        </p:spPr>
        <p:txBody>
          <a:bodyPr wrap="square" lIns="0" tIns="0" rIns="0" bIns="0" rtlCol="0" anchor="ctr"/>
          <a:lstStyle/>
          <a:p>
            <a:pPr algn="ctr" indent="0" marL="0">
              <a:buNone/>
            </a:pPr>
            <a:r>
              <a:rPr lang="en-US" sz="1250" b="1" dirty="0">
                <a:solidFill>
                  <a:schemeClr val="bg1"/>
                </a:solidFill>
              </a:rPr>
              <a:t>Signal quality</a:t>
            </a:r>
            <a:endParaRPr lang="en-US" sz="1250" dirty="0"/>
          </a:p>
        </p:txBody>
      </p:sp>
      <p:sp>
        <p:nvSpPr>
          <p:cNvPr id="22" name="Text 20"/>
          <p:cNvSpPr txBox="1"/>
          <p:nvPr/>
        </p:nvSpPr>
        <p:spPr>
          <a:xfrm>
            <a:off x="6858000" y="2240280"/>
            <a:ext cx="1600200" cy="1463040"/>
          </a:xfrm>
          <a:prstGeom prst="rect">
            <a:avLst/>
          </a:prstGeom>
          <a:noFill/>
          <a:ln/>
        </p:spPr>
        <p:txBody>
          <a:bodyPr wrap="square" lIns="0" tIns="0" rIns="0" bIns="0" rtlCol="0" anchor="t"/>
          <a:lstStyle/>
          <a:p>
            <a:pPr algn="ctr" indent="0" marL="0">
              <a:buNone/>
            </a:pPr>
            <a:r>
              <a:rPr lang="en-US" sz="1000" dirty="0">
                <a:solidFill>
                  <a:schemeClr val="bg2"/>
                </a:solidFill>
              </a:rPr>
              <a:t>Spots a moving or badly placed finger from the waveform and discards junk readings.</a:t>
            </a:r>
            <a:endParaRPr lang="en-US" sz="1000" dirty="0"/>
          </a:p>
        </p:txBody>
      </p:sp>
      <p:sp>
        <p:nvSpPr>
          <p:cNvPr id="23" name="Shape 21"/>
          <p:cNvSpPr/>
          <p:nvPr/>
        </p:nvSpPr>
        <p:spPr>
          <a:xfrm>
            <a:off x="548640" y="4041648"/>
            <a:ext cx="1572768" cy="502920"/>
          </a:xfrm>
          <a:prstGeom prst="chevron">
            <a:avLst/>
          </a:prstGeom>
          <a:solidFill>
            <a:srgbClr val="1B4670"/>
          </a:solidFill>
          <a:ln w="12700">
            <a:solidFill>
              <a:srgbClr val="FFFFFF"/>
            </a:solidFill>
            <a:prstDash val="solid"/>
          </a:ln>
        </p:spPr>
      </p:sp>
      <p:sp>
        <p:nvSpPr>
          <p:cNvPr id="24" name="Text 22"/>
          <p:cNvSpPr txBox="1"/>
          <p:nvPr/>
        </p:nvSpPr>
        <p:spPr>
          <a:xfrm>
            <a:off x="777240" y="4041648"/>
            <a:ext cx="1143000" cy="502920"/>
          </a:xfrm>
          <a:prstGeom prst="rect">
            <a:avLst/>
          </a:prstGeom>
          <a:noFill/>
          <a:ln/>
        </p:spPr>
        <p:txBody>
          <a:bodyPr wrap="square" lIns="0" tIns="0" rIns="0" bIns="0" rtlCol="0" anchor="ctr"/>
          <a:lstStyle/>
          <a:p>
            <a:pPr algn="ctr" indent="0" marL="0">
              <a:buNone/>
            </a:pPr>
            <a:r>
              <a:rPr lang="en-US" sz="950" b="1" dirty="0">
                <a:solidFill>
                  <a:schemeClr val="bg1"/>
                </a:solidFill>
              </a:rPr>
              <a:t>Collect sessions</a:t>
            </a:r>
            <a:endParaRPr lang="en-US" sz="950" dirty="0"/>
          </a:p>
        </p:txBody>
      </p:sp>
      <p:sp>
        <p:nvSpPr>
          <p:cNvPr id="25" name="Shape 23"/>
          <p:cNvSpPr/>
          <p:nvPr/>
        </p:nvSpPr>
        <p:spPr>
          <a:xfrm>
            <a:off x="2167128" y="4041648"/>
            <a:ext cx="1572768" cy="502920"/>
          </a:xfrm>
          <a:prstGeom prst="chevron">
            <a:avLst/>
          </a:prstGeom>
          <a:solidFill>
            <a:srgbClr val="1B4670"/>
          </a:solidFill>
          <a:ln w="12700">
            <a:solidFill>
              <a:srgbClr val="FFFFFF"/>
            </a:solidFill>
            <a:prstDash val="solid"/>
          </a:ln>
        </p:spPr>
      </p:sp>
      <p:sp>
        <p:nvSpPr>
          <p:cNvPr id="26" name="Text 24"/>
          <p:cNvSpPr txBox="1"/>
          <p:nvPr/>
        </p:nvSpPr>
        <p:spPr>
          <a:xfrm>
            <a:off x="2395728" y="4041648"/>
            <a:ext cx="1143000" cy="502920"/>
          </a:xfrm>
          <a:prstGeom prst="rect">
            <a:avLst/>
          </a:prstGeom>
          <a:noFill/>
          <a:ln/>
        </p:spPr>
        <p:txBody>
          <a:bodyPr wrap="square" lIns="0" tIns="0" rIns="0" bIns="0" rtlCol="0" anchor="ctr"/>
          <a:lstStyle/>
          <a:p>
            <a:pPr algn="ctr" indent="0" marL="0">
              <a:buNone/>
            </a:pPr>
            <a:r>
              <a:rPr lang="en-US" sz="950" b="1" dirty="0">
                <a:solidFill>
                  <a:schemeClr val="bg1"/>
                </a:solidFill>
              </a:rPr>
              <a:t>Extract features</a:t>
            </a:r>
            <a:endParaRPr lang="en-US" sz="950" dirty="0"/>
          </a:p>
        </p:txBody>
      </p:sp>
      <p:sp>
        <p:nvSpPr>
          <p:cNvPr id="27" name="Shape 25"/>
          <p:cNvSpPr/>
          <p:nvPr/>
        </p:nvSpPr>
        <p:spPr>
          <a:xfrm>
            <a:off x="3785616" y="4041648"/>
            <a:ext cx="1572768" cy="502920"/>
          </a:xfrm>
          <a:prstGeom prst="chevron">
            <a:avLst/>
          </a:prstGeom>
          <a:solidFill>
            <a:srgbClr val="1B4670"/>
          </a:solidFill>
          <a:ln w="12700">
            <a:solidFill>
              <a:srgbClr val="FFFFFF"/>
            </a:solidFill>
            <a:prstDash val="solid"/>
          </a:ln>
        </p:spPr>
      </p:sp>
      <p:sp>
        <p:nvSpPr>
          <p:cNvPr id="28" name="Text 26"/>
          <p:cNvSpPr txBox="1"/>
          <p:nvPr/>
        </p:nvSpPr>
        <p:spPr>
          <a:xfrm>
            <a:off x="4014216" y="4041648"/>
            <a:ext cx="1143000" cy="502920"/>
          </a:xfrm>
          <a:prstGeom prst="rect">
            <a:avLst/>
          </a:prstGeom>
          <a:noFill/>
          <a:ln/>
        </p:spPr>
        <p:txBody>
          <a:bodyPr wrap="square" lIns="0" tIns="0" rIns="0" bIns="0" rtlCol="0" anchor="ctr"/>
          <a:lstStyle/>
          <a:p>
            <a:pPr algn="ctr" indent="0" marL="0">
              <a:buNone/>
            </a:pPr>
            <a:r>
              <a:rPr lang="en-US" sz="950" b="1" dirty="0">
                <a:solidFill>
                  <a:schemeClr val="bg1"/>
                </a:solidFill>
              </a:rPr>
              <a:t>Train per user</a:t>
            </a:r>
            <a:endParaRPr lang="en-US" sz="950" dirty="0"/>
          </a:p>
        </p:txBody>
      </p:sp>
      <p:sp>
        <p:nvSpPr>
          <p:cNvPr id="29" name="Shape 27"/>
          <p:cNvSpPr/>
          <p:nvPr/>
        </p:nvSpPr>
        <p:spPr>
          <a:xfrm>
            <a:off x="5404104" y="4041648"/>
            <a:ext cx="1572768" cy="502920"/>
          </a:xfrm>
          <a:prstGeom prst="chevron">
            <a:avLst/>
          </a:prstGeom>
          <a:solidFill>
            <a:srgbClr val="1B4670"/>
          </a:solidFill>
          <a:ln w="12700">
            <a:solidFill>
              <a:srgbClr val="FFFFFF"/>
            </a:solidFill>
            <a:prstDash val="solid"/>
          </a:ln>
        </p:spPr>
      </p:sp>
      <p:sp>
        <p:nvSpPr>
          <p:cNvPr id="30" name="Text 28"/>
          <p:cNvSpPr txBox="1"/>
          <p:nvPr/>
        </p:nvSpPr>
        <p:spPr>
          <a:xfrm>
            <a:off x="5632704" y="4041648"/>
            <a:ext cx="1143000" cy="502920"/>
          </a:xfrm>
          <a:prstGeom prst="rect">
            <a:avLst/>
          </a:prstGeom>
          <a:noFill/>
          <a:ln/>
        </p:spPr>
        <p:txBody>
          <a:bodyPr wrap="square" lIns="0" tIns="0" rIns="0" bIns="0" rtlCol="0" anchor="ctr"/>
          <a:lstStyle/>
          <a:p>
            <a:pPr algn="ctr" indent="0" marL="0">
              <a:buNone/>
            </a:pPr>
            <a:r>
              <a:rPr lang="en-US" sz="950" b="1" dirty="0">
                <a:solidFill>
                  <a:schemeClr val="bg1"/>
                </a:solidFill>
              </a:rPr>
              <a:t>Score + predict</a:t>
            </a:r>
            <a:endParaRPr lang="en-US" sz="950" dirty="0"/>
          </a:p>
        </p:txBody>
      </p:sp>
      <p:sp>
        <p:nvSpPr>
          <p:cNvPr id="31" name="Shape 29"/>
          <p:cNvSpPr/>
          <p:nvPr/>
        </p:nvSpPr>
        <p:spPr>
          <a:xfrm>
            <a:off x="7022592" y="4041648"/>
            <a:ext cx="1572768" cy="502920"/>
          </a:xfrm>
          <a:prstGeom prst="chevron">
            <a:avLst/>
          </a:prstGeom>
          <a:solidFill>
            <a:srgbClr val="FFD166"/>
          </a:solidFill>
          <a:ln w="12700">
            <a:solidFill>
              <a:srgbClr val="FFFFFF"/>
            </a:solidFill>
            <a:prstDash val="solid"/>
          </a:ln>
        </p:spPr>
      </p:sp>
      <p:sp>
        <p:nvSpPr>
          <p:cNvPr id="32" name="Text 30"/>
          <p:cNvSpPr txBox="1"/>
          <p:nvPr/>
        </p:nvSpPr>
        <p:spPr>
          <a:xfrm>
            <a:off x="7251192" y="4041648"/>
            <a:ext cx="1143000" cy="502920"/>
          </a:xfrm>
          <a:prstGeom prst="rect">
            <a:avLst/>
          </a:prstGeom>
          <a:noFill/>
          <a:ln/>
        </p:spPr>
        <p:txBody>
          <a:bodyPr wrap="square" lIns="0" tIns="0" rIns="0" bIns="0" rtlCol="0" anchor="ctr"/>
          <a:lstStyle/>
          <a:p>
            <a:pPr algn="ctr" indent="0" marL="0">
              <a:buNone/>
            </a:pPr>
            <a:r>
              <a:rPr lang="en-US" sz="950" b="1" dirty="0">
                <a:solidFill>
                  <a:schemeClr val="tx1"/>
                </a:solidFill>
              </a:rPr>
              <a:t>Insight or alert</a:t>
            </a:r>
            <a:endParaRPr lang="en-US" sz="9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ANOMALY DETECTION</a:t>
            </a:r>
            <a:endParaRPr lang="en-US" sz="3000" dirty="0"/>
          </a:p>
        </p:txBody>
      </p:sp>
      <p:pic>
        <p:nvPicPr>
          <p:cNvPr id="3" name="Image 0" descr="img/isoforest.png">    </p:cNvPr>
          <p:cNvPicPr>
            <a:picLocks noChangeAspect="1"/>
          </p:cNvPicPr>
          <p:nvPr/>
        </p:nvPicPr>
        <p:blipFill>
          <a:blip r:embed="rId1"/>
          <a:stretch>
            <a:fillRect/>
          </a:stretch>
        </p:blipFill>
        <p:spPr>
          <a:xfrm>
            <a:off x="548640" y="1143000"/>
            <a:ext cx="4480560" cy="2560320"/>
          </a:xfrm>
          <a:prstGeom prst="rect">
            <a:avLst/>
          </a:prstGeom>
        </p:spPr>
      </p:pic>
      <p:sp>
        <p:nvSpPr>
          <p:cNvPr id="4" name="Shape 1"/>
          <p:cNvSpPr/>
          <p:nvPr/>
        </p:nvSpPr>
        <p:spPr>
          <a:xfrm>
            <a:off x="594360" y="3877056"/>
            <a:ext cx="91440" cy="91440"/>
          </a:xfrm>
          <a:prstGeom prst="ellipse">
            <a:avLst/>
          </a:prstGeom>
          <a:solidFill>
            <a:srgbClr val="FFD166"/>
          </a:solidFill>
          <a:ln/>
        </p:spPr>
      </p:sp>
      <p:sp>
        <p:nvSpPr>
          <p:cNvPr id="5" name="Text 2"/>
          <p:cNvSpPr txBox="1"/>
          <p:nvPr/>
        </p:nvSpPr>
        <p:spPr>
          <a:xfrm>
            <a:off x="777240" y="3794760"/>
            <a:ext cx="4297680" cy="256032"/>
          </a:xfrm>
          <a:prstGeom prst="rect">
            <a:avLst/>
          </a:prstGeom>
          <a:noFill/>
          <a:ln/>
        </p:spPr>
        <p:txBody>
          <a:bodyPr wrap="square" lIns="0" tIns="0" rIns="0" bIns="0" rtlCol="0" anchor="ctr"/>
          <a:lstStyle/>
          <a:p>
            <a:pPr indent="0" marL="0">
              <a:buNone/>
            </a:pPr>
            <a:r>
              <a:rPr lang="en-US" sz="1050" dirty="0">
                <a:solidFill>
                  <a:schemeClr val="bg1"/>
                </a:solidFill>
              </a:rPr>
              <a:t>Builds many random trees that cut the data at random values.</a:t>
            </a:r>
            <a:endParaRPr lang="en-US" sz="1050" dirty="0"/>
          </a:p>
        </p:txBody>
      </p:sp>
      <p:sp>
        <p:nvSpPr>
          <p:cNvPr id="6" name="Shape 3"/>
          <p:cNvSpPr/>
          <p:nvPr/>
        </p:nvSpPr>
        <p:spPr>
          <a:xfrm>
            <a:off x="594360" y="4151376"/>
            <a:ext cx="91440" cy="91440"/>
          </a:xfrm>
          <a:prstGeom prst="ellipse">
            <a:avLst/>
          </a:prstGeom>
          <a:solidFill>
            <a:srgbClr val="FFD166"/>
          </a:solidFill>
          <a:ln/>
        </p:spPr>
      </p:sp>
      <p:sp>
        <p:nvSpPr>
          <p:cNvPr id="7" name="Text 4"/>
          <p:cNvSpPr txBox="1"/>
          <p:nvPr/>
        </p:nvSpPr>
        <p:spPr>
          <a:xfrm>
            <a:off x="777240" y="4069080"/>
            <a:ext cx="4297680" cy="256032"/>
          </a:xfrm>
          <a:prstGeom prst="rect">
            <a:avLst/>
          </a:prstGeom>
          <a:noFill/>
          <a:ln/>
        </p:spPr>
        <p:txBody>
          <a:bodyPr wrap="square" lIns="0" tIns="0" rIns="0" bIns="0" rtlCol="0" anchor="ctr"/>
          <a:lstStyle/>
          <a:p>
            <a:pPr indent="0" marL="0">
              <a:buNone/>
            </a:pPr>
            <a:r>
              <a:rPr lang="en-US" sz="1050" dirty="0">
                <a:solidFill>
                  <a:schemeClr val="bg1"/>
                </a:solidFill>
              </a:rPr>
              <a:t>Outliers get cut off in very few splits → high anomaly score.</a:t>
            </a:r>
            <a:endParaRPr lang="en-US" sz="1050" dirty="0"/>
          </a:p>
        </p:txBody>
      </p:sp>
      <p:sp>
        <p:nvSpPr>
          <p:cNvPr id="8" name="Shape 5"/>
          <p:cNvSpPr/>
          <p:nvPr/>
        </p:nvSpPr>
        <p:spPr>
          <a:xfrm>
            <a:off x="594360" y="4425696"/>
            <a:ext cx="91440" cy="91440"/>
          </a:xfrm>
          <a:prstGeom prst="ellipse">
            <a:avLst/>
          </a:prstGeom>
          <a:solidFill>
            <a:srgbClr val="FFD166"/>
          </a:solidFill>
          <a:ln/>
        </p:spPr>
      </p:sp>
      <p:sp>
        <p:nvSpPr>
          <p:cNvPr id="9" name="Text 6"/>
          <p:cNvSpPr txBox="1"/>
          <p:nvPr/>
        </p:nvSpPr>
        <p:spPr>
          <a:xfrm>
            <a:off x="777240" y="4343400"/>
            <a:ext cx="4297680" cy="256032"/>
          </a:xfrm>
          <a:prstGeom prst="rect">
            <a:avLst/>
          </a:prstGeom>
          <a:noFill/>
          <a:ln/>
        </p:spPr>
        <p:txBody>
          <a:bodyPr wrap="square" lIns="0" tIns="0" rIns="0" bIns="0" rtlCol="0" anchor="ctr"/>
          <a:lstStyle/>
          <a:p>
            <a:pPr indent="0" marL="0">
              <a:buNone/>
            </a:pPr>
            <a:r>
              <a:rPr lang="en-US" sz="1050" dirty="0">
                <a:solidFill>
                  <a:schemeClr val="bg1"/>
                </a:solidFill>
              </a:rPr>
              <a:t>Trains on normal data only; no "sick" examples needed.</a:t>
            </a:r>
            <a:endParaRPr lang="en-US" sz="1050" dirty="0"/>
          </a:p>
        </p:txBody>
      </p:sp>
      <p:sp>
        <p:nvSpPr>
          <p:cNvPr id="10" name="Shape 7"/>
          <p:cNvSpPr/>
          <p:nvPr/>
        </p:nvSpPr>
        <p:spPr>
          <a:xfrm>
            <a:off x="5257800" y="1188720"/>
            <a:ext cx="3337560" cy="3429000"/>
          </a:xfrm>
          <a:prstGeom prst="roundRect">
            <a:avLst>
              <a:gd name="adj" fmla="val 2740"/>
            </a:avLst>
          </a:prstGeom>
          <a:solidFill>
            <a:srgbClr val="12365A"/>
          </a:solidFill>
          <a:ln w="15875">
            <a:solidFill>
              <a:srgbClr val="FFFFFF"/>
            </a:solidFill>
            <a:prstDash val="solid"/>
          </a:ln>
        </p:spPr>
      </p:sp>
      <p:sp>
        <p:nvSpPr>
          <p:cNvPr id="11" name="Text 8"/>
          <p:cNvSpPr txBox="1"/>
          <p:nvPr/>
        </p:nvSpPr>
        <p:spPr>
          <a:xfrm>
            <a:off x="5422392" y="1298448"/>
            <a:ext cx="3008376" cy="228600"/>
          </a:xfrm>
          <a:prstGeom prst="rect">
            <a:avLst/>
          </a:prstGeom>
          <a:noFill/>
          <a:ln/>
        </p:spPr>
        <p:txBody>
          <a:bodyPr wrap="square" lIns="0" tIns="0" rIns="0" bIns="0" rtlCol="0" anchor="t"/>
          <a:lstStyle/>
          <a:p>
            <a:pPr indent="0" marL="0">
              <a:buNone/>
            </a:pPr>
            <a:r>
              <a:rPr lang="en-US" sz="950" b="1" dirty="0">
                <a:solidFill>
                  <a:srgbClr val="FFD166"/>
                </a:solidFill>
                <a:latin typeface="Courier New" pitchFamily="34" charset="0"/>
                <a:ea typeface="Courier New" pitchFamily="34" charset="-122"/>
                <a:cs typeface="Courier New" pitchFamily="34" charset="-120"/>
              </a:rPr>
              <a:t>ml/anomaly.py · scikit-learn</a:t>
            </a:r>
            <a:endParaRPr lang="en-US" sz="950" dirty="0"/>
          </a:p>
        </p:txBody>
      </p:sp>
      <p:sp>
        <p:nvSpPr>
          <p:cNvPr id="12" name="Text 9"/>
          <p:cNvSpPr txBox="1"/>
          <p:nvPr/>
        </p:nvSpPr>
        <p:spPr>
          <a:xfrm>
            <a:off x="5422392" y="1600200"/>
            <a:ext cx="3008376" cy="2926080"/>
          </a:xfrm>
          <a:prstGeom prst="rect">
            <a:avLst/>
          </a:prstGeom>
          <a:noFill/>
          <a:ln/>
        </p:spPr>
        <p:txBody>
          <a:bodyPr wrap="square" lIns="0" tIns="0" rIns="0" bIns="0" rtlCol="0" anchor="t"/>
          <a:lstStyle/>
          <a:p>
            <a:pPr indent="0" marL="0">
              <a:buNone/>
            </a:pPr>
            <a:r>
              <a:rPr lang="en-US" sz="850" dirty="0">
                <a:solidFill>
                  <a:srgbClr val="FFD166"/>
                </a:solidFill>
                <a:latin typeface="Courier New" pitchFamily="34" charset="0"/>
                <a:ea typeface="Courier New" pitchFamily="34" charset="-122"/>
                <a:cs typeface="Courier New" pitchFamily="34" charset="-120"/>
              </a:rPr>
              <a:t>from</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sklearn</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ensemble</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D166"/>
                </a:solidFill>
                <a:latin typeface="Courier New" pitchFamily="34" charset="0"/>
                <a:ea typeface="Courier New" pitchFamily="34" charset="-122"/>
                <a:cs typeface="Courier New" pitchFamily="34" charset="-120"/>
              </a:rPr>
              <a:t>import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IsolationForest</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8FA9CC"/>
                </a:solidFill>
                <a:latin typeface="Courier New" pitchFamily="34" charset="0"/>
                <a:ea typeface="Courier New" pitchFamily="34" charset="-122"/>
                <a:cs typeface="Courier New" pitchFamily="34" charset="-120"/>
              </a:rPr>
              <a:t># one row per 10-second window</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X</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build_features</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user_readings</a:t>
            </a:r>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model</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IsolationForest</a:t>
            </a:r>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n_estimators</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9EC1EA"/>
                </a:solidFill>
                <a:latin typeface="Courier New" pitchFamily="34" charset="0"/>
                <a:ea typeface="Courier New" pitchFamily="34" charset="-122"/>
                <a:cs typeface="Courier New" pitchFamily="34" charset="-120"/>
              </a:rPr>
              <a:t>200</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8FA9CC"/>
                </a:solidFill>
                <a:latin typeface="Courier New" pitchFamily="34" charset="0"/>
                <a:ea typeface="Courier New" pitchFamily="34" charset="-122"/>
                <a:cs typeface="Courier New" pitchFamily="34" charset="-120"/>
              </a:rPr>
              <a:t># 200 random trees</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contamination</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9EC1EA"/>
                </a:solidFill>
                <a:latin typeface="Courier New" pitchFamily="34" charset="0"/>
                <a:ea typeface="Courier New" pitchFamily="34" charset="-122"/>
                <a:cs typeface="Courier New" pitchFamily="34" charset="-120"/>
              </a:rPr>
              <a:t>0.05</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8FA9CC"/>
                </a:solidFill>
                <a:latin typeface="Courier New" pitchFamily="34" charset="0"/>
                <a:ea typeface="Courier New" pitchFamily="34" charset="-122"/>
                <a:cs typeface="Courier New" pitchFamily="34" charset="-120"/>
              </a:rPr>
              <a:t># ~5% unusual</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random_state</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9EC1EA"/>
                </a:solidFill>
                <a:latin typeface="Courier New" pitchFamily="34" charset="0"/>
                <a:ea typeface="Courier New" pitchFamily="34" charset="-122"/>
                <a:cs typeface="Courier New" pitchFamily="34" charset="-120"/>
              </a:rPr>
              <a:t>42</a:t>
            </a:r>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model</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fit</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X</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8FA9CC"/>
                </a:solidFill>
                <a:latin typeface="Courier New" pitchFamily="34" charset="0"/>
                <a:ea typeface="Courier New" pitchFamily="34" charset="-122"/>
                <a:cs typeface="Courier New" pitchFamily="34" charset="-120"/>
              </a:rPr>
              <a:t># learn your normal</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8FA9CC"/>
                </a:solidFill>
                <a:latin typeface="Courier New" pitchFamily="34" charset="0"/>
                <a:ea typeface="Courier New" pitchFamily="34" charset="-122"/>
                <a:cs typeface="Courier New" pitchFamily="34" charset="-120"/>
              </a:rPr>
              <a:t># higher score = more unusual for you</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score</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model</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score_samples</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x_now</a:t>
            </a:r>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FFD166"/>
                </a:solidFill>
                <a:latin typeface="Courier New" pitchFamily="34" charset="0"/>
                <a:ea typeface="Courier New" pitchFamily="34" charset="-122"/>
                <a:cs typeface="Courier New" pitchFamily="34" charset="-120"/>
              </a:rPr>
              <a:t>if</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score</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&gt;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user_threshold</a:t>
            </a:r>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alert</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user</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B4A8"/>
                </a:solidFill>
                <a:latin typeface="Courier New" pitchFamily="34" charset="0"/>
                <a:ea typeface="Courier New" pitchFamily="34" charset="-122"/>
                <a:cs typeface="Courier New" pitchFamily="34" charset="-120"/>
              </a:rPr>
              <a:t>"Unusual for you"</a:t>
            </a:r>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AI-BASED ANOMALY PREDICTION</a:t>
            </a:r>
            <a:endParaRPr lang="en-US" sz="3000" dirty="0"/>
          </a:p>
        </p:txBody>
      </p:sp>
      <p:pic>
        <p:nvPicPr>
          <p:cNvPr id="3" name="Image 0" descr="img/predict.png">    </p:cNvPr>
          <p:cNvPicPr>
            <a:picLocks noChangeAspect="1"/>
          </p:cNvPicPr>
          <p:nvPr/>
        </p:nvPicPr>
        <p:blipFill>
          <a:blip r:embed="rId1"/>
          <a:stretch>
            <a:fillRect/>
          </a:stretch>
        </p:blipFill>
        <p:spPr>
          <a:xfrm>
            <a:off x="502920" y="1143000"/>
            <a:ext cx="4709160" cy="2560320"/>
          </a:xfrm>
          <a:prstGeom prst="rect">
            <a:avLst/>
          </a:prstGeom>
        </p:spPr>
      </p:pic>
      <p:sp>
        <p:nvSpPr>
          <p:cNvPr id="4" name="Text 1"/>
          <p:cNvSpPr txBox="1"/>
          <p:nvPr/>
        </p:nvSpPr>
        <p:spPr>
          <a:xfrm>
            <a:off x="548640" y="3794760"/>
            <a:ext cx="4617720" cy="868680"/>
          </a:xfrm>
          <a:prstGeom prst="rect">
            <a:avLst/>
          </a:prstGeom>
          <a:noFill/>
          <a:ln/>
        </p:spPr>
        <p:txBody>
          <a:bodyPr wrap="square" lIns="0" tIns="0" rIns="0" bIns="0" rtlCol="0" anchor="t"/>
          <a:lstStyle/>
          <a:p>
            <a:pPr indent="0" marL="0">
              <a:buNone/>
            </a:pPr>
            <a:r>
              <a:rPr lang="en-US" sz="1050" dirty="0">
                <a:solidFill>
                  <a:schemeClr val="bg2"/>
                </a:solidFill>
              </a:rPr>
              <a:t>VITAL fits a straight-line trend (linear regression) to each vital over the last 10 minutes and projects it 15 minutes ahead. If the projection crosses a danger limit, it sends an early warning before the reading itself turns critical.</a:t>
            </a:r>
            <a:endParaRPr lang="en-US" sz="1050" dirty="0"/>
          </a:p>
        </p:txBody>
      </p:sp>
      <p:sp>
        <p:nvSpPr>
          <p:cNvPr id="5" name="Shape 2"/>
          <p:cNvSpPr/>
          <p:nvPr/>
        </p:nvSpPr>
        <p:spPr>
          <a:xfrm>
            <a:off x="5440680" y="1188720"/>
            <a:ext cx="3154680" cy="3429000"/>
          </a:xfrm>
          <a:prstGeom prst="roundRect">
            <a:avLst>
              <a:gd name="adj" fmla="val 2899"/>
            </a:avLst>
          </a:prstGeom>
          <a:solidFill>
            <a:srgbClr val="12365A"/>
          </a:solidFill>
          <a:ln w="15875">
            <a:solidFill>
              <a:srgbClr val="FFFFFF"/>
            </a:solidFill>
            <a:prstDash val="solid"/>
          </a:ln>
        </p:spPr>
      </p:sp>
      <p:sp>
        <p:nvSpPr>
          <p:cNvPr id="6" name="Text 3"/>
          <p:cNvSpPr txBox="1"/>
          <p:nvPr/>
        </p:nvSpPr>
        <p:spPr>
          <a:xfrm>
            <a:off x="5605272" y="1298448"/>
            <a:ext cx="2825496" cy="228600"/>
          </a:xfrm>
          <a:prstGeom prst="rect">
            <a:avLst/>
          </a:prstGeom>
          <a:noFill/>
          <a:ln/>
        </p:spPr>
        <p:txBody>
          <a:bodyPr wrap="square" lIns="0" tIns="0" rIns="0" bIns="0" rtlCol="0" anchor="t"/>
          <a:lstStyle/>
          <a:p>
            <a:pPr indent="0" marL="0">
              <a:buNone/>
            </a:pPr>
            <a:r>
              <a:rPr lang="en-US" sz="950" b="1" dirty="0">
                <a:solidFill>
                  <a:srgbClr val="FFD166"/>
                </a:solidFill>
                <a:latin typeface="Courier New" pitchFamily="34" charset="0"/>
                <a:ea typeface="Courier New" pitchFamily="34" charset="-122"/>
                <a:cs typeface="Courier New" pitchFamily="34" charset="-120"/>
              </a:rPr>
              <a:t>ml/predict.py · trend forecast</a:t>
            </a:r>
            <a:endParaRPr lang="en-US" sz="950" dirty="0"/>
          </a:p>
        </p:txBody>
      </p:sp>
      <p:sp>
        <p:nvSpPr>
          <p:cNvPr id="7" name="Text 4"/>
          <p:cNvSpPr txBox="1"/>
          <p:nvPr/>
        </p:nvSpPr>
        <p:spPr>
          <a:xfrm>
            <a:off x="5605272" y="1600200"/>
            <a:ext cx="2825496" cy="2926080"/>
          </a:xfrm>
          <a:prstGeom prst="rect">
            <a:avLst/>
          </a:prstGeom>
          <a:noFill/>
          <a:ln/>
        </p:spPr>
        <p:txBody>
          <a:bodyPr wrap="square" lIns="0" tIns="0" rIns="0" bIns="0" rtlCol="0" anchor="t"/>
          <a:lstStyle/>
          <a:p>
            <a:pPr indent="0" marL="0">
              <a:buNone/>
            </a:pPr>
            <a:r>
              <a:rPr lang="en-US" sz="850" dirty="0">
                <a:solidFill>
                  <a:srgbClr val="FFD166"/>
                </a:solidFill>
                <a:latin typeface="Courier New" pitchFamily="34" charset="0"/>
                <a:ea typeface="Courier New" pitchFamily="34" charset="-122"/>
                <a:cs typeface="Courier New" pitchFamily="34" charset="-120"/>
              </a:rPr>
              <a:t>import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numpy</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D166"/>
                </a:solidFill>
                <a:latin typeface="Courier New" pitchFamily="34" charset="0"/>
                <a:ea typeface="Courier New" pitchFamily="34" charset="-122"/>
                <a:cs typeface="Courier New" pitchFamily="34" charset="-120"/>
              </a:rPr>
              <a:t>as</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np</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8FA9CC"/>
                </a:solidFill>
                <a:latin typeface="Courier New" pitchFamily="34" charset="0"/>
                <a:ea typeface="Courier New" pitchFamily="34" charset="-122"/>
                <a:cs typeface="Courier New" pitchFamily="34" charset="-120"/>
              </a:rPr>
              <a:t># last 10 minutes, one point per 10 s</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minutes</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9EC1EA"/>
                </a:solidFill>
                <a:latin typeface="Courier New" pitchFamily="34" charset="0"/>
                <a:ea typeface="Courier New" pitchFamily="34" charset="-122"/>
                <a:cs typeface="Courier New" pitchFamily="34" charset="-120"/>
              </a:rPr>
              <a:t>60</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y</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temps</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9EC1EA"/>
                </a:solidFill>
                <a:latin typeface="Courier New" pitchFamily="34" charset="0"/>
                <a:ea typeface="Courier New" pitchFamily="34" charset="-122"/>
                <a:cs typeface="Courier New" pitchFamily="34" charset="-120"/>
              </a:rPr>
              <a:t>60</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8FA9CC"/>
                </a:solidFill>
                <a:latin typeface="Courier New" pitchFamily="34" charset="0"/>
                <a:ea typeface="Courier New" pitchFamily="34" charset="-122"/>
                <a:cs typeface="Courier New" pitchFamily="34" charset="-120"/>
              </a:rPr>
              <a:t># slope b, intercept a</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b</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np</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polyfit</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t</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y</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9EC1EA"/>
                </a:solidFill>
                <a:latin typeface="Courier New" pitchFamily="34" charset="0"/>
                <a:ea typeface="Courier New" pitchFamily="34" charset="-122"/>
                <a:cs typeface="Courier New" pitchFamily="34" charset="-120"/>
              </a:rPr>
              <a:t>1</a:t>
            </a:r>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future</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b</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t</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9EC1EA"/>
                </a:solidFill>
                <a:latin typeface="Courier New" pitchFamily="34" charset="0"/>
                <a:ea typeface="Courier New" pitchFamily="34" charset="-122"/>
                <a:cs typeface="Courier New" pitchFamily="34" charset="-120"/>
              </a:rPr>
              <a:t>1</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9EC1EA"/>
                </a:solidFill>
                <a:latin typeface="Courier New" pitchFamily="34" charset="0"/>
                <a:ea typeface="Courier New" pitchFamily="34" charset="-122"/>
                <a:cs typeface="Courier New" pitchFamily="34" charset="-120"/>
              </a:rPr>
              <a:t>15</a:t>
            </a:r>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FFD166"/>
                </a:solidFill>
                <a:latin typeface="Courier New" pitchFamily="34" charset="0"/>
                <a:ea typeface="Courier New" pitchFamily="34" charset="-122"/>
                <a:cs typeface="Courier New" pitchFamily="34" charset="-120"/>
              </a:rPr>
              <a:t>if</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b</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&gt;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9EC1EA"/>
                </a:solidFill>
                <a:latin typeface="Courier New" pitchFamily="34" charset="0"/>
                <a:ea typeface="Courier New" pitchFamily="34" charset="-122"/>
                <a:cs typeface="Courier New" pitchFamily="34" charset="-120"/>
              </a:rPr>
              <a:t>0</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D166"/>
                </a:solidFill>
                <a:latin typeface="Courier New" pitchFamily="34" charset="0"/>
                <a:ea typeface="Courier New" pitchFamily="34" charset="-122"/>
                <a:cs typeface="Courier New" pitchFamily="34" charset="-120"/>
              </a:rPr>
              <a:t>and</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future</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&gt;</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9EC1EA"/>
                </a:solidFill>
                <a:latin typeface="Courier New" pitchFamily="34" charset="0"/>
                <a:ea typeface="Courier New" pitchFamily="34" charset="-122"/>
                <a:cs typeface="Courier New" pitchFamily="34" charset="-120"/>
              </a:rPr>
              <a:t>38.0</a:t>
            </a:r>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eta</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9EC1EA"/>
                </a:solidFill>
                <a:latin typeface="Courier New" pitchFamily="34" charset="0"/>
                <a:ea typeface="Courier New" pitchFamily="34" charset="-122"/>
                <a:cs typeface="Courier New" pitchFamily="34" charset="-120"/>
              </a:rPr>
              <a:t>38.0</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y</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9EC1EA"/>
                </a:solidFill>
                <a:latin typeface="Courier New" pitchFamily="34" charset="0"/>
                <a:ea typeface="Courier New" pitchFamily="34" charset="-122"/>
                <a:cs typeface="Courier New" pitchFamily="34" charset="-120"/>
              </a:rPr>
              <a:t>1</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b</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warn</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user</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B4A8"/>
                </a:solidFill>
                <a:latin typeface="Courier New" pitchFamily="34" charset="0"/>
                <a:ea typeface="Courier New" pitchFamily="34" charset="-122"/>
                <a:cs typeface="Courier New" pitchFamily="34" charset="-120"/>
              </a:rPr>
              <a:t>"Temp rising"</a:t>
            </a:r>
            <a:pPr indent="0" marL="0">
              <a:buNone/>
            </a:pPr>
            <a:r>
              <a:rPr lang="en-US" sz="850" dirty="0">
                <a:solidFill>
                  <a:srgbClr val="FFFFFF"/>
                </a:solidFill>
                <a:latin typeface="Courier New" pitchFamily="34" charset="0"/>
                <a:ea typeface="Courier New" pitchFamily="34" charset="-122"/>
                <a:cs typeface="Courier New" pitchFamily="34" charset="-120"/>
              </a:rPr>
              <a:t>,</a:t>
            </a:r>
            <a:pPr indent="0" marL="0">
              <a:buNone/>
            </a:pPr>
            <a:r>
              <a:rPr lang="en-US" sz="850" dirty="0">
                <a:solidFill>
                  <a:srgbClr val="FFFFFF"/>
                </a:solidFill>
                <a:latin typeface="Courier New" pitchFamily="34" charset="0"/>
                <a:ea typeface="Courier New" pitchFamily="34" charset="-122"/>
                <a:cs typeface="Courier New" pitchFamily="34" charset="-120"/>
              </a:rPr>
              <a:t> </a:t>
            </a:r>
            <a:pPr indent="0" marL="0">
              <a:buNone/>
            </a:pPr>
            <a:r>
              <a:rPr lang="en-US" sz="850" dirty="0">
                <a:solidFill>
                  <a:srgbClr val="FFFFFF"/>
                </a:solidFill>
                <a:latin typeface="Courier New" pitchFamily="34" charset="0"/>
                <a:ea typeface="Courier New" pitchFamily="34" charset="-122"/>
                <a:cs typeface="Courier New" pitchFamily="34" charset="-120"/>
              </a:rPr>
              <a:t>eta</a:t>
            </a:r>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FEATURES, TRAINING &amp; TESTING</a:t>
            </a:r>
            <a:endParaRPr lang="en-US" sz="3000" dirty="0"/>
          </a:p>
        </p:txBody>
      </p:sp>
      <p:sp>
        <p:nvSpPr>
          <p:cNvPr id="3" name="mlcol1"/>
          <p:cNvSpPr/>
          <p:nvPr/>
        </p:nvSpPr>
        <p:spPr>
          <a:xfrm>
            <a:off x="548640" y="1371600"/>
            <a:ext cx="2560320" cy="3246120"/>
          </a:xfrm>
          <a:prstGeom prst="roundRect">
            <a:avLst>
              <a:gd name="adj" fmla="val 5000"/>
            </a:avLst>
          </a:prstGeom>
          <a:solidFill>
            <a:srgbClr val="1B4670">
              <a:alpha val="70000"/>
            </a:srgbClr>
          </a:solidFill>
          <a:ln w="15875">
            <a:solidFill>
              <a:srgbClr val="FFFFFF"/>
            </a:solidFill>
            <a:prstDash val="solid"/>
          </a:ln>
        </p:spPr>
      </p:sp>
      <p:sp>
        <p:nvSpPr>
          <p:cNvPr id="4" name="Shape 2"/>
          <p:cNvSpPr/>
          <p:nvPr/>
        </p:nvSpPr>
        <p:spPr>
          <a:xfrm>
            <a:off x="868680" y="1188720"/>
            <a:ext cx="1920240" cy="365760"/>
          </a:xfrm>
          <a:prstGeom prst="roundRect">
            <a:avLst>
              <a:gd name="adj" fmla="val 50000"/>
            </a:avLst>
          </a:prstGeom>
          <a:solidFill>
            <a:srgbClr val="214F7B"/>
          </a:solidFill>
          <a:ln w="15875">
            <a:solidFill>
              <a:srgbClr val="FFFFFF"/>
            </a:solidFill>
            <a:prstDash val="solid"/>
          </a:ln>
        </p:spPr>
      </p:sp>
      <p:sp>
        <p:nvSpPr>
          <p:cNvPr id="5" name="Text 3"/>
          <p:cNvSpPr txBox="1"/>
          <p:nvPr/>
        </p:nvSpPr>
        <p:spPr>
          <a:xfrm>
            <a:off x="868680" y="1188720"/>
            <a:ext cx="1920240" cy="365760"/>
          </a:xfrm>
          <a:prstGeom prst="rect">
            <a:avLst/>
          </a:prstGeom>
          <a:noFill/>
          <a:ln/>
        </p:spPr>
        <p:txBody>
          <a:bodyPr wrap="square" lIns="0" tIns="0" rIns="0" bIns="0" rtlCol="0" anchor="ctr"/>
          <a:lstStyle/>
          <a:p>
            <a:pPr algn="ctr" indent="0" marL="0">
              <a:buNone/>
            </a:pPr>
            <a:r>
              <a:rPr lang="en-US" sz="1000" b="1" dirty="0">
                <a:solidFill>
                  <a:schemeClr val="bg1"/>
                </a:solidFill>
              </a:rPr>
              <a:t>FEATURES (10 s)</a:t>
            </a:r>
            <a:endParaRPr lang="en-US" sz="1000" dirty="0"/>
          </a:p>
        </p:txBody>
      </p:sp>
      <p:sp>
        <p:nvSpPr>
          <p:cNvPr id="6" name="Text 4"/>
          <p:cNvSpPr txBox="1"/>
          <p:nvPr/>
        </p:nvSpPr>
        <p:spPr>
          <a:xfrm>
            <a:off x="731520" y="1783080"/>
            <a:ext cx="2212848" cy="274320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chemeClr val="bg1"/>
                </a:solidFill>
              </a:rPr>
              <a:t>Mean heart rate</a:t>
            </a:r>
            <a:endParaRPr lang="en-US" sz="1150" dirty="0"/>
          </a:p>
          <a:p>
            <a:pPr marL="152400" indent="-152400">
              <a:spcAft>
                <a:spcPts val="700"/>
              </a:spcAft>
              <a:buSzPct val="100000"/>
              <a:buChar char="•"/>
            </a:pPr>
            <a:r>
              <a:rPr lang="en-US" sz="1150" dirty="0">
                <a:solidFill>
                  <a:schemeClr val="bg1"/>
                </a:solidFill>
              </a:rPr>
              <a:t>Heart-rate variability</a:t>
            </a:r>
            <a:endParaRPr lang="en-US" sz="1150" dirty="0"/>
          </a:p>
          <a:p>
            <a:pPr marL="152400" indent="-152400">
              <a:spcAft>
                <a:spcPts val="700"/>
              </a:spcAft>
              <a:buSzPct val="100000"/>
              <a:buChar char="•"/>
            </a:pPr>
            <a:r>
              <a:rPr lang="en-US" sz="1150" dirty="0">
                <a:solidFill>
                  <a:schemeClr val="bg1"/>
                </a:solidFill>
              </a:rPr>
              <a:t>Min and max heart rate</a:t>
            </a:r>
            <a:endParaRPr lang="en-US" sz="1150" dirty="0"/>
          </a:p>
          <a:p>
            <a:pPr marL="152400" indent="-152400">
              <a:spcAft>
                <a:spcPts val="700"/>
              </a:spcAft>
              <a:buSzPct val="100000"/>
              <a:buChar char="•"/>
            </a:pPr>
            <a:r>
              <a:rPr lang="en-US" sz="1150" dirty="0">
                <a:solidFill>
                  <a:schemeClr val="bg1"/>
                </a:solidFill>
              </a:rPr>
              <a:t>Mean SpO₂</a:t>
            </a:r>
            <a:endParaRPr lang="en-US" sz="1150" dirty="0"/>
          </a:p>
          <a:p>
            <a:pPr marL="152400" indent="-152400">
              <a:spcAft>
                <a:spcPts val="700"/>
              </a:spcAft>
              <a:buSzPct val="100000"/>
              <a:buChar char="•"/>
            </a:pPr>
            <a:r>
              <a:rPr lang="en-US" sz="1150" dirty="0">
                <a:solidFill>
                  <a:schemeClr val="bg1"/>
                </a:solidFill>
              </a:rPr>
              <a:t>Temperature vs. your baseline</a:t>
            </a:r>
            <a:endParaRPr lang="en-US" sz="1150" dirty="0"/>
          </a:p>
          <a:p>
            <a:pPr marL="152400" indent="-152400">
              <a:spcAft>
                <a:spcPts val="700"/>
              </a:spcAft>
              <a:buSzPct val="100000"/>
              <a:buChar char="•"/>
            </a:pPr>
            <a:r>
              <a:rPr lang="en-US" sz="1150" dirty="0">
                <a:solidFill>
                  <a:schemeClr val="bg1"/>
                </a:solidFill>
              </a:rPr>
              <a:t>Trend slope (for prediction)</a:t>
            </a:r>
            <a:endParaRPr lang="en-US" sz="1150" dirty="0"/>
          </a:p>
          <a:p>
            <a:pPr marL="152400" indent="-152400">
              <a:spcAft>
                <a:spcPts val="700"/>
              </a:spcAft>
              <a:buSzPct val="100000"/>
              <a:buChar char="•"/>
            </a:pPr>
            <a:r>
              <a:rPr lang="en-US" sz="1150" dirty="0">
                <a:solidFill>
                  <a:schemeClr val="bg1"/>
                </a:solidFill>
              </a:rPr>
              <a:t>Signal quality (AC/DC)</a:t>
            </a:r>
            <a:endParaRPr lang="en-US" sz="1150" dirty="0"/>
          </a:p>
        </p:txBody>
      </p:sp>
      <p:sp>
        <p:nvSpPr>
          <p:cNvPr id="7" name="mlcol2"/>
          <p:cNvSpPr/>
          <p:nvPr/>
        </p:nvSpPr>
        <p:spPr>
          <a:xfrm>
            <a:off x="3291840" y="1371600"/>
            <a:ext cx="2560320" cy="3246120"/>
          </a:xfrm>
          <a:prstGeom prst="roundRect">
            <a:avLst>
              <a:gd name="adj" fmla="val 5000"/>
            </a:avLst>
          </a:prstGeom>
          <a:solidFill>
            <a:srgbClr val="1B4670">
              <a:alpha val="70000"/>
            </a:srgbClr>
          </a:solidFill>
          <a:ln w="15875">
            <a:solidFill>
              <a:srgbClr val="FFFFFF"/>
            </a:solidFill>
            <a:prstDash val="solid"/>
          </a:ln>
        </p:spPr>
      </p:sp>
      <p:sp>
        <p:nvSpPr>
          <p:cNvPr id="8" name="Shape 6"/>
          <p:cNvSpPr/>
          <p:nvPr/>
        </p:nvSpPr>
        <p:spPr>
          <a:xfrm>
            <a:off x="3611880" y="1188720"/>
            <a:ext cx="1920240" cy="365760"/>
          </a:xfrm>
          <a:prstGeom prst="roundRect">
            <a:avLst>
              <a:gd name="adj" fmla="val 50000"/>
            </a:avLst>
          </a:prstGeom>
          <a:solidFill>
            <a:srgbClr val="214F7B"/>
          </a:solidFill>
          <a:ln w="15875">
            <a:solidFill>
              <a:srgbClr val="FFFFFF"/>
            </a:solidFill>
            <a:prstDash val="solid"/>
          </a:ln>
        </p:spPr>
      </p:sp>
      <p:sp>
        <p:nvSpPr>
          <p:cNvPr id="9" name="Text 7"/>
          <p:cNvSpPr txBox="1"/>
          <p:nvPr/>
        </p:nvSpPr>
        <p:spPr>
          <a:xfrm>
            <a:off x="3611880" y="1188720"/>
            <a:ext cx="1920240" cy="365760"/>
          </a:xfrm>
          <a:prstGeom prst="rect">
            <a:avLst/>
          </a:prstGeom>
          <a:noFill/>
          <a:ln/>
        </p:spPr>
        <p:txBody>
          <a:bodyPr wrap="square" lIns="0" tIns="0" rIns="0" bIns="0" rtlCol="0" anchor="ctr"/>
          <a:lstStyle/>
          <a:p>
            <a:pPr algn="ctr" indent="0" marL="0">
              <a:buNone/>
            </a:pPr>
            <a:r>
              <a:rPr lang="en-US" sz="1000" b="1" dirty="0">
                <a:solidFill>
                  <a:schemeClr val="bg1"/>
                </a:solidFill>
              </a:rPr>
              <a:t>TRAINING PLAN</a:t>
            </a:r>
            <a:endParaRPr lang="en-US" sz="1000" dirty="0"/>
          </a:p>
        </p:txBody>
      </p:sp>
      <p:sp>
        <p:nvSpPr>
          <p:cNvPr id="10" name="Text 8"/>
          <p:cNvSpPr txBox="1"/>
          <p:nvPr/>
        </p:nvSpPr>
        <p:spPr>
          <a:xfrm>
            <a:off x="3474720" y="1783080"/>
            <a:ext cx="2212848" cy="274320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chemeClr val="bg1"/>
                </a:solidFill>
              </a:rPr>
              <a:t>Resting sessions from each member</a:t>
            </a:r>
            <a:endParaRPr lang="en-US" sz="1150" dirty="0"/>
          </a:p>
          <a:p>
            <a:pPr marL="152400" indent="-152400">
              <a:spcAft>
                <a:spcPts val="700"/>
              </a:spcAft>
              <a:buSzPct val="100000"/>
              <a:buChar char="•"/>
            </a:pPr>
            <a:r>
              <a:rPr lang="en-US" sz="1150" dirty="0">
                <a:solidFill>
                  <a:schemeClr val="bg1"/>
                </a:solidFill>
              </a:rPr>
              <a:t>Sessions after stairs or exercise, labelled "Elevated"</a:t>
            </a:r>
            <a:endParaRPr lang="en-US" sz="1150" dirty="0"/>
          </a:p>
          <a:p>
            <a:pPr marL="152400" indent="-152400">
              <a:spcAft>
                <a:spcPts val="700"/>
              </a:spcAft>
              <a:buSzPct val="100000"/>
              <a:buChar char="•"/>
            </a:pPr>
            <a:r>
              <a:rPr lang="en-US" sz="1150" dirty="0">
                <a:solidFill>
                  <a:schemeClr val="bg1"/>
                </a:solidFill>
              </a:rPr>
              <a:t>Moving-finger sessions for the quality model</a:t>
            </a:r>
            <a:endParaRPr lang="en-US" sz="1150" dirty="0"/>
          </a:p>
          <a:p>
            <a:pPr marL="152400" indent="-152400">
              <a:spcAft>
                <a:spcPts val="700"/>
              </a:spcAft>
              <a:buSzPct val="100000"/>
              <a:buChar char="•"/>
            </a:pPr>
            <a:r>
              <a:rPr lang="en-US" sz="1150" dirty="0">
                <a:solidFill>
                  <a:schemeClr val="bg1"/>
                </a:solidFill>
              </a:rPr>
              <a:t>One anomaly model per user</a:t>
            </a:r>
            <a:endParaRPr lang="en-US" sz="1150" dirty="0"/>
          </a:p>
          <a:p>
            <a:pPr marL="152400" indent="-152400">
              <a:spcAft>
                <a:spcPts val="700"/>
              </a:spcAft>
              <a:buSzPct val="100000"/>
              <a:buChar char="•"/>
            </a:pPr>
            <a:r>
              <a:rPr lang="en-US" sz="1150" dirty="0">
                <a:solidFill>
                  <a:schemeClr val="bg1"/>
                </a:solidFill>
              </a:rPr>
              <a:t>Retrain as more data arrives</a:t>
            </a:r>
            <a:endParaRPr lang="en-US" sz="1150" dirty="0"/>
          </a:p>
        </p:txBody>
      </p:sp>
      <p:sp>
        <p:nvSpPr>
          <p:cNvPr id="11" name="mlcol3"/>
          <p:cNvSpPr/>
          <p:nvPr/>
        </p:nvSpPr>
        <p:spPr>
          <a:xfrm>
            <a:off x="6035040" y="1371600"/>
            <a:ext cx="2560320" cy="3246120"/>
          </a:xfrm>
          <a:prstGeom prst="roundRect">
            <a:avLst>
              <a:gd name="adj" fmla="val 5000"/>
            </a:avLst>
          </a:prstGeom>
          <a:solidFill>
            <a:srgbClr val="1B4670">
              <a:alpha val="70000"/>
            </a:srgbClr>
          </a:solidFill>
          <a:ln w="15875">
            <a:solidFill>
              <a:srgbClr val="FFFFFF"/>
            </a:solidFill>
            <a:prstDash val="solid"/>
          </a:ln>
        </p:spPr>
      </p:sp>
      <p:sp>
        <p:nvSpPr>
          <p:cNvPr id="12" name="Shape 10"/>
          <p:cNvSpPr/>
          <p:nvPr/>
        </p:nvSpPr>
        <p:spPr>
          <a:xfrm>
            <a:off x="6355080" y="1188720"/>
            <a:ext cx="1920240" cy="365760"/>
          </a:xfrm>
          <a:prstGeom prst="roundRect">
            <a:avLst>
              <a:gd name="adj" fmla="val 50000"/>
            </a:avLst>
          </a:prstGeom>
          <a:solidFill>
            <a:srgbClr val="214F7B"/>
          </a:solidFill>
          <a:ln w="15875">
            <a:solidFill>
              <a:srgbClr val="FFFFFF"/>
            </a:solidFill>
            <a:prstDash val="solid"/>
          </a:ln>
        </p:spPr>
      </p:sp>
      <p:sp>
        <p:nvSpPr>
          <p:cNvPr id="13" name="Text 11"/>
          <p:cNvSpPr txBox="1"/>
          <p:nvPr/>
        </p:nvSpPr>
        <p:spPr>
          <a:xfrm>
            <a:off x="6355080" y="1188720"/>
            <a:ext cx="1920240" cy="365760"/>
          </a:xfrm>
          <a:prstGeom prst="rect">
            <a:avLst/>
          </a:prstGeom>
          <a:noFill/>
          <a:ln/>
        </p:spPr>
        <p:txBody>
          <a:bodyPr wrap="square" lIns="0" tIns="0" rIns="0" bIns="0" rtlCol="0" anchor="ctr"/>
          <a:lstStyle/>
          <a:p>
            <a:pPr algn="ctr" indent="0" marL="0">
              <a:buNone/>
            </a:pPr>
            <a:r>
              <a:rPr lang="en-US" sz="1000" b="1" dirty="0">
                <a:solidFill>
                  <a:schemeClr val="bg1"/>
                </a:solidFill>
              </a:rPr>
              <a:t>HOW WE TEST IT</a:t>
            </a:r>
            <a:endParaRPr lang="en-US" sz="1000" dirty="0"/>
          </a:p>
        </p:txBody>
      </p:sp>
      <p:sp>
        <p:nvSpPr>
          <p:cNvPr id="14" name="Text 12"/>
          <p:cNvSpPr txBox="1"/>
          <p:nvPr/>
        </p:nvSpPr>
        <p:spPr>
          <a:xfrm>
            <a:off x="6217920" y="1783080"/>
            <a:ext cx="2212848" cy="274320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chemeClr val="bg1"/>
                </a:solidFill>
              </a:rPr>
              <a:t>Alerts: precision and recall on held-out sessions</a:t>
            </a:r>
            <a:endParaRPr lang="en-US" sz="1150" dirty="0"/>
          </a:p>
          <a:p>
            <a:pPr marL="152400" indent="-152400">
              <a:spcAft>
                <a:spcPts val="700"/>
              </a:spcAft>
              <a:buSzPct val="100000"/>
              <a:buChar char="•"/>
            </a:pPr>
            <a:r>
              <a:rPr lang="en-US" sz="1150" dirty="0">
                <a:solidFill>
                  <a:schemeClr val="bg1"/>
                </a:solidFill>
              </a:rPr>
              <a:t>State classifier: accuracy and confusion matrix</a:t>
            </a:r>
            <a:endParaRPr lang="en-US" sz="1150" dirty="0"/>
          </a:p>
          <a:p>
            <a:pPr marL="152400" indent="-152400">
              <a:spcAft>
                <a:spcPts val="700"/>
              </a:spcAft>
              <a:buSzPct val="100000"/>
              <a:buChar char="•"/>
            </a:pPr>
            <a:r>
              <a:rPr lang="en-US" sz="1150" dirty="0">
                <a:solidFill>
                  <a:schemeClr val="bg1"/>
                </a:solidFill>
              </a:rPr>
              <a:t>Prediction: error between forecast and actual value</a:t>
            </a:r>
            <a:endParaRPr lang="en-US" sz="1150" dirty="0"/>
          </a:p>
          <a:p>
            <a:pPr marL="152400" indent="-152400">
              <a:spcAft>
                <a:spcPts val="700"/>
              </a:spcAft>
              <a:buSzPct val="100000"/>
              <a:buChar char="•"/>
            </a:pPr>
            <a:r>
              <a:rPr lang="en-US" sz="1150" dirty="0">
                <a:solidFill>
                  <a:schemeClr val="bg1"/>
                </a:solidFill>
              </a:rPr>
              <a:t>Sensors vs. commercial oximeter and thermometer</a:t>
            </a:r>
            <a:endParaRPr lang="en-US" sz="11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EMERGENCY ALERT SYSTEM</a:t>
            </a:r>
            <a:endParaRPr lang="en-US" sz="3000" dirty="0"/>
          </a:p>
        </p:txBody>
      </p:sp>
      <p:sp>
        <p:nvSpPr>
          <p:cNvPr id="3" name="triggers"/>
          <p:cNvSpPr/>
          <p:nvPr/>
        </p:nvSpPr>
        <p:spPr>
          <a:xfrm>
            <a:off x="548640" y="1371600"/>
            <a:ext cx="2423160" cy="3246120"/>
          </a:xfrm>
          <a:prstGeom prst="roundRect">
            <a:avLst>
              <a:gd name="adj" fmla="val 5283"/>
            </a:avLst>
          </a:prstGeom>
          <a:solidFill>
            <a:srgbClr val="1B4670">
              <a:alpha val="70000"/>
            </a:srgbClr>
          </a:solidFill>
          <a:ln w="15875">
            <a:solidFill>
              <a:srgbClr val="FF7B7B"/>
            </a:solidFill>
            <a:prstDash val="solid"/>
          </a:ln>
        </p:spPr>
      </p:sp>
      <p:sp>
        <p:nvSpPr>
          <p:cNvPr id="4" name="Shape 2"/>
          <p:cNvSpPr/>
          <p:nvPr/>
        </p:nvSpPr>
        <p:spPr>
          <a:xfrm>
            <a:off x="896112" y="1188720"/>
            <a:ext cx="1737360" cy="365760"/>
          </a:xfrm>
          <a:prstGeom prst="roundRect">
            <a:avLst>
              <a:gd name="adj" fmla="val 50000"/>
            </a:avLst>
          </a:prstGeom>
          <a:solidFill>
            <a:srgbClr val="214F7B"/>
          </a:solidFill>
          <a:ln w="15875">
            <a:solidFill>
              <a:srgbClr val="FFFFFF"/>
            </a:solidFill>
            <a:prstDash val="solid"/>
          </a:ln>
        </p:spPr>
      </p:sp>
      <p:sp>
        <p:nvSpPr>
          <p:cNvPr id="5" name="Text 3"/>
          <p:cNvSpPr txBox="1"/>
          <p:nvPr/>
        </p:nvSpPr>
        <p:spPr>
          <a:xfrm>
            <a:off x="896112" y="1188720"/>
            <a:ext cx="1737360" cy="365760"/>
          </a:xfrm>
          <a:prstGeom prst="rect">
            <a:avLst/>
          </a:prstGeom>
          <a:noFill/>
          <a:ln/>
        </p:spPr>
        <p:txBody>
          <a:bodyPr wrap="square" lIns="0" tIns="0" rIns="0" bIns="0" rtlCol="0" anchor="ctr"/>
          <a:lstStyle/>
          <a:p>
            <a:pPr algn="ctr" indent="0" marL="0">
              <a:buNone/>
            </a:pPr>
            <a:r>
              <a:rPr lang="en-US" sz="1100" b="1" dirty="0">
                <a:solidFill>
                  <a:schemeClr val="accent3"/>
                </a:solidFill>
              </a:rPr>
              <a:t>TRIGGERS</a:t>
            </a:r>
            <a:endParaRPr lang="en-US" sz="1100" dirty="0"/>
          </a:p>
        </p:txBody>
      </p:sp>
      <p:sp>
        <p:nvSpPr>
          <p:cNvPr id="6" name="Text 4"/>
          <p:cNvSpPr txBox="1"/>
          <p:nvPr/>
        </p:nvSpPr>
        <p:spPr>
          <a:xfrm>
            <a:off x="713232" y="1737360"/>
            <a:ext cx="2148840" cy="237744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chemeClr val="bg1"/>
                </a:solidFill>
              </a:rPr>
              <a:t>SpO₂ below 90% for 10 s</a:t>
            </a:r>
            <a:endParaRPr lang="en-US" sz="1050" dirty="0"/>
          </a:p>
          <a:p>
            <a:pPr marL="152400" indent="-152400">
              <a:spcAft>
                <a:spcPts val="600"/>
              </a:spcAft>
              <a:buSzPct val="100000"/>
              <a:buChar char="•"/>
            </a:pPr>
            <a:r>
              <a:rPr lang="en-US" sz="1050" dirty="0">
                <a:solidFill>
                  <a:schemeClr val="bg1"/>
                </a:solidFill>
              </a:rPr>
              <a:t>Heart rate above 120 or below 45 bpm</a:t>
            </a:r>
            <a:endParaRPr lang="en-US" sz="1050" dirty="0"/>
          </a:p>
          <a:p>
            <a:pPr marL="152400" indent="-152400">
              <a:spcAft>
                <a:spcPts val="600"/>
              </a:spcAft>
              <a:buSzPct val="100000"/>
              <a:buChar char="•"/>
            </a:pPr>
            <a:r>
              <a:rPr lang="en-US" sz="1050" dirty="0">
                <a:solidFill>
                  <a:schemeClr val="bg1"/>
                </a:solidFill>
              </a:rPr>
              <a:t>Temperature 38.5 °C or higher</a:t>
            </a:r>
            <a:endParaRPr lang="en-US" sz="1050" dirty="0"/>
          </a:p>
          <a:p>
            <a:pPr marL="152400" indent="-152400">
              <a:spcAft>
                <a:spcPts val="600"/>
              </a:spcAft>
              <a:buSzPct val="100000"/>
              <a:buChar char="•"/>
            </a:pPr>
            <a:r>
              <a:rPr lang="en-US" sz="1050" dirty="0">
                <a:solidFill>
                  <a:schemeClr val="bg1"/>
                </a:solidFill>
              </a:rPr>
              <a:t>High anomaly score 3 times in a row</a:t>
            </a:r>
            <a:endParaRPr lang="en-US" sz="1050" dirty="0"/>
          </a:p>
          <a:p>
            <a:pPr marL="152400" indent="-152400">
              <a:spcAft>
                <a:spcPts val="600"/>
              </a:spcAft>
              <a:buSzPct val="100000"/>
              <a:buChar char="•"/>
            </a:pPr>
            <a:r>
              <a:rPr lang="en-US" sz="1050" dirty="0">
                <a:solidFill>
                  <a:schemeClr val="bg1"/>
                </a:solidFill>
              </a:rPr>
              <a:t>Early warning from trend prediction</a:t>
            </a:r>
            <a:endParaRPr lang="en-US" sz="1050" dirty="0"/>
          </a:p>
        </p:txBody>
      </p:sp>
      <p:sp>
        <p:nvSpPr>
          <p:cNvPr id="7" name="Text 5"/>
          <p:cNvSpPr txBox="1"/>
          <p:nvPr/>
        </p:nvSpPr>
        <p:spPr>
          <a:xfrm>
            <a:off x="713232" y="4160520"/>
            <a:ext cx="2148840" cy="365760"/>
          </a:xfrm>
          <a:prstGeom prst="rect">
            <a:avLst/>
          </a:prstGeom>
          <a:noFill/>
          <a:ln/>
        </p:spPr>
        <p:txBody>
          <a:bodyPr wrap="square" lIns="0" tIns="0" rIns="0" bIns="0" rtlCol="0" anchor="t"/>
          <a:lstStyle/>
          <a:p>
            <a:pPr indent="0" marL="0">
              <a:buNone/>
            </a:pPr>
            <a:r>
              <a:rPr lang="en-US" sz="950" i="1" dirty="0">
                <a:solidFill>
                  <a:schemeClr val="accent2"/>
                </a:solidFill>
              </a:rPr>
              <a:t>5-minute cooldown between repeat alerts</a:t>
            </a:r>
            <a:endParaRPr lang="en-US" sz="950" dirty="0"/>
          </a:p>
        </p:txBody>
      </p:sp>
      <p:sp>
        <p:nvSpPr>
          <p:cNvPr id="8" name="Shape 6"/>
          <p:cNvSpPr/>
          <p:nvPr/>
        </p:nvSpPr>
        <p:spPr>
          <a:xfrm>
            <a:off x="3246120" y="1188720"/>
            <a:ext cx="1645920" cy="365760"/>
          </a:xfrm>
          <a:prstGeom prst="roundRect">
            <a:avLst>
              <a:gd name="adj" fmla="val 50000"/>
            </a:avLst>
          </a:prstGeom>
          <a:solidFill>
            <a:srgbClr val="214F7B"/>
          </a:solidFill>
          <a:ln w="15875">
            <a:solidFill>
              <a:srgbClr val="FFFFFF"/>
            </a:solidFill>
            <a:prstDash val="solid"/>
          </a:ln>
        </p:spPr>
      </p:sp>
      <p:sp>
        <p:nvSpPr>
          <p:cNvPr id="9" name="Text 7"/>
          <p:cNvSpPr txBox="1"/>
          <p:nvPr/>
        </p:nvSpPr>
        <p:spPr>
          <a:xfrm>
            <a:off x="3246120" y="1188720"/>
            <a:ext cx="1645920" cy="365760"/>
          </a:xfrm>
          <a:prstGeom prst="rect">
            <a:avLst/>
          </a:prstGeom>
          <a:noFill/>
          <a:ln/>
        </p:spPr>
        <p:txBody>
          <a:bodyPr wrap="square" lIns="0" tIns="0" rIns="0" bIns="0" rtlCol="0" anchor="ctr"/>
          <a:lstStyle/>
          <a:p>
            <a:pPr algn="ctr" indent="0" marL="0">
              <a:buNone/>
            </a:pPr>
            <a:r>
              <a:rPr lang="en-US" sz="1100" b="1" dirty="0">
                <a:solidFill>
                  <a:schemeClr val="bg1"/>
                </a:solidFill>
              </a:rPr>
              <a:t>ACTIONS</a:t>
            </a:r>
            <a:endParaRPr lang="en-US" sz="1100" dirty="0"/>
          </a:p>
        </p:txBody>
      </p:sp>
      <p:sp>
        <p:nvSpPr>
          <p:cNvPr id="10" name="action1"/>
          <p:cNvSpPr/>
          <p:nvPr/>
        </p:nvSpPr>
        <p:spPr>
          <a:xfrm>
            <a:off x="3154680" y="1691640"/>
            <a:ext cx="1828800" cy="822960"/>
          </a:xfrm>
          <a:prstGeom prst="roundRect">
            <a:avLst>
              <a:gd name="adj" fmla="val 15556"/>
            </a:avLst>
          </a:prstGeom>
          <a:solidFill>
            <a:srgbClr val="1B4670">
              <a:alpha val="70000"/>
            </a:srgbClr>
          </a:solidFill>
          <a:ln w="15875">
            <a:solidFill>
              <a:srgbClr val="FFFFFF"/>
            </a:solidFill>
            <a:prstDash val="solid"/>
          </a:ln>
        </p:spPr>
      </p:sp>
      <p:sp>
        <p:nvSpPr>
          <p:cNvPr id="11" name="Shape 9"/>
          <p:cNvSpPr/>
          <p:nvPr/>
        </p:nvSpPr>
        <p:spPr>
          <a:xfrm>
            <a:off x="3246120" y="1874520"/>
            <a:ext cx="457200" cy="457200"/>
          </a:xfrm>
          <a:prstGeom prst="ellipse">
            <a:avLst/>
          </a:prstGeom>
          <a:solidFill>
            <a:srgbClr val="3F6FAE"/>
          </a:solidFill>
          <a:ln w="12700">
            <a:solidFill>
              <a:srgbClr val="FFFFFF"/>
            </a:solidFill>
            <a:prstDash val="solid"/>
          </a:ln>
        </p:spPr>
      </p:sp>
      <p:sp>
        <p:nvSpPr>
          <p:cNvPr id="12" name="Text 10"/>
          <p:cNvSpPr txBox="1"/>
          <p:nvPr/>
        </p:nvSpPr>
        <p:spPr>
          <a:xfrm>
            <a:off x="3767328" y="1801368"/>
            <a:ext cx="1188720" cy="365760"/>
          </a:xfrm>
          <a:prstGeom prst="rect">
            <a:avLst/>
          </a:prstGeom>
          <a:noFill/>
          <a:ln/>
        </p:spPr>
        <p:txBody>
          <a:bodyPr wrap="square" lIns="0" tIns="0" rIns="0" bIns="0" rtlCol="0" anchor="ctr"/>
          <a:lstStyle/>
          <a:p>
            <a:pPr indent="0" marL="0">
              <a:buNone/>
            </a:pPr>
            <a:r>
              <a:rPr lang="en-US" sz="1050" b="1" dirty="0">
                <a:solidFill>
                  <a:schemeClr val="bg1"/>
                </a:solidFill>
              </a:rPr>
              <a:t>Telegram message</a:t>
            </a:r>
            <a:endParaRPr lang="en-US" sz="1050" dirty="0"/>
          </a:p>
        </p:txBody>
      </p:sp>
      <p:sp>
        <p:nvSpPr>
          <p:cNvPr id="13" name="Text 11"/>
          <p:cNvSpPr txBox="1"/>
          <p:nvPr/>
        </p:nvSpPr>
        <p:spPr>
          <a:xfrm>
            <a:off x="3767328" y="2167128"/>
            <a:ext cx="1188720" cy="292608"/>
          </a:xfrm>
          <a:prstGeom prst="rect">
            <a:avLst/>
          </a:prstGeom>
          <a:noFill/>
          <a:ln/>
        </p:spPr>
        <p:txBody>
          <a:bodyPr wrap="square" lIns="0" tIns="0" rIns="0" bIns="0" rtlCol="0" anchor="t"/>
          <a:lstStyle/>
          <a:p>
            <a:pPr indent="0" marL="0">
              <a:buNone/>
            </a:pPr>
            <a:r>
              <a:rPr lang="en-US" sz="900" dirty="0">
                <a:solidFill>
                  <a:schemeClr val="bg2"/>
                </a:solidFill>
              </a:rPr>
              <a:t>to the emergency contact</a:t>
            </a:r>
            <a:endParaRPr lang="en-US" sz="900" dirty="0"/>
          </a:p>
        </p:txBody>
      </p:sp>
      <p:sp>
        <p:nvSpPr>
          <p:cNvPr id="14" name="action2"/>
          <p:cNvSpPr/>
          <p:nvPr/>
        </p:nvSpPr>
        <p:spPr>
          <a:xfrm>
            <a:off x="3154680" y="2670048"/>
            <a:ext cx="1828800" cy="822960"/>
          </a:xfrm>
          <a:prstGeom prst="roundRect">
            <a:avLst>
              <a:gd name="adj" fmla="val 15556"/>
            </a:avLst>
          </a:prstGeom>
          <a:solidFill>
            <a:srgbClr val="1B4670">
              <a:alpha val="70000"/>
            </a:srgbClr>
          </a:solidFill>
          <a:ln w="15875">
            <a:solidFill>
              <a:srgbClr val="FFFFFF"/>
            </a:solidFill>
            <a:prstDash val="solid"/>
          </a:ln>
        </p:spPr>
      </p:sp>
      <p:sp>
        <p:nvSpPr>
          <p:cNvPr id="15" name="Shape 13"/>
          <p:cNvSpPr/>
          <p:nvPr/>
        </p:nvSpPr>
        <p:spPr>
          <a:xfrm>
            <a:off x="3246120" y="2852928"/>
            <a:ext cx="457200" cy="457200"/>
          </a:xfrm>
          <a:prstGeom prst="ellipse">
            <a:avLst/>
          </a:prstGeom>
          <a:solidFill>
            <a:srgbClr val="3F6FAE"/>
          </a:solidFill>
          <a:ln w="12700">
            <a:solidFill>
              <a:srgbClr val="FFFFFF"/>
            </a:solidFill>
            <a:prstDash val="solid"/>
          </a:ln>
        </p:spPr>
      </p:sp>
      <p:sp>
        <p:nvSpPr>
          <p:cNvPr id="16" name="Text 14"/>
          <p:cNvSpPr txBox="1"/>
          <p:nvPr/>
        </p:nvSpPr>
        <p:spPr>
          <a:xfrm>
            <a:off x="3767328" y="2779776"/>
            <a:ext cx="1188720" cy="365760"/>
          </a:xfrm>
          <a:prstGeom prst="rect">
            <a:avLst/>
          </a:prstGeom>
          <a:noFill/>
          <a:ln/>
        </p:spPr>
        <p:txBody>
          <a:bodyPr wrap="square" lIns="0" tIns="0" rIns="0" bIns="0" rtlCol="0" anchor="ctr"/>
          <a:lstStyle/>
          <a:p>
            <a:pPr indent="0" marL="0">
              <a:buNone/>
            </a:pPr>
            <a:r>
              <a:rPr lang="en-US" sz="1050" b="1" dirty="0">
                <a:solidFill>
                  <a:schemeClr val="bg1"/>
                </a:solidFill>
              </a:rPr>
              <a:t>OLED shows ALERT</a:t>
            </a:r>
            <a:endParaRPr lang="en-US" sz="1050" dirty="0"/>
          </a:p>
        </p:txBody>
      </p:sp>
      <p:sp>
        <p:nvSpPr>
          <p:cNvPr id="17" name="Text 15"/>
          <p:cNvSpPr txBox="1"/>
          <p:nvPr/>
        </p:nvSpPr>
        <p:spPr>
          <a:xfrm>
            <a:off x="3767328" y="3145536"/>
            <a:ext cx="1188720" cy="292608"/>
          </a:xfrm>
          <a:prstGeom prst="rect">
            <a:avLst/>
          </a:prstGeom>
          <a:noFill/>
          <a:ln/>
        </p:spPr>
        <p:txBody>
          <a:bodyPr wrap="square" lIns="0" tIns="0" rIns="0" bIns="0" rtlCol="0" anchor="t"/>
          <a:lstStyle/>
          <a:p>
            <a:pPr indent="0" marL="0">
              <a:buNone/>
            </a:pPr>
            <a:r>
              <a:rPr lang="en-US" sz="900" dirty="0">
                <a:solidFill>
                  <a:schemeClr val="bg2"/>
                </a:solidFill>
              </a:rPr>
              <a:t>on the device itself</a:t>
            </a:r>
            <a:endParaRPr lang="en-US" sz="900" dirty="0"/>
          </a:p>
        </p:txBody>
      </p:sp>
      <p:sp>
        <p:nvSpPr>
          <p:cNvPr id="18" name="action3"/>
          <p:cNvSpPr/>
          <p:nvPr/>
        </p:nvSpPr>
        <p:spPr>
          <a:xfrm>
            <a:off x="3154680" y="3648456"/>
            <a:ext cx="1828800" cy="822960"/>
          </a:xfrm>
          <a:prstGeom prst="roundRect">
            <a:avLst>
              <a:gd name="adj" fmla="val 15556"/>
            </a:avLst>
          </a:prstGeom>
          <a:solidFill>
            <a:srgbClr val="1B4670">
              <a:alpha val="70000"/>
            </a:srgbClr>
          </a:solidFill>
          <a:ln w="15875">
            <a:solidFill>
              <a:srgbClr val="FFFFFF"/>
            </a:solidFill>
            <a:prstDash val="solid"/>
          </a:ln>
        </p:spPr>
      </p:sp>
      <p:sp>
        <p:nvSpPr>
          <p:cNvPr id="19" name="Shape 17"/>
          <p:cNvSpPr/>
          <p:nvPr/>
        </p:nvSpPr>
        <p:spPr>
          <a:xfrm>
            <a:off x="3246120" y="3831336"/>
            <a:ext cx="457200" cy="457200"/>
          </a:xfrm>
          <a:prstGeom prst="ellipse">
            <a:avLst/>
          </a:prstGeom>
          <a:solidFill>
            <a:srgbClr val="3F6FAE"/>
          </a:solidFill>
          <a:ln w="12700">
            <a:solidFill>
              <a:srgbClr val="FFFFFF"/>
            </a:solidFill>
            <a:prstDash val="solid"/>
          </a:ln>
        </p:spPr>
      </p:sp>
      <p:sp>
        <p:nvSpPr>
          <p:cNvPr id="20" name="Text 18"/>
          <p:cNvSpPr txBox="1"/>
          <p:nvPr/>
        </p:nvSpPr>
        <p:spPr>
          <a:xfrm>
            <a:off x="3767328" y="3758184"/>
            <a:ext cx="1188720" cy="365760"/>
          </a:xfrm>
          <a:prstGeom prst="rect">
            <a:avLst/>
          </a:prstGeom>
          <a:noFill/>
          <a:ln/>
        </p:spPr>
        <p:txBody>
          <a:bodyPr wrap="square" lIns="0" tIns="0" rIns="0" bIns="0" rtlCol="0" anchor="ctr"/>
          <a:lstStyle/>
          <a:p>
            <a:pPr indent="0" marL="0">
              <a:buNone/>
            </a:pPr>
            <a:r>
              <a:rPr lang="en-US" sz="1050" b="1" dirty="0">
                <a:solidFill>
                  <a:schemeClr val="bg1"/>
                </a:solidFill>
              </a:rPr>
              <a:t>Admin tile turns red</a:t>
            </a:r>
            <a:endParaRPr lang="en-US" sz="1050" dirty="0"/>
          </a:p>
        </p:txBody>
      </p:sp>
      <p:sp>
        <p:nvSpPr>
          <p:cNvPr id="21" name="Text 19"/>
          <p:cNvSpPr txBox="1"/>
          <p:nvPr/>
        </p:nvSpPr>
        <p:spPr>
          <a:xfrm>
            <a:off x="3767328" y="4123944"/>
            <a:ext cx="1188720" cy="292608"/>
          </a:xfrm>
          <a:prstGeom prst="rect">
            <a:avLst/>
          </a:prstGeom>
          <a:noFill/>
          <a:ln/>
        </p:spPr>
        <p:txBody>
          <a:bodyPr wrap="square" lIns="0" tIns="0" rIns="0" bIns="0" rtlCol="0" anchor="t"/>
          <a:lstStyle/>
          <a:p>
            <a:pPr indent="0" marL="0">
              <a:buNone/>
            </a:pPr>
            <a:r>
              <a:rPr lang="en-US" sz="900" dirty="0">
                <a:solidFill>
                  <a:schemeClr val="bg2"/>
                </a:solidFill>
              </a:rPr>
              <a:t>with the reason shown</a:t>
            </a:r>
            <a:endParaRPr lang="en-US" sz="900" dirty="0"/>
          </a:p>
        </p:txBody>
      </p:sp>
      <p:pic>
        <p:nvPicPr>
          <p:cNvPr id="22" name="Image 0" descr="preencoded.png">    </p:cNvPr>
          <p:cNvPicPr>
            <a:picLocks noChangeAspect="1"/>
          </p:cNvPicPr>
          <p:nvPr/>
        </p:nvPicPr>
        <p:blipFill>
          <a:blip r:embed="rId1"/>
          <a:stretch>
            <a:fillRect/>
          </a:stretch>
        </p:blipFill>
        <p:spPr>
          <a:xfrm>
            <a:off x="3364992" y="1993392"/>
            <a:ext cx="219456" cy="219456"/>
          </a:xfrm>
          <a:prstGeom prst="rect">
            <a:avLst/>
          </a:prstGeom>
        </p:spPr>
      </p:pic>
      <p:pic>
        <p:nvPicPr>
          <p:cNvPr id="23" name="Image 1" descr="preencoded.png">    </p:cNvPr>
          <p:cNvPicPr>
            <a:picLocks noChangeAspect="1"/>
          </p:cNvPicPr>
          <p:nvPr/>
        </p:nvPicPr>
        <p:blipFill>
          <a:blip r:embed="rId2"/>
          <a:stretch>
            <a:fillRect/>
          </a:stretch>
        </p:blipFill>
        <p:spPr>
          <a:xfrm>
            <a:off x="3364992" y="2971800"/>
            <a:ext cx="219456" cy="219456"/>
          </a:xfrm>
          <a:prstGeom prst="rect">
            <a:avLst/>
          </a:prstGeom>
        </p:spPr>
      </p:pic>
      <p:pic>
        <p:nvPicPr>
          <p:cNvPr id="24" name="Image 2" descr="preencoded.png">    </p:cNvPr>
          <p:cNvPicPr>
            <a:picLocks noChangeAspect="1"/>
          </p:cNvPicPr>
          <p:nvPr/>
        </p:nvPicPr>
        <p:blipFill>
          <a:blip r:embed="rId3"/>
          <a:stretch>
            <a:fillRect/>
          </a:stretch>
        </p:blipFill>
        <p:spPr>
          <a:xfrm>
            <a:off x="3364992" y="3950208"/>
            <a:ext cx="219456" cy="219456"/>
          </a:xfrm>
          <a:prstGeom prst="rect">
            <a:avLst/>
          </a:prstGeom>
        </p:spPr>
      </p:pic>
      <p:sp>
        <p:nvSpPr>
          <p:cNvPr id="25" name="Shape 20"/>
          <p:cNvSpPr/>
          <p:nvPr/>
        </p:nvSpPr>
        <p:spPr>
          <a:xfrm>
            <a:off x="5166360" y="1188720"/>
            <a:ext cx="3429000" cy="3429000"/>
          </a:xfrm>
          <a:prstGeom prst="roundRect">
            <a:avLst>
              <a:gd name="adj" fmla="val 2667"/>
            </a:avLst>
          </a:prstGeom>
          <a:solidFill>
            <a:srgbClr val="12365A"/>
          </a:solidFill>
          <a:ln w="15875">
            <a:solidFill>
              <a:srgbClr val="FFFFFF"/>
            </a:solidFill>
            <a:prstDash val="solid"/>
          </a:ln>
        </p:spPr>
      </p:sp>
      <p:sp>
        <p:nvSpPr>
          <p:cNvPr id="26" name="Text 21"/>
          <p:cNvSpPr txBox="1"/>
          <p:nvPr/>
        </p:nvSpPr>
        <p:spPr>
          <a:xfrm>
            <a:off x="5330952" y="1298448"/>
            <a:ext cx="3099816" cy="228600"/>
          </a:xfrm>
          <a:prstGeom prst="rect">
            <a:avLst/>
          </a:prstGeom>
          <a:noFill/>
          <a:ln/>
        </p:spPr>
        <p:txBody>
          <a:bodyPr wrap="square" lIns="0" tIns="0" rIns="0" bIns="0" rtlCol="0" anchor="t"/>
          <a:lstStyle/>
          <a:p>
            <a:pPr indent="0" marL="0">
              <a:buNone/>
            </a:pPr>
            <a:r>
              <a:rPr lang="en-US" sz="950" b="1" dirty="0">
                <a:solidFill>
                  <a:srgbClr val="FFD166"/>
                </a:solidFill>
                <a:latin typeface="Courier New" pitchFamily="34" charset="0"/>
                <a:ea typeface="Courier New" pitchFamily="34" charset="-122"/>
                <a:cs typeface="Courier New" pitchFamily="34" charset="-120"/>
              </a:rPr>
              <a:t>alerts.py · Telegram Bot API</a:t>
            </a:r>
            <a:endParaRPr lang="en-US" sz="950" dirty="0"/>
          </a:p>
        </p:txBody>
      </p:sp>
      <p:sp>
        <p:nvSpPr>
          <p:cNvPr id="27" name="Text 22"/>
          <p:cNvSpPr txBox="1"/>
          <p:nvPr/>
        </p:nvSpPr>
        <p:spPr>
          <a:xfrm>
            <a:off x="5330952" y="1600200"/>
            <a:ext cx="3099816" cy="2926080"/>
          </a:xfrm>
          <a:prstGeom prst="rect">
            <a:avLst/>
          </a:prstGeom>
          <a:noFill/>
          <a:ln/>
        </p:spPr>
        <p:txBody>
          <a:bodyPr wrap="square" lIns="0" tIns="0" rIns="0" bIns="0" rtlCol="0" anchor="t"/>
          <a:lstStyle/>
          <a:p>
            <a:pPr indent="0" marL="0">
              <a:buNone/>
            </a:pPr>
            <a:r>
              <a:rPr lang="en-US" sz="950" dirty="0">
                <a:solidFill>
                  <a:srgbClr val="FFD166"/>
                </a:solidFill>
                <a:latin typeface="Courier New" pitchFamily="34" charset="0"/>
                <a:ea typeface="Courier New" pitchFamily="34" charset="-122"/>
                <a:cs typeface="Courier New" pitchFamily="34" charset="-120"/>
              </a:rPr>
              <a:t>import</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requests</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API</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B4A8"/>
                </a:solidFill>
                <a:latin typeface="Courier New" pitchFamily="34" charset="0"/>
                <a:ea typeface="Courier New" pitchFamily="34" charset="-122"/>
                <a:cs typeface="Courier New" pitchFamily="34" charset="-120"/>
              </a:rPr>
              <a:t>"https://api.telegram.org/bot"</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FFD166"/>
                </a:solidFill>
                <a:latin typeface="Courier New" pitchFamily="34" charset="0"/>
                <a:ea typeface="Courier New" pitchFamily="34" charset="-122"/>
                <a:cs typeface="Courier New" pitchFamily="34" charset="-120"/>
              </a:rPr>
              <a:t>def</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send_alert</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user</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reason</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url</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API</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TOKEN</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B4A8"/>
                </a:solidFill>
                <a:latin typeface="Courier New" pitchFamily="34" charset="0"/>
                <a:ea typeface="Courier New" pitchFamily="34" charset="-122"/>
                <a:cs typeface="Courier New" pitchFamily="34" charset="-120"/>
              </a:rPr>
              <a:t>"/sendMessage"</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msg</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B4A8"/>
                </a:solidFill>
                <a:latin typeface="Courier New" pitchFamily="34" charset="0"/>
                <a:ea typeface="Courier New" pitchFamily="34" charset="-122"/>
                <a:cs typeface="Courier New" pitchFamily="34" charset="-120"/>
              </a:rPr>
              <a:t>"VITAL ALERT: "</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user</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name</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msg</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B4A8"/>
                </a:solidFill>
                <a:latin typeface="Courier New" pitchFamily="34" charset="0"/>
                <a:ea typeface="Courier New" pitchFamily="34" charset="-122"/>
                <a:cs typeface="Courier New" pitchFamily="34" charset="-120"/>
              </a:rPr>
              <a:t>" - "</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reason</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requests</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post</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url</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data</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B4A8"/>
                </a:solidFill>
                <a:latin typeface="Courier New" pitchFamily="34" charset="0"/>
                <a:ea typeface="Courier New" pitchFamily="34" charset="-122"/>
                <a:cs typeface="Courier New" pitchFamily="34" charset="-120"/>
              </a:rPr>
              <a:t>"chat_id"</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user</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emergency_chat</a:t>
            </a:r>
            <a:pPr indent="0" marL="0">
              <a:buNone/>
            </a:pPr>
            <a:r>
              <a:rPr lang="en-US" sz="950" dirty="0">
                <a:solidFill>
                  <a:srgbClr val="FFFFFF"/>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B4A8"/>
                </a:solidFill>
                <a:latin typeface="Courier New" pitchFamily="34" charset="0"/>
                <a:ea typeface="Courier New" pitchFamily="34" charset="-122"/>
                <a:cs typeface="Courier New" pitchFamily="34" charset="-120"/>
              </a:rPr>
              <a:t>"text"</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FFFFFF"/>
                </a:solidFill>
                <a:latin typeface="Courier New" pitchFamily="34" charset="0"/>
                <a:ea typeface="Courier New" pitchFamily="34" charset="-122"/>
                <a:cs typeface="Courier New" pitchFamily="34" charset="-120"/>
              </a:rPr>
              <a:t>msg</a:t>
            </a:r>
            <a:pPr indent="0" marL="0">
              <a:buNone/>
            </a:pPr>
            <a:r>
              <a:rPr lang="en-US" sz="950" dirty="0">
                <a:solidFill>
                  <a:srgbClr val="FFFFFF"/>
                </a:solidFill>
                <a:latin typeface="Courier New" pitchFamily="34" charset="0"/>
                <a:ea typeface="Courier New" pitchFamily="34" charset="-122"/>
                <a:cs typeface="Courier New" pitchFamily="34" charset="-120"/>
              </a:rPr>
              <a:t>}</a:t>
            </a:r>
            <a:pPr indent="0" marL="0">
              <a:buNone/>
            </a:pPr>
            <a:r>
              <a:rPr lang="en-US" sz="950" dirty="0">
                <a:solidFill>
                  <a:srgbClr val="FFFFFF"/>
                </a:solidFill>
                <a:latin typeface="Courier New" pitchFamily="34" charset="0"/>
                <a:ea typeface="Courier New" pitchFamily="34" charset="-122"/>
                <a:cs typeface="Courier New" pitchFamily="34" charset="-120"/>
              </a:rPr>
              <a:t>)</a:t>
            </a:r>
            <a:endParaRPr lang="en-US" sz="9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SMART CITY INTEGRATION</a:t>
            </a:r>
            <a:endParaRPr lang="en-US" sz="3000" dirty="0"/>
          </a:p>
        </p:txBody>
      </p:sp>
      <p:sp>
        <p:nvSpPr>
          <p:cNvPr id="3" name="Shape 1"/>
          <p:cNvSpPr/>
          <p:nvPr/>
        </p:nvSpPr>
        <p:spPr>
          <a:xfrm>
            <a:off x="685800" y="1188720"/>
            <a:ext cx="1463040" cy="329184"/>
          </a:xfrm>
          <a:prstGeom prst="roundRect">
            <a:avLst>
              <a:gd name="adj" fmla="val 50000"/>
            </a:avLst>
          </a:prstGeom>
          <a:solidFill>
            <a:srgbClr val="214F7B"/>
          </a:solidFill>
          <a:ln w="15875">
            <a:solidFill>
              <a:srgbClr val="FFFFFF"/>
            </a:solidFill>
            <a:prstDash val="solid"/>
          </a:ln>
        </p:spPr>
      </p:sp>
      <p:sp>
        <p:nvSpPr>
          <p:cNvPr id="4" name="Text 2"/>
          <p:cNvSpPr txBox="1"/>
          <p:nvPr/>
        </p:nvSpPr>
        <p:spPr>
          <a:xfrm>
            <a:off x="685800" y="1188720"/>
            <a:ext cx="1463040" cy="329184"/>
          </a:xfrm>
          <a:prstGeom prst="rect">
            <a:avLst/>
          </a:prstGeom>
          <a:noFill/>
          <a:ln/>
        </p:spPr>
        <p:txBody>
          <a:bodyPr wrap="square" lIns="0" tIns="0" rIns="0" bIns="0" rtlCol="0" anchor="ctr"/>
          <a:lstStyle/>
          <a:p>
            <a:pPr algn="ctr" indent="0" marL="0">
              <a:buNone/>
            </a:pPr>
            <a:r>
              <a:rPr lang="en-US" sz="1000" b="1" dirty="0">
                <a:solidFill>
                  <a:schemeClr val="bg1"/>
                </a:solidFill>
              </a:rPr>
              <a:t>VITAL HUBS</a:t>
            </a:r>
            <a:endParaRPr lang="en-US" sz="1000" dirty="0"/>
          </a:p>
        </p:txBody>
      </p:sp>
      <p:sp>
        <p:nvSpPr>
          <p:cNvPr id="5" name="Shape 3"/>
          <p:cNvSpPr/>
          <p:nvPr/>
        </p:nvSpPr>
        <p:spPr>
          <a:xfrm>
            <a:off x="548640" y="1691640"/>
            <a:ext cx="1737360" cy="530352"/>
          </a:xfrm>
          <a:prstGeom prst="roundRect">
            <a:avLst>
              <a:gd name="adj" fmla="val 17241"/>
            </a:avLst>
          </a:prstGeom>
          <a:solidFill>
            <a:srgbClr val="1B4670">
              <a:alpha val="70000"/>
            </a:srgbClr>
          </a:solidFill>
          <a:ln w="15875">
            <a:solidFill>
              <a:srgbClr val="FFFFFF"/>
            </a:solidFill>
            <a:prstDash val="solid"/>
          </a:ln>
        </p:spPr>
      </p:sp>
      <p:sp>
        <p:nvSpPr>
          <p:cNvPr id="6" name="Text 4"/>
          <p:cNvSpPr txBox="1"/>
          <p:nvPr/>
        </p:nvSpPr>
        <p:spPr>
          <a:xfrm>
            <a:off x="640080" y="1691640"/>
            <a:ext cx="1554480" cy="530352"/>
          </a:xfrm>
          <a:prstGeom prst="rect">
            <a:avLst/>
          </a:prstGeom>
          <a:noFill/>
          <a:ln/>
        </p:spPr>
        <p:txBody>
          <a:bodyPr wrap="square" lIns="0" tIns="0" rIns="0" bIns="0" rtlCol="0" anchor="ctr"/>
          <a:lstStyle/>
          <a:p>
            <a:pPr algn="ctr" indent="0" marL="0">
              <a:buNone/>
            </a:pPr>
            <a:r>
              <a:rPr lang="en-US" sz="1150" b="1" dirty="0">
                <a:solidFill>
                  <a:schemeClr val="bg1"/>
                </a:solidFill>
              </a:rPr>
              <a:t>Homes</a:t>
            </a:r>
            <a:endParaRPr lang="en-US" sz="1150" dirty="0"/>
          </a:p>
        </p:txBody>
      </p:sp>
      <p:sp>
        <p:nvSpPr>
          <p:cNvPr id="7" name="Shape 5"/>
          <p:cNvSpPr/>
          <p:nvPr/>
        </p:nvSpPr>
        <p:spPr>
          <a:xfrm>
            <a:off x="2286000" y="1956816"/>
            <a:ext cx="594360" cy="649224"/>
          </a:xfrm>
          <a:prstGeom prst="line">
            <a:avLst/>
          </a:prstGeom>
          <a:noFill/>
          <a:ln w="19050">
            <a:solidFill>
              <a:srgbClr val="FFFFFF"/>
            </a:solidFill>
            <a:prstDash val="solid"/>
            <a:tailEnd type="triangle"/>
          </a:ln>
        </p:spPr>
      </p:sp>
      <p:sp>
        <p:nvSpPr>
          <p:cNvPr id="8" name="Shape 6"/>
          <p:cNvSpPr/>
          <p:nvPr/>
        </p:nvSpPr>
        <p:spPr>
          <a:xfrm>
            <a:off x="548640" y="2377440"/>
            <a:ext cx="1737360" cy="530352"/>
          </a:xfrm>
          <a:prstGeom prst="roundRect">
            <a:avLst>
              <a:gd name="adj" fmla="val 17241"/>
            </a:avLst>
          </a:prstGeom>
          <a:solidFill>
            <a:srgbClr val="1B4670">
              <a:alpha val="70000"/>
            </a:srgbClr>
          </a:solidFill>
          <a:ln w="15875">
            <a:solidFill>
              <a:srgbClr val="FFFFFF"/>
            </a:solidFill>
            <a:prstDash val="solid"/>
          </a:ln>
        </p:spPr>
      </p:sp>
      <p:sp>
        <p:nvSpPr>
          <p:cNvPr id="9" name="Text 7"/>
          <p:cNvSpPr txBox="1"/>
          <p:nvPr/>
        </p:nvSpPr>
        <p:spPr>
          <a:xfrm>
            <a:off x="640080" y="2377440"/>
            <a:ext cx="1554480" cy="530352"/>
          </a:xfrm>
          <a:prstGeom prst="rect">
            <a:avLst/>
          </a:prstGeom>
          <a:noFill/>
          <a:ln/>
        </p:spPr>
        <p:txBody>
          <a:bodyPr wrap="square" lIns="0" tIns="0" rIns="0" bIns="0" rtlCol="0" anchor="ctr"/>
          <a:lstStyle/>
          <a:p>
            <a:pPr algn="ctr" indent="0" marL="0">
              <a:buNone/>
            </a:pPr>
            <a:r>
              <a:rPr lang="en-US" sz="1150" b="1" dirty="0">
                <a:solidFill>
                  <a:schemeClr val="bg1"/>
                </a:solidFill>
              </a:rPr>
              <a:t>Hostels</a:t>
            </a:r>
            <a:endParaRPr lang="en-US" sz="1150" dirty="0"/>
          </a:p>
        </p:txBody>
      </p:sp>
      <p:sp>
        <p:nvSpPr>
          <p:cNvPr id="10" name="Shape 8"/>
          <p:cNvSpPr/>
          <p:nvPr/>
        </p:nvSpPr>
        <p:spPr>
          <a:xfrm flipV="1">
            <a:off x="2286000" y="2606040"/>
            <a:ext cx="594360" cy="36576"/>
          </a:xfrm>
          <a:prstGeom prst="line">
            <a:avLst/>
          </a:prstGeom>
          <a:noFill/>
          <a:ln w="19050">
            <a:solidFill>
              <a:srgbClr val="FFFFFF"/>
            </a:solidFill>
            <a:prstDash val="solid"/>
            <a:tailEnd type="triangle"/>
          </a:ln>
        </p:spPr>
      </p:sp>
      <p:sp>
        <p:nvSpPr>
          <p:cNvPr id="11" name="Shape 9"/>
          <p:cNvSpPr/>
          <p:nvPr/>
        </p:nvSpPr>
        <p:spPr>
          <a:xfrm>
            <a:off x="548640" y="3063240"/>
            <a:ext cx="1737360" cy="530352"/>
          </a:xfrm>
          <a:prstGeom prst="roundRect">
            <a:avLst>
              <a:gd name="adj" fmla="val 17241"/>
            </a:avLst>
          </a:prstGeom>
          <a:solidFill>
            <a:srgbClr val="1B4670">
              <a:alpha val="70000"/>
            </a:srgbClr>
          </a:solidFill>
          <a:ln w="15875">
            <a:solidFill>
              <a:srgbClr val="FFFFFF"/>
            </a:solidFill>
            <a:prstDash val="solid"/>
          </a:ln>
        </p:spPr>
      </p:sp>
      <p:sp>
        <p:nvSpPr>
          <p:cNvPr id="12" name="Text 10"/>
          <p:cNvSpPr txBox="1"/>
          <p:nvPr/>
        </p:nvSpPr>
        <p:spPr>
          <a:xfrm>
            <a:off x="640080" y="3063240"/>
            <a:ext cx="1554480" cy="530352"/>
          </a:xfrm>
          <a:prstGeom prst="rect">
            <a:avLst/>
          </a:prstGeom>
          <a:noFill/>
          <a:ln/>
        </p:spPr>
        <p:txBody>
          <a:bodyPr wrap="square" lIns="0" tIns="0" rIns="0" bIns="0" rtlCol="0" anchor="ctr"/>
          <a:lstStyle/>
          <a:p>
            <a:pPr algn="ctr" indent="0" marL="0">
              <a:buNone/>
            </a:pPr>
            <a:r>
              <a:rPr lang="en-US" sz="1150" b="1" dirty="0">
                <a:solidFill>
                  <a:schemeClr val="bg1"/>
                </a:solidFill>
              </a:rPr>
              <a:t>Clinics</a:t>
            </a:r>
            <a:endParaRPr lang="en-US" sz="1150" dirty="0"/>
          </a:p>
        </p:txBody>
      </p:sp>
      <p:sp>
        <p:nvSpPr>
          <p:cNvPr id="13" name="Shape 11"/>
          <p:cNvSpPr/>
          <p:nvPr/>
        </p:nvSpPr>
        <p:spPr>
          <a:xfrm flipV="1">
            <a:off x="2286000" y="2606040"/>
            <a:ext cx="594360" cy="722376"/>
          </a:xfrm>
          <a:prstGeom prst="line">
            <a:avLst/>
          </a:prstGeom>
          <a:noFill/>
          <a:ln w="19050">
            <a:solidFill>
              <a:srgbClr val="FFFFFF"/>
            </a:solidFill>
            <a:prstDash val="solid"/>
            <a:tailEnd type="triangle"/>
          </a:ln>
        </p:spPr>
      </p:sp>
      <p:sp>
        <p:nvSpPr>
          <p:cNvPr id="14" name="Shape 12"/>
          <p:cNvSpPr/>
          <p:nvPr/>
        </p:nvSpPr>
        <p:spPr>
          <a:xfrm>
            <a:off x="2880360" y="1691640"/>
            <a:ext cx="2377440" cy="1828800"/>
          </a:xfrm>
          <a:prstGeom prst="roundRect">
            <a:avLst>
              <a:gd name="adj" fmla="val 7000"/>
            </a:avLst>
          </a:prstGeom>
          <a:solidFill>
            <a:srgbClr val="1B4670">
              <a:alpha val="70000"/>
            </a:srgbClr>
          </a:solidFill>
          <a:ln w="22225">
            <a:solidFill>
              <a:srgbClr val="FFD166"/>
            </a:solidFill>
            <a:prstDash val="solid"/>
          </a:ln>
        </p:spPr>
      </p:sp>
      <p:sp>
        <p:nvSpPr>
          <p:cNvPr id="15" name="Text 13"/>
          <p:cNvSpPr txBox="1"/>
          <p:nvPr/>
        </p:nvSpPr>
        <p:spPr>
          <a:xfrm>
            <a:off x="3017520" y="1828800"/>
            <a:ext cx="2103120" cy="320040"/>
          </a:xfrm>
          <a:prstGeom prst="rect">
            <a:avLst/>
          </a:prstGeom>
          <a:noFill/>
          <a:ln/>
        </p:spPr>
        <p:txBody>
          <a:bodyPr wrap="square" lIns="0" tIns="0" rIns="0" bIns="0" rtlCol="0" anchor="t"/>
          <a:lstStyle/>
          <a:p>
            <a:pPr algn="ctr" indent="0" marL="0">
              <a:buNone/>
            </a:pPr>
            <a:r>
              <a:rPr lang="en-US" sz="1300" b="1" dirty="0">
                <a:solidFill>
                  <a:schemeClr val="accent2"/>
                </a:solidFill>
              </a:rPr>
              <a:t>City IoT platform</a:t>
            </a:r>
            <a:endParaRPr lang="en-US" sz="1300" dirty="0"/>
          </a:p>
        </p:txBody>
      </p:sp>
      <p:sp>
        <p:nvSpPr>
          <p:cNvPr id="16" name="Text 14"/>
          <p:cNvSpPr txBox="1"/>
          <p:nvPr/>
        </p:nvSpPr>
        <p:spPr>
          <a:xfrm>
            <a:off x="3017520" y="2212848"/>
            <a:ext cx="2103120" cy="1234440"/>
          </a:xfrm>
          <a:prstGeom prst="rect">
            <a:avLst/>
          </a:prstGeom>
          <a:noFill/>
          <a:ln/>
        </p:spPr>
        <p:txBody>
          <a:bodyPr wrap="square" lIns="0" tIns="0" rIns="0" bIns="0" rtlCol="0" anchor="t"/>
          <a:lstStyle/>
          <a:p>
            <a:pPr algn="ctr" indent="0" marL="0">
              <a:buNone/>
            </a:pPr>
            <a:r>
              <a:rPr lang="en-US" sz="950" dirty="0">
                <a:solidFill>
                  <a:schemeClr val="bg2"/>
                </a:solidFill>
              </a:rPr>
              <a:t>Integrated Command and Control Centre (ICCC) under the Smart Cities Mission. Receives anonymised summaries over MQTT.</a:t>
            </a:r>
            <a:endParaRPr lang="en-US" sz="950" dirty="0"/>
          </a:p>
        </p:txBody>
      </p:sp>
      <p:sp>
        <p:nvSpPr>
          <p:cNvPr id="17" name="Shape 15"/>
          <p:cNvSpPr/>
          <p:nvPr/>
        </p:nvSpPr>
        <p:spPr>
          <a:xfrm>
            <a:off x="5852160" y="1463040"/>
            <a:ext cx="2743200" cy="731520"/>
          </a:xfrm>
          <a:prstGeom prst="roundRect">
            <a:avLst>
              <a:gd name="adj" fmla="val 12500"/>
            </a:avLst>
          </a:prstGeom>
          <a:solidFill>
            <a:srgbClr val="1B4670">
              <a:alpha val="70000"/>
            </a:srgbClr>
          </a:solidFill>
          <a:ln w="15875">
            <a:solidFill>
              <a:srgbClr val="FFFFFF"/>
            </a:solidFill>
            <a:prstDash val="solid"/>
          </a:ln>
        </p:spPr>
      </p:sp>
      <p:sp>
        <p:nvSpPr>
          <p:cNvPr id="18" name="Text 16"/>
          <p:cNvSpPr txBox="1"/>
          <p:nvPr/>
        </p:nvSpPr>
        <p:spPr>
          <a:xfrm>
            <a:off x="5961888" y="1527048"/>
            <a:ext cx="2560320" cy="256032"/>
          </a:xfrm>
          <a:prstGeom prst="rect">
            <a:avLst/>
          </a:prstGeom>
          <a:noFill/>
          <a:ln/>
        </p:spPr>
        <p:txBody>
          <a:bodyPr wrap="square" lIns="0" tIns="0" rIns="0" bIns="0" rtlCol="0" anchor="t"/>
          <a:lstStyle/>
          <a:p>
            <a:pPr indent="0" marL="0">
              <a:buNone/>
            </a:pPr>
            <a:r>
              <a:rPr lang="en-US" sz="1100" b="1" dirty="0">
                <a:solidFill>
                  <a:schemeClr val="bg1"/>
                </a:solidFill>
              </a:rPr>
              <a:t>Ward health map</a:t>
            </a:r>
            <a:endParaRPr lang="en-US" sz="1100" dirty="0"/>
          </a:p>
        </p:txBody>
      </p:sp>
      <p:sp>
        <p:nvSpPr>
          <p:cNvPr id="19" name="Text 17"/>
          <p:cNvSpPr txBox="1"/>
          <p:nvPr/>
        </p:nvSpPr>
        <p:spPr>
          <a:xfrm>
            <a:off x="5961888" y="1792224"/>
            <a:ext cx="2560320" cy="365760"/>
          </a:xfrm>
          <a:prstGeom prst="rect">
            <a:avLst/>
          </a:prstGeom>
          <a:noFill/>
          <a:ln/>
        </p:spPr>
        <p:txBody>
          <a:bodyPr wrap="square" lIns="0" tIns="0" rIns="0" bIns="0" rtlCol="0" anchor="t"/>
          <a:lstStyle/>
          <a:p>
            <a:pPr indent="0" marL="0">
              <a:buNone/>
            </a:pPr>
            <a:r>
              <a:rPr lang="en-US" sz="900" dirty="0">
                <a:solidFill>
                  <a:schemeClr val="bg2"/>
                </a:solidFill>
              </a:rPr>
              <a:t>Fever and alert clusters by area: an early outbreak signal.</a:t>
            </a:r>
            <a:endParaRPr lang="en-US" sz="900" dirty="0"/>
          </a:p>
        </p:txBody>
      </p:sp>
      <p:sp>
        <p:nvSpPr>
          <p:cNvPr id="20" name="Shape 18"/>
          <p:cNvSpPr/>
          <p:nvPr/>
        </p:nvSpPr>
        <p:spPr>
          <a:xfrm flipV="1">
            <a:off x="5257800" y="1828800"/>
            <a:ext cx="594360" cy="777240"/>
          </a:xfrm>
          <a:prstGeom prst="line">
            <a:avLst/>
          </a:prstGeom>
          <a:noFill/>
          <a:ln w="19050">
            <a:solidFill>
              <a:srgbClr val="FFFFFF"/>
            </a:solidFill>
            <a:prstDash val="solid"/>
            <a:tailEnd type="triangle"/>
          </a:ln>
        </p:spPr>
      </p:sp>
      <p:sp>
        <p:nvSpPr>
          <p:cNvPr id="21" name="Shape 19"/>
          <p:cNvSpPr/>
          <p:nvPr/>
        </p:nvSpPr>
        <p:spPr>
          <a:xfrm>
            <a:off x="5852160" y="2331720"/>
            <a:ext cx="2743200" cy="731520"/>
          </a:xfrm>
          <a:prstGeom prst="roundRect">
            <a:avLst>
              <a:gd name="adj" fmla="val 12500"/>
            </a:avLst>
          </a:prstGeom>
          <a:solidFill>
            <a:srgbClr val="1B4670">
              <a:alpha val="70000"/>
            </a:srgbClr>
          </a:solidFill>
          <a:ln w="15875">
            <a:solidFill>
              <a:srgbClr val="FFFFFF"/>
            </a:solidFill>
            <a:prstDash val="solid"/>
          </a:ln>
        </p:spPr>
      </p:sp>
      <p:sp>
        <p:nvSpPr>
          <p:cNvPr id="22" name="Text 20"/>
          <p:cNvSpPr txBox="1"/>
          <p:nvPr/>
        </p:nvSpPr>
        <p:spPr>
          <a:xfrm>
            <a:off x="5961888" y="2395728"/>
            <a:ext cx="2560320" cy="256032"/>
          </a:xfrm>
          <a:prstGeom prst="rect">
            <a:avLst/>
          </a:prstGeom>
          <a:noFill/>
          <a:ln/>
        </p:spPr>
        <p:txBody>
          <a:bodyPr wrap="square" lIns="0" tIns="0" rIns="0" bIns="0" rtlCol="0" anchor="t"/>
          <a:lstStyle/>
          <a:p>
            <a:pPr indent="0" marL="0">
              <a:buNone/>
            </a:pPr>
            <a:r>
              <a:rPr lang="en-US" sz="1100" b="1" dirty="0">
                <a:solidFill>
                  <a:schemeClr val="bg1"/>
                </a:solidFill>
              </a:rPr>
              <a:t>Emergency dispatch</a:t>
            </a:r>
            <a:endParaRPr lang="en-US" sz="1100" dirty="0"/>
          </a:p>
        </p:txBody>
      </p:sp>
      <p:sp>
        <p:nvSpPr>
          <p:cNvPr id="23" name="Text 21"/>
          <p:cNvSpPr txBox="1"/>
          <p:nvPr/>
        </p:nvSpPr>
        <p:spPr>
          <a:xfrm>
            <a:off x="5961888" y="2660904"/>
            <a:ext cx="2560320" cy="365760"/>
          </a:xfrm>
          <a:prstGeom prst="rect">
            <a:avLst/>
          </a:prstGeom>
          <a:noFill/>
          <a:ln/>
        </p:spPr>
        <p:txBody>
          <a:bodyPr wrap="square" lIns="0" tIns="0" rIns="0" bIns="0" rtlCol="0" anchor="t"/>
          <a:lstStyle/>
          <a:p>
            <a:pPr indent="0" marL="0">
              <a:buNone/>
            </a:pPr>
            <a:r>
              <a:rPr lang="en-US" sz="900" dirty="0">
                <a:solidFill>
                  <a:schemeClr val="bg2"/>
                </a:solidFill>
              </a:rPr>
              <a:t>Critical alerts with location to 108 / nearest hospital.</a:t>
            </a:r>
            <a:endParaRPr lang="en-US" sz="900" dirty="0"/>
          </a:p>
        </p:txBody>
      </p:sp>
      <p:sp>
        <p:nvSpPr>
          <p:cNvPr id="24" name="Shape 22"/>
          <p:cNvSpPr/>
          <p:nvPr/>
        </p:nvSpPr>
        <p:spPr>
          <a:xfrm>
            <a:off x="5257800" y="2606040"/>
            <a:ext cx="594360" cy="91440"/>
          </a:xfrm>
          <a:prstGeom prst="line">
            <a:avLst/>
          </a:prstGeom>
          <a:noFill/>
          <a:ln w="19050">
            <a:solidFill>
              <a:srgbClr val="FFFFFF"/>
            </a:solidFill>
            <a:prstDash val="solid"/>
            <a:tailEnd type="triangle"/>
          </a:ln>
        </p:spPr>
      </p:sp>
      <p:sp>
        <p:nvSpPr>
          <p:cNvPr id="25" name="Shape 23"/>
          <p:cNvSpPr/>
          <p:nvPr/>
        </p:nvSpPr>
        <p:spPr>
          <a:xfrm>
            <a:off x="5852160" y="3200400"/>
            <a:ext cx="2743200" cy="731520"/>
          </a:xfrm>
          <a:prstGeom prst="roundRect">
            <a:avLst>
              <a:gd name="adj" fmla="val 12500"/>
            </a:avLst>
          </a:prstGeom>
          <a:solidFill>
            <a:srgbClr val="1B4670">
              <a:alpha val="70000"/>
            </a:srgbClr>
          </a:solidFill>
          <a:ln w="15875">
            <a:solidFill>
              <a:srgbClr val="FFFFFF"/>
            </a:solidFill>
            <a:prstDash val="solid"/>
          </a:ln>
        </p:spPr>
      </p:sp>
      <p:sp>
        <p:nvSpPr>
          <p:cNvPr id="26" name="Text 24"/>
          <p:cNvSpPr txBox="1"/>
          <p:nvPr/>
        </p:nvSpPr>
        <p:spPr>
          <a:xfrm>
            <a:off x="5961888" y="3264408"/>
            <a:ext cx="2560320" cy="256032"/>
          </a:xfrm>
          <a:prstGeom prst="rect">
            <a:avLst/>
          </a:prstGeom>
          <a:noFill/>
          <a:ln/>
        </p:spPr>
        <p:txBody>
          <a:bodyPr wrap="square" lIns="0" tIns="0" rIns="0" bIns="0" rtlCol="0" anchor="t"/>
          <a:lstStyle/>
          <a:p>
            <a:pPr indent="0" marL="0">
              <a:buNone/>
            </a:pPr>
            <a:r>
              <a:rPr lang="en-US" sz="1100" b="1" dirty="0">
                <a:solidFill>
                  <a:schemeClr val="bg1"/>
                </a:solidFill>
              </a:rPr>
              <a:t>Hospital records</a:t>
            </a:r>
            <a:endParaRPr lang="en-US" sz="1100" dirty="0"/>
          </a:p>
        </p:txBody>
      </p:sp>
      <p:sp>
        <p:nvSpPr>
          <p:cNvPr id="27" name="Text 25"/>
          <p:cNvSpPr txBox="1"/>
          <p:nvPr/>
        </p:nvSpPr>
        <p:spPr>
          <a:xfrm>
            <a:off x="5961888" y="3529584"/>
            <a:ext cx="2560320" cy="365760"/>
          </a:xfrm>
          <a:prstGeom prst="rect">
            <a:avLst/>
          </a:prstGeom>
          <a:noFill/>
          <a:ln/>
        </p:spPr>
        <p:txBody>
          <a:bodyPr wrap="square" lIns="0" tIns="0" rIns="0" bIns="0" rtlCol="0" anchor="t"/>
          <a:lstStyle/>
          <a:p>
            <a:pPr indent="0" marL="0">
              <a:buNone/>
            </a:pPr>
            <a:r>
              <a:rPr lang="en-US" sz="900" dirty="0">
                <a:solidFill>
                  <a:schemeClr val="bg2"/>
                </a:solidFill>
              </a:rPr>
              <a:t>Readings shared in HL7 FHIR format, with consent.</a:t>
            </a:r>
            <a:endParaRPr lang="en-US" sz="900" dirty="0"/>
          </a:p>
        </p:txBody>
      </p:sp>
      <p:sp>
        <p:nvSpPr>
          <p:cNvPr id="28" name="Shape 26"/>
          <p:cNvSpPr/>
          <p:nvPr/>
        </p:nvSpPr>
        <p:spPr>
          <a:xfrm>
            <a:off x="5257800" y="2606040"/>
            <a:ext cx="594360" cy="960120"/>
          </a:xfrm>
          <a:prstGeom prst="line">
            <a:avLst/>
          </a:prstGeom>
          <a:noFill/>
          <a:ln w="19050">
            <a:solidFill>
              <a:srgbClr val="FFFFFF"/>
            </a:solidFill>
            <a:prstDash val="solid"/>
            <a:tailEnd type="triangle"/>
          </a:ln>
        </p:spPr>
      </p:sp>
      <p:sp>
        <p:nvSpPr>
          <p:cNvPr id="29" name="Shape 27"/>
          <p:cNvSpPr/>
          <p:nvPr/>
        </p:nvSpPr>
        <p:spPr>
          <a:xfrm>
            <a:off x="548640" y="4069080"/>
            <a:ext cx="2560320" cy="502920"/>
          </a:xfrm>
          <a:prstGeom prst="roundRect">
            <a:avLst>
              <a:gd name="adj" fmla="val 49091"/>
            </a:avLst>
          </a:prstGeom>
          <a:solidFill>
            <a:srgbClr val="214F7B"/>
          </a:solidFill>
          <a:ln w="15875">
            <a:solidFill>
              <a:srgbClr val="FFFFFF"/>
            </a:solidFill>
            <a:prstDash val="solid"/>
          </a:ln>
        </p:spPr>
      </p:sp>
      <p:sp>
        <p:nvSpPr>
          <p:cNvPr id="30" name="Text 28"/>
          <p:cNvSpPr txBox="1"/>
          <p:nvPr/>
        </p:nvSpPr>
        <p:spPr>
          <a:xfrm>
            <a:off x="640080" y="4069080"/>
            <a:ext cx="2377440" cy="502920"/>
          </a:xfrm>
          <a:prstGeom prst="rect">
            <a:avLst/>
          </a:prstGeom>
          <a:noFill/>
          <a:ln/>
        </p:spPr>
        <p:txBody>
          <a:bodyPr wrap="square" lIns="0" tIns="0" rIns="0" bIns="0" rtlCol="0" anchor="ctr"/>
          <a:lstStyle/>
          <a:p>
            <a:pPr algn="ctr" indent="0" marL="0">
              <a:buNone/>
            </a:pPr>
            <a:r>
              <a:rPr lang="en-US" sz="1000" b="1" dirty="0">
                <a:solidFill>
                  <a:srgbClr val="FFD166"/>
                </a:solidFill>
              </a:rPr>
              <a:t>MQTT</a:t>
            </a:r>
            <a:pPr algn="ctr" indent="0" marL="0">
              <a:buNone/>
            </a:pPr>
            <a:r>
              <a:rPr lang="en-US" sz="1000" dirty="0">
                <a:solidFill>
                  <a:srgbClr val="DCE8F7"/>
                </a:solidFill>
              </a:rPr>
              <a:t>  lightweight IoT messaging</a:t>
            </a:r>
            <a:endParaRPr lang="en-US" sz="1000" dirty="0"/>
          </a:p>
        </p:txBody>
      </p:sp>
      <p:sp>
        <p:nvSpPr>
          <p:cNvPr id="31" name="Shape 29"/>
          <p:cNvSpPr/>
          <p:nvPr/>
        </p:nvSpPr>
        <p:spPr>
          <a:xfrm>
            <a:off x="3264408" y="4069080"/>
            <a:ext cx="2560320" cy="502920"/>
          </a:xfrm>
          <a:prstGeom prst="roundRect">
            <a:avLst>
              <a:gd name="adj" fmla="val 49091"/>
            </a:avLst>
          </a:prstGeom>
          <a:solidFill>
            <a:srgbClr val="214F7B"/>
          </a:solidFill>
          <a:ln w="15875">
            <a:solidFill>
              <a:srgbClr val="FFFFFF"/>
            </a:solidFill>
            <a:prstDash val="solid"/>
          </a:ln>
        </p:spPr>
      </p:sp>
      <p:sp>
        <p:nvSpPr>
          <p:cNvPr id="32" name="Text 30"/>
          <p:cNvSpPr txBox="1"/>
          <p:nvPr/>
        </p:nvSpPr>
        <p:spPr>
          <a:xfrm>
            <a:off x="3355848" y="4069080"/>
            <a:ext cx="2377440" cy="502920"/>
          </a:xfrm>
          <a:prstGeom prst="rect">
            <a:avLst/>
          </a:prstGeom>
          <a:noFill/>
          <a:ln/>
        </p:spPr>
        <p:txBody>
          <a:bodyPr wrap="square" lIns="0" tIns="0" rIns="0" bIns="0" rtlCol="0" anchor="ctr"/>
          <a:lstStyle/>
          <a:p>
            <a:pPr algn="ctr" indent="0" marL="0">
              <a:buNone/>
            </a:pPr>
            <a:r>
              <a:rPr lang="en-US" sz="1000" b="1" dirty="0">
                <a:solidFill>
                  <a:srgbClr val="FFD166"/>
                </a:solidFill>
              </a:rPr>
              <a:t>HL7 FHIR</a:t>
            </a:r>
            <a:pPr algn="ctr" indent="0" marL="0">
              <a:buNone/>
            </a:pPr>
            <a:r>
              <a:rPr lang="en-US" sz="1000" dirty="0">
                <a:solidFill>
                  <a:srgbClr val="DCE8F7"/>
                </a:solidFill>
              </a:rPr>
              <a:t>  health data standard</a:t>
            </a:r>
            <a:endParaRPr lang="en-US" sz="1000" dirty="0"/>
          </a:p>
        </p:txBody>
      </p:sp>
      <p:sp>
        <p:nvSpPr>
          <p:cNvPr id="33" name="Shape 31"/>
          <p:cNvSpPr/>
          <p:nvPr/>
        </p:nvSpPr>
        <p:spPr>
          <a:xfrm>
            <a:off x="5980176" y="4069080"/>
            <a:ext cx="2560320" cy="502920"/>
          </a:xfrm>
          <a:prstGeom prst="roundRect">
            <a:avLst>
              <a:gd name="adj" fmla="val 49091"/>
            </a:avLst>
          </a:prstGeom>
          <a:solidFill>
            <a:srgbClr val="214F7B"/>
          </a:solidFill>
          <a:ln w="15875">
            <a:solidFill>
              <a:srgbClr val="FFFFFF"/>
            </a:solidFill>
            <a:prstDash val="solid"/>
          </a:ln>
        </p:spPr>
      </p:sp>
      <p:sp>
        <p:nvSpPr>
          <p:cNvPr id="34" name="Text 32"/>
          <p:cNvSpPr txBox="1"/>
          <p:nvPr/>
        </p:nvSpPr>
        <p:spPr>
          <a:xfrm>
            <a:off x="6071616" y="4069080"/>
            <a:ext cx="2377440" cy="502920"/>
          </a:xfrm>
          <a:prstGeom prst="rect">
            <a:avLst/>
          </a:prstGeom>
          <a:noFill/>
          <a:ln/>
        </p:spPr>
        <p:txBody>
          <a:bodyPr wrap="square" lIns="0" tIns="0" rIns="0" bIns="0" rtlCol="0" anchor="ctr"/>
          <a:lstStyle/>
          <a:p>
            <a:pPr algn="ctr" indent="0" marL="0">
              <a:buNone/>
            </a:pPr>
            <a:r>
              <a:rPr lang="en-US" sz="1000" b="1" dirty="0">
                <a:solidFill>
                  <a:srgbClr val="FFD166"/>
                </a:solidFill>
              </a:rPr>
              <a:t>REST API</a:t>
            </a:r>
            <a:pPr algn="ctr" indent="0" marL="0">
              <a:buNone/>
            </a:pPr>
            <a:r>
              <a:rPr lang="en-US" sz="1000" dirty="0">
                <a:solidFill>
                  <a:srgbClr val="DCE8F7"/>
                </a:solidFill>
              </a:rPr>
              <a:t>  dashboards and apps</a:t>
            </a:r>
            <a:endParaRPr lang="en-US" sz="100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DATA FLOW &amp; PRIVACY</a:t>
            </a:r>
            <a:endParaRPr lang="en-US" sz="3000" dirty="0"/>
          </a:p>
        </p:txBody>
      </p:sp>
      <p:sp>
        <p:nvSpPr>
          <p:cNvPr id="3" name="privacy1"/>
          <p:cNvSpPr/>
          <p:nvPr/>
        </p:nvSpPr>
        <p:spPr>
          <a:xfrm>
            <a:off x="548640" y="1371600"/>
            <a:ext cx="2560320" cy="2697480"/>
          </a:xfrm>
          <a:prstGeom prst="roundRect">
            <a:avLst>
              <a:gd name="adj" fmla="val 5000"/>
            </a:avLst>
          </a:prstGeom>
          <a:solidFill>
            <a:srgbClr val="1B4670">
              <a:alpha val="70000"/>
            </a:srgbClr>
          </a:solidFill>
          <a:ln w="15875">
            <a:solidFill>
              <a:srgbClr val="FFFFFF"/>
            </a:solidFill>
            <a:prstDash val="solid"/>
          </a:ln>
        </p:spPr>
      </p:sp>
      <p:sp>
        <p:nvSpPr>
          <p:cNvPr id="4" name="Shape 2"/>
          <p:cNvSpPr/>
          <p:nvPr/>
        </p:nvSpPr>
        <p:spPr>
          <a:xfrm>
            <a:off x="822960" y="1188720"/>
            <a:ext cx="2011680" cy="365760"/>
          </a:xfrm>
          <a:prstGeom prst="roundRect">
            <a:avLst>
              <a:gd name="adj" fmla="val 50000"/>
            </a:avLst>
          </a:prstGeom>
          <a:solidFill>
            <a:srgbClr val="214F7B"/>
          </a:solidFill>
          <a:ln w="15875">
            <a:solidFill>
              <a:srgbClr val="FFFFFF"/>
            </a:solidFill>
            <a:prstDash val="solid"/>
          </a:ln>
        </p:spPr>
      </p:sp>
      <p:sp>
        <p:nvSpPr>
          <p:cNvPr id="5" name="Text 3"/>
          <p:cNvSpPr txBox="1"/>
          <p:nvPr/>
        </p:nvSpPr>
        <p:spPr>
          <a:xfrm>
            <a:off x="822960" y="1188720"/>
            <a:ext cx="2011680" cy="365760"/>
          </a:xfrm>
          <a:prstGeom prst="rect">
            <a:avLst/>
          </a:prstGeom>
          <a:noFill/>
          <a:ln/>
        </p:spPr>
        <p:txBody>
          <a:bodyPr wrap="square" lIns="0" tIns="0" rIns="0" bIns="0" rtlCol="0" anchor="ctr"/>
          <a:lstStyle/>
          <a:p>
            <a:pPr algn="ctr" indent="0" marL="0">
              <a:buNone/>
            </a:pPr>
            <a:r>
              <a:rPr lang="en-US" sz="1000" b="1" dirty="0">
                <a:solidFill>
                  <a:schemeClr val="bg1"/>
                </a:solidFill>
              </a:rPr>
              <a:t>STAYS LOCAL</a:t>
            </a:r>
            <a:endParaRPr lang="en-US" sz="1000" dirty="0"/>
          </a:p>
        </p:txBody>
      </p:sp>
      <p:sp>
        <p:nvSpPr>
          <p:cNvPr id="6" name="Text 4"/>
          <p:cNvSpPr txBox="1"/>
          <p:nvPr/>
        </p:nvSpPr>
        <p:spPr>
          <a:xfrm>
            <a:off x="731520" y="1737360"/>
            <a:ext cx="2212848" cy="224028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chemeClr val="bg1"/>
                </a:solidFill>
              </a:rPr>
              <a:t>Raw sensor signals</a:t>
            </a:r>
            <a:endParaRPr lang="en-US" sz="1050" dirty="0"/>
          </a:p>
          <a:p>
            <a:pPr marL="152400" indent="-152400">
              <a:spcAft>
                <a:spcPts val="600"/>
              </a:spcAft>
              <a:buSzPct val="100000"/>
              <a:buChar char="•"/>
            </a:pPr>
            <a:r>
              <a:rPr lang="en-US" sz="1050" dirty="0">
                <a:solidFill>
                  <a:schemeClr val="bg1"/>
                </a:solidFill>
              </a:rPr>
              <a:t>Names and user accounts</a:t>
            </a:r>
            <a:endParaRPr lang="en-US" sz="1050" dirty="0"/>
          </a:p>
          <a:p>
            <a:pPr marL="152400" indent="-152400">
              <a:spcAft>
                <a:spcPts val="600"/>
              </a:spcAft>
              <a:buSzPct val="100000"/>
              <a:buChar char="•"/>
            </a:pPr>
            <a:r>
              <a:rPr lang="en-US" sz="1050" dirty="0">
                <a:solidFill>
                  <a:schemeClr val="bg1"/>
                </a:solidFill>
              </a:rPr>
              <a:t>Each person's baseline and ML models</a:t>
            </a:r>
            <a:endParaRPr lang="en-US" sz="1050" dirty="0"/>
          </a:p>
          <a:p>
            <a:pPr marL="152400" indent="-152400">
              <a:spcAft>
                <a:spcPts val="600"/>
              </a:spcAft>
              <a:buSzPct val="100000"/>
              <a:buChar char="•"/>
            </a:pPr>
            <a:r>
              <a:rPr lang="en-US" sz="1050" dirty="0">
                <a:solidFill>
                  <a:schemeClr val="bg1"/>
                </a:solidFill>
              </a:rPr>
              <a:t>Full reading history</a:t>
            </a:r>
            <a:endParaRPr lang="en-US" sz="1050" dirty="0"/>
          </a:p>
        </p:txBody>
      </p:sp>
      <p:sp>
        <p:nvSpPr>
          <p:cNvPr id="7" name="Shape 5"/>
          <p:cNvSpPr/>
          <p:nvPr/>
        </p:nvSpPr>
        <p:spPr>
          <a:xfrm>
            <a:off x="3108960" y="2697480"/>
            <a:ext cx="182880" cy="0"/>
          </a:xfrm>
          <a:prstGeom prst="line">
            <a:avLst/>
          </a:prstGeom>
          <a:noFill/>
          <a:ln w="19050">
            <a:solidFill>
              <a:srgbClr val="FFFFFF"/>
            </a:solidFill>
            <a:prstDash val="solid"/>
            <a:tailEnd type="triangle"/>
          </a:ln>
        </p:spPr>
      </p:sp>
      <p:sp>
        <p:nvSpPr>
          <p:cNvPr id="8" name="privacy2"/>
          <p:cNvSpPr/>
          <p:nvPr/>
        </p:nvSpPr>
        <p:spPr>
          <a:xfrm>
            <a:off x="3291840" y="1371600"/>
            <a:ext cx="2560320" cy="2697480"/>
          </a:xfrm>
          <a:prstGeom prst="roundRect">
            <a:avLst>
              <a:gd name="adj" fmla="val 5000"/>
            </a:avLst>
          </a:prstGeom>
          <a:solidFill>
            <a:srgbClr val="1B4670">
              <a:alpha val="70000"/>
            </a:srgbClr>
          </a:solidFill>
          <a:ln w="15875">
            <a:solidFill>
              <a:srgbClr val="FFD166"/>
            </a:solidFill>
            <a:prstDash val="solid"/>
          </a:ln>
        </p:spPr>
      </p:sp>
      <p:sp>
        <p:nvSpPr>
          <p:cNvPr id="9" name="Shape 7"/>
          <p:cNvSpPr/>
          <p:nvPr/>
        </p:nvSpPr>
        <p:spPr>
          <a:xfrm>
            <a:off x="3566160" y="1188720"/>
            <a:ext cx="2011680" cy="365760"/>
          </a:xfrm>
          <a:prstGeom prst="roundRect">
            <a:avLst>
              <a:gd name="adj" fmla="val 50000"/>
            </a:avLst>
          </a:prstGeom>
          <a:solidFill>
            <a:srgbClr val="214F7B"/>
          </a:solidFill>
          <a:ln w="15875">
            <a:solidFill>
              <a:srgbClr val="FFFFFF"/>
            </a:solidFill>
            <a:prstDash val="solid"/>
          </a:ln>
        </p:spPr>
      </p:sp>
      <p:sp>
        <p:nvSpPr>
          <p:cNvPr id="10" name="Text 8"/>
          <p:cNvSpPr txBox="1"/>
          <p:nvPr/>
        </p:nvSpPr>
        <p:spPr>
          <a:xfrm>
            <a:off x="3566160" y="1188720"/>
            <a:ext cx="2011680" cy="365760"/>
          </a:xfrm>
          <a:prstGeom prst="rect">
            <a:avLst/>
          </a:prstGeom>
          <a:noFill/>
          <a:ln/>
        </p:spPr>
        <p:txBody>
          <a:bodyPr wrap="square" lIns="0" tIns="0" rIns="0" bIns="0" rtlCol="0" anchor="ctr"/>
          <a:lstStyle/>
          <a:p>
            <a:pPr algn="ctr" indent="0" marL="0">
              <a:buNone/>
            </a:pPr>
            <a:r>
              <a:rPr lang="en-US" sz="1000" b="1" dirty="0">
                <a:solidFill>
                  <a:schemeClr val="accent2"/>
                </a:solidFill>
              </a:rPr>
              <a:t>SHARED WITH CITY</a:t>
            </a:r>
            <a:endParaRPr lang="en-US" sz="1000" dirty="0"/>
          </a:p>
        </p:txBody>
      </p:sp>
      <p:sp>
        <p:nvSpPr>
          <p:cNvPr id="11" name="Text 9"/>
          <p:cNvSpPr txBox="1"/>
          <p:nvPr/>
        </p:nvSpPr>
        <p:spPr>
          <a:xfrm>
            <a:off x="3474720" y="1737360"/>
            <a:ext cx="2212848" cy="224028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chemeClr val="bg1"/>
                </a:solidFill>
              </a:rPr>
              <a:t>Hourly counts per ward: readings, fevers, alerts</a:t>
            </a:r>
            <a:endParaRPr lang="en-US" sz="1050" dirty="0"/>
          </a:p>
          <a:p>
            <a:pPr marL="152400" indent="-152400">
              <a:spcAft>
                <a:spcPts val="600"/>
              </a:spcAft>
              <a:buSzPct val="100000"/>
              <a:buChar char="•"/>
            </a:pPr>
            <a:r>
              <a:rPr lang="en-US" sz="1050" dirty="0">
                <a:solidFill>
                  <a:schemeClr val="bg1"/>
                </a:solidFill>
              </a:rPr>
              <a:t>Average vitals per ward</a:t>
            </a:r>
            <a:endParaRPr lang="en-US" sz="1050" dirty="0"/>
          </a:p>
          <a:p>
            <a:pPr marL="152400" indent="-152400">
              <a:spcAft>
                <a:spcPts val="600"/>
              </a:spcAft>
              <a:buSzPct val="100000"/>
              <a:buChar char="•"/>
            </a:pPr>
            <a:r>
              <a:rPr lang="en-US" sz="1050" dirty="0">
                <a:solidFill>
                  <a:schemeClr val="bg1"/>
                </a:solidFill>
              </a:rPr>
              <a:t>No names or device IDs</a:t>
            </a:r>
            <a:endParaRPr lang="en-US" sz="1050" dirty="0"/>
          </a:p>
          <a:p>
            <a:pPr marL="152400" indent="-152400">
              <a:spcAft>
                <a:spcPts val="600"/>
              </a:spcAft>
              <a:buSzPct val="100000"/>
              <a:buChar char="•"/>
            </a:pPr>
            <a:r>
              <a:rPr lang="en-US" sz="1050" dirty="0">
                <a:solidFill>
                  <a:schemeClr val="bg1"/>
                </a:solidFill>
              </a:rPr>
              <a:t>Groups under 10 people merged</a:t>
            </a:r>
            <a:endParaRPr lang="en-US" sz="1050" dirty="0"/>
          </a:p>
        </p:txBody>
      </p:sp>
      <p:sp>
        <p:nvSpPr>
          <p:cNvPr id="12" name="Shape 10"/>
          <p:cNvSpPr/>
          <p:nvPr/>
        </p:nvSpPr>
        <p:spPr>
          <a:xfrm>
            <a:off x="5852160" y="2697480"/>
            <a:ext cx="182880" cy="0"/>
          </a:xfrm>
          <a:prstGeom prst="line">
            <a:avLst/>
          </a:prstGeom>
          <a:noFill/>
          <a:ln w="19050">
            <a:solidFill>
              <a:srgbClr val="FFFFFF"/>
            </a:solidFill>
            <a:prstDash val="solid"/>
            <a:tailEnd type="triangle"/>
          </a:ln>
        </p:spPr>
      </p:sp>
      <p:sp>
        <p:nvSpPr>
          <p:cNvPr id="13" name="privacy3"/>
          <p:cNvSpPr/>
          <p:nvPr/>
        </p:nvSpPr>
        <p:spPr>
          <a:xfrm>
            <a:off x="6035040" y="1371600"/>
            <a:ext cx="2560320" cy="2697480"/>
          </a:xfrm>
          <a:prstGeom prst="roundRect">
            <a:avLst>
              <a:gd name="adj" fmla="val 5000"/>
            </a:avLst>
          </a:prstGeom>
          <a:solidFill>
            <a:srgbClr val="1B4670">
              <a:alpha val="70000"/>
            </a:srgbClr>
          </a:solidFill>
          <a:ln w="15875">
            <a:solidFill>
              <a:srgbClr val="FF7B7B"/>
            </a:solidFill>
            <a:prstDash val="solid"/>
          </a:ln>
        </p:spPr>
      </p:sp>
      <p:sp>
        <p:nvSpPr>
          <p:cNvPr id="14" name="Shape 12"/>
          <p:cNvSpPr/>
          <p:nvPr/>
        </p:nvSpPr>
        <p:spPr>
          <a:xfrm>
            <a:off x="6309360" y="1188720"/>
            <a:ext cx="2011680" cy="365760"/>
          </a:xfrm>
          <a:prstGeom prst="roundRect">
            <a:avLst>
              <a:gd name="adj" fmla="val 50000"/>
            </a:avLst>
          </a:prstGeom>
          <a:solidFill>
            <a:srgbClr val="214F7B"/>
          </a:solidFill>
          <a:ln w="15875">
            <a:solidFill>
              <a:srgbClr val="FFFFFF"/>
            </a:solidFill>
            <a:prstDash val="solid"/>
          </a:ln>
        </p:spPr>
      </p:sp>
      <p:sp>
        <p:nvSpPr>
          <p:cNvPr id="15" name="Text 13"/>
          <p:cNvSpPr txBox="1"/>
          <p:nvPr/>
        </p:nvSpPr>
        <p:spPr>
          <a:xfrm>
            <a:off x="6309360" y="1188720"/>
            <a:ext cx="2011680" cy="365760"/>
          </a:xfrm>
          <a:prstGeom prst="rect">
            <a:avLst/>
          </a:prstGeom>
          <a:noFill/>
          <a:ln/>
        </p:spPr>
        <p:txBody>
          <a:bodyPr wrap="square" lIns="0" tIns="0" rIns="0" bIns="0" rtlCol="0" anchor="ctr"/>
          <a:lstStyle/>
          <a:p>
            <a:pPr algn="ctr" indent="0" marL="0">
              <a:buNone/>
            </a:pPr>
            <a:r>
              <a:rPr lang="en-US" sz="1000" b="1" dirty="0">
                <a:solidFill>
                  <a:schemeClr val="accent3"/>
                </a:solidFill>
              </a:rPr>
              <a:t>EMERGENCY ONLY</a:t>
            </a:r>
            <a:endParaRPr lang="en-US" sz="1000" dirty="0"/>
          </a:p>
        </p:txBody>
      </p:sp>
      <p:sp>
        <p:nvSpPr>
          <p:cNvPr id="16" name="Text 14"/>
          <p:cNvSpPr txBox="1"/>
          <p:nvPr/>
        </p:nvSpPr>
        <p:spPr>
          <a:xfrm>
            <a:off x="6217920" y="1737360"/>
            <a:ext cx="2212848" cy="224028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chemeClr val="bg1"/>
                </a:solidFill>
              </a:rPr>
              <a:t>Name and location</a:t>
            </a:r>
            <a:endParaRPr lang="en-US" sz="1050" dirty="0"/>
          </a:p>
          <a:p>
            <a:pPr marL="152400" indent="-152400">
              <a:spcAft>
                <a:spcPts val="600"/>
              </a:spcAft>
              <a:buSzPct val="100000"/>
              <a:buChar char="•"/>
            </a:pPr>
            <a:r>
              <a:rPr lang="en-US" sz="1050" dirty="0">
                <a:solidFill>
                  <a:schemeClr val="bg1"/>
                </a:solidFill>
              </a:rPr>
              <a:t>Last 5 minutes of readings</a:t>
            </a:r>
            <a:endParaRPr lang="en-US" sz="1050" dirty="0"/>
          </a:p>
          <a:p>
            <a:pPr marL="152400" indent="-152400">
              <a:spcAft>
                <a:spcPts val="600"/>
              </a:spcAft>
              <a:buSzPct val="100000"/>
              <a:buChar char="•"/>
            </a:pPr>
            <a:r>
              <a:rPr lang="en-US" sz="1050" dirty="0">
                <a:solidFill>
                  <a:schemeClr val="bg1"/>
                </a:solidFill>
              </a:rPr>
              <a:t>Sent to 108 / nearest hospital</a:t>
            </a:r>
            <a:endParaRPr lang="en-US" sz="1050" dirty="0"/>
          </a:p>
          <a:p>
            <a:pPr marL="152400" indent="-152400">
              <a:spcAft>
                <a:spcPts val="600"/>
              </a:spcAft>
              <a:buSzPct val="100000"/>
              <a:buChar char="•"/>
            </a:pPr>
            <a:r>
              <a:rPr lang="en-US" sz="1050" dirty="0">
                <a:solidFill>
                  <a:schemeClr val="bg1"/>
                </a:solidFill>
              </a:rPr>
              <a:t>Only with consent given at sign-up</a:t>
            </a:r>
            <a:endParaRPr lang="en-US" sz="1050" dirty="0"/>
          </a:p>
        </p:txBody>
      </p:sp>
      <p:sp>
        <p:nvSpPr>
          <p:cNvPr id="17" name="Text 15"/>
          <p:cNvSpPr txBox="1"/>
          <p:nvPr/>
        </p:nvSpPr>
        <p:spPr>
          <a:xfrm>
            <a:off x="822960" y="4206240"/>
            <a:ext cx="7498080" cy="457200"/>
          </a:xfrm>
          <a:prstGeom prst="rect">
            <a:avLst/>
          </a:prstGeom>
          <a:noFill/>
          <a:ln/>
        </p:spPr>
        <p:txBody>
          <a:bodyPr wrap="square" lIns="0" tIns="0" rIns="0" bIns="0" rtlCol="0" anchor="ctr"/>
          <a:lstStyle/>
          <a:p>
            <a:pPr algn="ctr" indent="0" marL="0">
              <a:buNone/>
            </a:pPr>
            <a:r>
              <a:rPr lang="en-US" sz="1050" dirty="0">
                <a:solidFill>
                  <a:schemeClr val="bg2"/>
                </a:solidFill>
              </a:rPr>
              <a:t>Designed around India's Digital Personal Data Protection (DPDP) Act, 2023: consent, purpose limitation and data minimisation.</a:t>
            </a:r>
            <a:endParaRPr lang="en-US" sz="10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EXISTING SOLUTIONS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2057400"/>
                <a:gridCol w="457200"/>
                <a:gridCol w="502920"/>
                <a:gridCol w="502920"/>
                <a:gridCol w="868680"/>
                <a:gridCol w="868680"/>
                <a:gridCol w="868680"/>
                <a:gridCol w="868680"/>
                <a:gridCol w="1051560"/>
              </a:tblGrid>
              <a:tr h="502920">
                <a:tc>
                  <a:txBody>
                    <a:bodyPr/>
                    <a:lstStyle/>
                    <a:p>
                      <a:pPr algn="l" indent="0" marL="0">
                        <a:buNone/>
                      </a:pPr>
                      <a:r>
                        <a:rPr lang="en-US" sz="900" b="1" dirty="0">
                          <a:solidFill>
                            <a:srgbClr val="DCE8F7"/>
                          </a:solidFill>
                        </a:rPr>
                        <a:t>Device</a:t>
                      </a:r>
                      <a:endParaRPr lang="en-US" sz="9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900" b="1" dirty="0">
                          <a:solidFill>
                            <a:srgbClr val="DCE8F7"/>
                          </a:solidFill>
                        </a:rPr>
                        <a:t>HR</a:t>
                      </a:r>
                      <a:endParaRPr lang="en-US" sz="9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900" b="1" dirty="0">
                          <a:solidFill>
                            <a:srgbClr val="DCE8F7"/>
                          </a:solidFill>
                        </a:rPr>
                        <a:t>SpO₂</a:t>
                      </a:r>
                      <a:endParaRPr lang="en-US" sz="9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900" b="1" dirty="0">
                          <a:solidFill>
                            <a:srgbClr val="DCE8F7"/>
                          </a:solidFill>
                        </a:rPr>
                        <a:t>Temp</a:t>
                      </a:r>
                      <a:endParaRPr lang="en-US" sz="9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900" b="1" dirty="0">
                          <a:solidFill>
                            <a:srgbClr val="DCE8F7"/>
                          </a:solidFill>
                        </a:rPr>
                        <a:t>Live remote view</a:t>
                      </a:r>
                      <a:endParaRPr lang="en-US" sz="9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900" b="1" dirty="0">
                          <a:solidFill>
                            <a:srgbClr val="DCE8F7"/>
                          </a:solidFill>
                        </a:rPr>
                        <a:t>Many users + admin</a:t>
                      </a:r>
                      <a:endParaRPr lang="en-US" sz="9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900" b="1" dirty="0">
                          <a:solidFill>
                            <a:srgbClr val="DCE8F7"/>
                          </a:solidFill>
                        </a:rPr>
                        <a:t>Learns + predicts</a:t>
                      </a:r>
                      <a:endParaRPr lang="en-US" sz="9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900" b="1" dirty="0">
                          <a:solidFill>
                            <a:srgbClr val="DCE8F7"/>
                          </a:solidFill>
                        </a:rPr>
                        <a:t>Emergency alerts</a:t>
                      </a:r>
                      <a:endParaRPr lang="en-US" sz="9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900" b="1" dirty="0">
                          <a:solidFill>
                            <a:srgbClr val="DCE8F7"/>
                          </a:solidFill>
                        </a:rPr>
                        <a:t>Cost</a:t>
                      </a:r>
                      <a:endParaRPr lang="en-US" sz="9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384048">
                <a:tc>
                  <a:txBody>
                    <a:bodyPr/>
                    <a:lstStyle/>
                    <a:p>
                      <a:pPr algn="l" indent="0" marL="0">
                        <a:buNone/>
                      </a:pPr>
                      <a:r>
                        <a:rPr lang="en-US" sz="1000" b="1" dirty="0">
                          <a:solidFill>
                            <a:srgbClr val="FFFFFF"/>
                          </a:solidFill>
                        </a:rPr>
                        <a:t>Fingertip pulse oximeter</a:t>
                      </a:r>
                      <a:endParaRPr lang="en-US" sz="10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000" dirty="0">
                          <a:solidFill>
                            <a:srgbClr val="DCE8F7"/>
                          </a:solidFill>
                        </a:rPr>
                        <a:t>Low</a:t>
                      </a:r>
                      <a:endParaRPr lang="en-US" sz="10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384048">
                <a:tc>
                  <a:txBody>
                    <a:bodyPr/>
                    <a:lstStyle/>
                    <a:p>
                      <a:pPr algn="l" indent="0" marL="0">
                        <a:buNone/>
                      </a:pPr>
                      <a:r>
                        <a:rPr lang="en-US" sz="1000" b="1" dirty="0">
                          <a:solidFill>
                            <a:srgbClr val="FFFFFF"/>
                          </a:solidFill>
                        </a:rPr>
                        <a:t>Infrared thermometer</a:t>
                      </a:r>
                      <a:endParaRPr lang="en-US" sz="10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000" dirty="0">
                          <a:solidFill>
                            <a:srgbClr val="DCE8F7"/>
                          </a:solidFill>
                        </a:rPr>
                        <a:t>Low</a:t>
                      </a:r>
                      <a:endParaRPr lang="en-US" sz="10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384048">
                <a:tc>
                  <a:txBody>
                    <a:bodyPr/>
                    <a:lstStyle/>
                    <a:p>
                      <a:pPr algn="l" indent="0" marL="0">
                        <a:buNone/>
                      </a:pPr>
                      <a:r>
                        <a:rPr lang="en-US" sz="1000" b="1" dirty="0">
                          <a:solidFill>
                            <a:srgbClr val="FFFFFF"/>
                          </a:solidFill>
                        </a:rPr>
                        <a:t>Smartwatch / fitness band</a:t>
                      </a:r>
                      <a:endParaRPr lang="en-US" sz="10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D166"/>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D166"/>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D166"/>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D166"/>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D166"/>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000" dirty="0">
                          <a:solidFill>
                            <a:srgbClr val="DCE8F7"/>
                          </a:solidFill>
                        </a:rPr>
                        <a:t>Med–High</a:t>
                      </a:r>
                      <a:endParaRPr lang="en-US" sz="10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384048">
                <a:tc>
                  <a:txBody>
                    <a:bodyPr/>
                    <a:lstStyle/>
                    <a:p>
                      <a:pPr algn="l" indent="0" marL="0">
                        <a:buNone/>
                      </a:pPr>
                      <a:r>
                        <a:rPr lang="en-US" sz="1000" b="1" dirty="0">
                          <a:solidFill>
                            <a:srgbClr val="FFFFFF"/>
                          </a:solidFill>
                        </a:rPr>
                        <a:t>Hospital bedside monitor</a:t>
                      </a:r>
                      <a:endParaRPr lang="en-US" sz="10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000" dirty="0">
                          <a:solidFill>
                            <a:srgbClr val="DCE8F7"/>
                          </a:solidFill>
                        </a:rPr>
                        <a:t>Very high</a:t>
                      </a:r>
                      <a:endParaRPr lang="en-US" sz="10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384048">
                <a:tc>
                  <a:txBody>
                    <a:bodyPr/>
                    <a:lstStyle/>
                    <a:p>
                      <a:pPr algn="l" indent="0" marL="0">
                        <a:buNone/>
                      </a:pPr>
                      <a:r>
                        <a:rPr lang="en-US" sz="1000" b="1" dirty="0">
                          <a:solidFill>
                            <a:srgbClr val="FFFFFF"/>
                          </a:solidFill>
                        </a:rPr>
                        <a:t>IoT prototypes [1]–[3]</a:t>
                      </a:r>
                      <a:endParaRPr lang="en-US" sz="10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7F9CC2"/>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D166"/>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300" dirty="0">
                          <a:solidFill>
                            <a:srgbClr val="FFD166"/>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c>
                  <a:txBody>
                    <a:bodyPr/>
                    <a:lstStyle/>
                    <a:p>
                      <a:pPr algn="ctr" indent="0" marL="0">
                        <a:buNone/>
                      </a:pPr>
                      <a:r>
                        <a:rPr lang="en-US" sz="1000" dirty="0">
                          <a:solidFill>
                            <a:srgbClr val="DCE8F7"/>
                          </a:solidFill>
                        </a:rPr>
                        <a:t>Low</a:t>
                      </a:r>
                      <a:endParaRPr lang="en-US" sz="10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tcPr>
                </a:tc>
              </a:tr>
              <a:tr h="384048">
                <a:tc>
                  <a:txBody>
                    <a:bodyPr/>
                    <a:lstStyle/>
                    <a:p>
                      <a:pPr algn="l" indent="0" marL="0">
                        <a:buNone/>
                      </a:pPr>
                      <a:r>
                        <a:rPr lang="en-US" sz="1000" b="1" dirty="0">
                          <a:solidFill>
                            <a:srgbClr val="FFD166"/>
                          </a:solidFill>
                        </a:rPr>
                        <a:t>VITAL (ours)</a:t>
                      </a:r>
                      <a:endParaRPr lang="en-US" sz="10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solidFill>
                      <a:srgbClr val="3F6FAE"/>
                    </a:solidFill>
                  </a:tcPr>
                </a:tc>
                <a:tc>
                  <a:txBody>
                    <a:bodyPr/>
                    <a:lstStyle/>
                    <a:p>
                      <a:pPr algn="ctr" indent="0" marL="0">
                        <a:buNone/>
                      </a:pPr>
                      <a:r>
                        <a:rPr lang="en-US" sz="1300" b="1"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solidFill>
                      <a:srgbClr val="3F6FAE"/>
                    </a:solidFill>
                  </a:tcPr>
                </a:tc>
                <a:tc>
                  <a:txBody>
                    <a:bodyPr/>
                    <a:lstStyle/>
                    <a:p>
                      <a:pPr algn="ctr" indent="0" marL="0">
                        <a:buNone/>
                      </a:pPr>
                      <a:r>
                        <a:rPr lang="en-US" sz="1300" b="1"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solidFill>
                      <a:srgbClr val="3F6FAE"/>
                    </a:solidFill>
                  </a:tcPr>
                </a:tc>
                <a:tc>
                  <a:txBody>
                    <a:bodyPr/>
                    <a:lstStyle/>
                    <a:p>
                      <a:pPr algn="ctr" indent="0" marL="0">
                        <a:buNone/>
                      </a:pPr>
                      <a:r>
                        <a:rPr lang="en-US" sz="1300" b="1"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solidFill>
                      <a:srgbClr val="3F6FAE"/>
                    </a:solidFill>
                  </a:tcPr>
                </a:tc>
                <a:tc>
                  <a:txBody>
                    <a:bodyPr/>
                    <a:lstStyle/>
                    <a:p>
                      <a:pPr algn="ctr" indent="0" marL="0">
                        <a:buNone/>
                      </a:pPr>
                      <a:r>
                        <a:rPr lang="en-US" sz="1300" b="1"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solidFill>
                      <a:srgbClr val="3F6FAE"/>
                    </a:solidFill>
                  </a:tcPr>
                </a:tc>
                <a:tc>
                  <a:txBody>
                    <a:bodyPr/>
                    <a:lstStyle/>
                    <a:p>
                      <a:pPr algn="ctr" indent="0" marL="0">
                        <a:buNone/>
                      </a:pPr>
                      <a:r>
                        <a:rPr lang="en-US" sz="1300" b="1"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solidFill>
                      <a:srgbClr val="3F6FAE"/>
                    </a:solidFill>
                  </a:tcPr>
                </a:tc>
                <a:tc>
                  <a:txBody>
                    <a:bodyPr/>
                    <a:lstStyle/>
                    <a:p>
                      <a:pPr algn="ctr" indent="0" marL="0">
                        <a:buNone/>
                      </a:pPr>
                      <a:r>
                        <a:rPr lang="en-US" sz="1300" b="1"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solidFill>
                      <a:srgbClr val="3F6FAE"/>
                    </a:solidFill>
                  </a:tcPr>
                </a:tc>
                <a:tc>
                  <a:txBody>
                    <a:bodyPr/>
                    <a:lstStyle/>
                    <a:p>
                      <a:pPr algn="ctr" indent="0" marL="0">
                        <a:buNone/>
                      </a:pPr>
                      <a:r>
                        <a:rPr lang="en-US" sz="1300" b="1" dirty="0">
                          <a:solidFill>
                            <a:srgbClr val="FFFFFF"/>
                          </a:solidFill>
                        </a:rPr>
                        <a:t>●</a:t>
                      </a:r>
                      <a:endParaRPr lang="en-US" sz="13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solidFill>
                      <a:srgbClr val="3F6FAE"/>
                    </a:solidFill>
                  </a:tcPr>
                </a:tc>
                <a:tc>
                  <a:txBody>
                    <a:bodyPr/>
                    <a:lstStyle/>
                    <a:p>
                      <a:pPr algn="ctr" indent="0" marL="0">
                        <a:buNone/>
                      </a:pPr>
                      <a:r>
                        <a:rPr lang="en-US" sz="1000" b="1" dirty="0">
                          <a:solidFill>
                            <a:srgbClr val="DCE8F7"/>
                          </a:solidFill>
                        </a:rPr>
                        <a:t>Low</a:t>
                      </a:r>
                      <a:endParaRPr lang="en-US" sz="1000" dirty="0"/>
                    </a:p>
                  </a:txBody>
                  <a:tcPr marL="54864" marR="54864" marT="27432" marB="27432" anchor="ctr">
                    <a:lnL w="9525" cap="flat" cmpd="sng" algn="ctr">
                      <a:solidFill>
                        <a:srgbClr val="A9C1DE"/>
                      </a:solidFill>
                      <a:prstDash val="solid"/>
                      <a:round/>
                      <a:headEnd type="none" w="med" len="med"/>
                      <a:tailEnd type="none" w="med" len="med"/>
                    </a:lnL>
                    <a:lnR w="9525" cap="flat" cmpd="sng" algn="ctr">
                      <a:solidFill>
                        <a:srgbClr val="A9C1DE"/>
                      </a:solidFill>
                      <a:prstDash val="solid"/>
                      <a:round/>
                      <a:headEnd type="none" w="med" len="med"/>
                      <a:tailEnd type="none" w="med" len="med"/>
                    </a:lnR>
                    <a:lnT w="9525" cap="flat" cmpd="sng" algn="ctr">
                      <a:solidFill>
                        <a:srgbClr val="A9C1DE"/>
                      </a:solidFill>
                      <a:prstDash val="solid"/>
                      <a:round/>
                      <a:headEnd type="none" w="med" len="med"/>
                      <a:tailEnd type="none" w="med" len="med"/>
                    </a:lnT>
                    <a:lnB w="9525" cap="flat" cmpd="sng" algn="ctr">
                      <a:solidFill>
                        <a:srgbClr val="A9C1DE"/>
                      </a:solidFill>
                      <a:prstDash val="solid"/>
                      <a:round/>
                      <a:headEnd type="none" w="med" len="med"/>
                      <a:tailEnd type="none" w="med" len="med"/>
                    </a:lnB>
                    <a:solidFill>
                      <a:srgbClr val="3F6FAE"/>
                    </a:solidFill>
                  </a:tcPr>
                </a:tc>
              </a:tr>
            </a:tbl>
          </a:graphicData>
        </a:graphic>
      </p:graphicFrame>
      <p:sp>
        <p:nvSpPr>
          <p:cNvPr id="4" name="Text 1"/>
          <p:cNvSpPr txBox="1"/>
          <p:nvPr/>
        </p:nvSpPr>
        <p:spPr>
          <a:xfrm>
            <a:off x="548640" y="4160520"/>
            <a:ext cx="8046720" cy="274320"/>
          </a:xfrm>
          <a:prstGeom prst="rect">
            <a:avLst/>
          </a:prstGeom>
          <a:noFill/>
          <a:ln/>
        </p:spPr>
        <p:txBody>
          <a:bodyPr wrap="square" lIns="0" tIns="0" rIns="0" bIns="0" rtlCol="0" anchor="t"/>
          <a:lstStyle/>
          <a:p>
            <a:pPr algn="ctr" indent="0" marL="0">
              <a:buNone/>
            </a:pPr>
            <a:r>
              <a:rPr lang="en-US" sz="1050" dirty="0">
                <a:solidFill>
                  <a:srgbClr val="FFFFFF"/>
                </a:solidFill>
              </a:rPr>
              <a:t>● </a:t>
            </a:r>
            <a:pPr algn="ctr" indent="0" marL="0">
              <a:buNone/>
            </a:pPr>
            <a:r>
              <a:rPr lang="en-US" sz="1050" dirty="0">
                <a:solidFill>
                  <a:srgbClr val="DCE8F7"/>
                </a:solidFill>
              </a:rPr>
              <a:t>yes     </a:t>
            </a:r>
            <a:pPr algn="ctr" indent="0" marL="0">
              <a:buNone/>
            </a:pPr>
            <a:r>
              <a:rPr lang="en-US" sz="1050" dirty="0">
                <a:solidFill>
                  <a:srgbClr val="FFD166"/>
                </a:solidFill>
              </a:rPr>
              <a:t>◐ </a:t>
            </a:r>
            <a:pPr algn="ctr" indent="0" marL="0">
              <a:buNone/>
            </a:pPr>
            <a:r>
              <a:rPr lang="en-US" sz="1050" dirty="0">
                <a:solidFill>
                  <a:srgbClr val="DCE8F7"/>
                </a:solidFill>
              </a:rPr>
              <a:t>partial / some models     </a:t>
            </a:r>
            <a:pPr algn="ctr" indent="0" marL="0">
              <a:buNone/>
            </a:pPr>
            <a:r>
              <a:rPr lang="en-US" sz="1050" dirty="0">
                <a:solidFill>
                  <a:srgbClr val="7F9CC2"/>
                </a:solidFill>
              </a:rPr>
              <a:t>— </a:t>
            </a:r>
            <a:pPr algn="ctr" indent="0" marL="0">
              <a:buNone/>
            </a:pPr>
            <a:r>
              <a:rPr lang="en-US" sz="1050" dirty="0">
                <a:solidFill>
                  <a:srgbClr val="DCE8F7"/>
                </a:solidFill>
              </a:rPr>
              <a:t>no</a:t>
            </a:r>
            <a:endParaRPr lang="en-US" sz="10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WHAT MAKES VITAL DIFFERENT</a:t>
            </a:r>
            <a:endParaRPr lang="en-US" sz="3000" dirty="0"/>
          </a:p>
        </p:txBody>
      </p:sp>
      <p:sp>
        <p:nvSpPr>
          <p:cNvPr id="3" name="uniq1"/>
          <p:cNvSpPr/>
          <p:nvPr/>
        </p:nvSpPr>
        <p:spPr>
          <a:xfrm>
            <a:off x="548640" y="1188720"/>
            <a:ext cx="2560320" cy="1325880"/>
          </a:xfrm>
          <a:prstGeom prst="roundRect">
            <a:avLst>
              <a:gd name="adj" fmla="val 9655"/>
            </a:avLst>
          </a:prstGeom>
          <a:solidFill>
            <a:srgbClr val="1B4670">
              <a:alpha val="70000"/>
            </a:srgbClr>
          </a:solidFill>
          <a:ln w="15875">
            <a:solidFill>
              <a:srgbClr val="FFFFFF"/>
            </a:solidFill>
            <a:prstDash val="solid"/>
          </a:ln>
        </p:spPr>
      </p:sp>
      <p:sp>
        <p:nvSpPr>
          <p:cNvPr id="4" name="Shape 2"/>
          <p:cNvSpPr/>
          <p:nvPr/>
        </p:nvSpPr>
        <p:spPr>
          <a:xfrm>
            <a:off x="685800" y="1325880"/>
            <a:ext cx="438912" cy="438912"/>
          </a:xfrm>
          <a:prstGeom prst="ellipse">
            <a:avLst/>
          </a:prstGeom>
          <a:solidFill>
            <a:srgbClr val="3F6FAE"/>
          </a:solidFill>
          <a:ln w="15875">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799917" y="1439997"/>
            <a:ext cx="210678" cy="210678"/>
          </a:xfrm>
          <a:prstGeom prst="rect">
            <a:avLst/>
          </a:prstGeom>
        </p:spPr>
      </p:pic>
      <p:sp>
        <p:nvSpPr>
          <p:cNvPr id="6" name="Text 3"/>
          <p:cNvSpPr txBox="1"/>
          <p:nvPr/>
        </p:nvSpPr>
        <p:spPr>
          <a:xfrm>
            <a:off x="1234440" y="1298448"/>
            <a:ext cx="1783080" cy="502920"/>
          </a:xfrm>
          <a:prstGeom prst="rect">
            <a:avLst/>
          </a:prstGeom>
          <a:noFill/>
          <a:ln/>
        </p:spPr>
        <p:txBody>
          <a:bodyPr wrap="square" lIns="0" tIns="0" rIns="0" bIns="0" rtlCol="0" anchor="ctr"/>
          <a:lstStyle/>
          <a:p>
            <a:pPr indent="0" marL="0">
              <a:buNone/>
            </a:pPr>
            <a:r>
              <a:rPr lang="en-US" sz="1150" b="1" dirty="0">
                <a:solidFill>
                  <a:schemeClr val="bg1"/>
                </a:solidFill>
              </a:rPr>
              <a:t>Learns your normal</a:t>
            </a:r>
            <a:endParaRPr lang="en-US" sz="1150" dirty="0"/>
          </a:p>
        </p:txBody>
      </p:sp>
      <p:sp>
        <p:nvSpPr>
          <p:cNvPr id="7" name="Text 4"/>
          <p:cNvSpPr txBox="1"/>
          <p:nvPr/>
        </p:nvSpPr>
        <p:spPr>
          <a:xfrm>
            <a:off x="713232" y="1847088"/>
            <a:ext cx="2267712" cy="621792"/>
          </a:xfrm>
          <a:prstGeom prst="rect">
            <a:avLst/>
          </a:prstGeom>
          <a:noFill/>
          <a:ln/>
        </p:spPr>
        <p:txBody>
          <a:bodyPr wrap="square" lIns="0" tIns="0" rIns="0" bIns="0" rtlCol="0" anchor="t"/>
          <a:lstStyle/>
          <a:p>
            <a:pPr indent="0" marL="0">
              <a:buNone/>
            </a:pPr>
            <a:r>
              <a:rPr lang="en-US" sz="1050" dirty="0">
                <a:solidFill>
                  <a:schemeClr val="bg2"/>
                </a:solidFill>
              </a:rPr>
              <a:t>Alerts use each person's own baseline, not one threshold for everyone.</a:t>
            </a:r>
            <a:endParaRPr lang="en-US" sz="1050" dirty="0"/>
          </a:p>
        </p:txBody>
      </p:sp>
      <p:sp>
        <p:nvSpPr>
          <p:cNvPr id="8" name="uniq2"/>
          <p:cNvSpPr/>
          <p:nvPr/>
        </p:nvSpPr>
        <p:spPr>
          <a:xfrm>
            <a:off x="3291840" y="1188720"/>
            <a:ext cx="2560320" cy="1325880"/>
          </a:xfrm>
          <a:prstGeom prst="roundRect">
            <a:avLst>
              <a:gd name="adj" fmla="val 9655"/>
            </a:avLst>
          </a:prstGeom>
          <a:solidFill>
            <a:srgbClr val="1B4670">
              <a:alpha val="70000"/>
            </a:srgbClr>
          </a:solidFill>
          <a:ln w="15875">
            <a:solidFill>
              <a:srgbClr val="FFFFFF"/>
            </a:solidFill>
            <a:prstDash val="solid"/>
          </a:ln>
        </p:spPr>
      </p:sp>
      <p:sp>
        <p:nvSpPr>
          <p:cNvPr id="9" name="Shape 6"/>
          <p:cNvSpPr/>
          <p:nvPr/>
        </p:nvSpPr>
        <p:spPr>
          <a:xfrm>
            <a:off x="3429000" y="1325880"/>
            <a:ext cx="438912" cy="438912"/>
          </a:xfrm>
          <a:prstGeom prst="ellipse">
            <a:avLst/>
          </a:prstGeom>
          <a:solidFill>
            <a:srgbClr val="3F6FAE"/>
          </a:solidFill>
          <a:ln w="15875">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3543117" y="1439997"/>
            <a:ext cx="210678" cy="210678"/>
          </a:xfrm>
          <a:prstGeom prst="rect">
            <a:avLst/>
          </a:prstGeom>
        </p:spPr>
      </p:pic>
      <p:sp>
        <p:nvSpPr>
          <p:cNvPr id="11" name="Text 7"/>
          <p:cNvSpPr txBox="1"/>
          <p:nvPr/>
        </p:nvSpPr>
        <p:spPr>
          <a:xfrm>
            <a:off x="3977640" y="1298448"/>
            <a:ext cx="1783080" cy="502920"/>
          </a:xfrm>
          <a:prstGeom prst="rect">
            <a:avLst/>
          </a:prstGeom>
          <a:noFill/>
          <a:ln/>
        </p:spPr>
        <p:txBody>
          <a:bodyPr wrap="square" lIns="0" tIns="0" rIns="0" bIns="0" rtlCol="0" anchor="ctr"/>
          <a:lstStyle/>
          <a:p>
            <a:pPr indent="0" marL="0">
              <a:buNone/>
            </a:pPr>
            <a:r>
              <a:rPr lang="en-US" sz="1150" b="1" dirty="0">
                <a:solidFill>
                  <a:schemeClr val="bg1"/>
                </a:solidFill>
              </a:rPr>
              <a:t>Predicts before it happens</a:t>
            </a:r>
            <a:endParaRPr lang="en-US" sz="1150" dirty="0"/>
          </a:p>
        </p:txBody>
      </p:sp>
      <p:sp>
        <p:nvSpPr>
          <p:cNvPr id="12" name="Text 8"/>
          <p:cNvSpPr txBox="1"/>
          <p:nvPr/>
        </p:nvSpPr>
        <p:spPr>
          <a:xfrm>
            <a:off x="3456432" y="1847088"/>
            <a:ext cx="2267712" cy="621792"/>
          </a:xfrm>
          <a:prstGeom prst="rect">
            <a:avLst/>
          </a:prstGeom>
          <a:noFill/>
          <a:ln/>
        </p:spPr>
        <p:txBody>
          <a:bodyPr wrap="square" lIns="0" tIns="0" rIns="0" bIns="0" rtlCol="0" anchor="t"/>
          <a:lstStyle/>
          <a:p>
            <a:pPr indent="0" marL="0">
              <a:buNone/>
            </a:pPr>
            <a:r>
              <a:rPr lang="en-US" sz="1050" dirty="0">
                <a:solidFill>
                  <a:schemeClr val="bg2"/>
                </a:solidFill>
              </a:rPr>
              <a:t>Trend forecasting warns minutes before a reading turns critical.</a:t>
            </a:r>
            <a:endParaRPr lang="en-US" sz="1050" dirty="0"/>
          </a:p>
        </p:txBody>
      </p:sp>
      <p:sp>
        <p:nvSpPr>
          <p:cNvPr id="13" name="uniq3"/>
          <p:cNvSpPr/>
          <p:nvPr/>
        </p:nvSpPr>
        <p:spPr>
          <a:xfrm>
            <a:off x="6035040" y="1188720"/>
            <a:ext cx="2560320" cy="1325880"/>
          </a:xfrm>
          <a:prstGeom prst="roundRect">
            <a:avLst>
              <a:gd name="adj" fmla="val 9655"/>
            </a:avLst>
          </a:prstGeom>
          <a:solidFill>
            <a:srgbClr val="1B4670">
              <a:alpha val="70000"/>
            </a:srgbClr>
          </a:solidFill>
          <a:ln w="15875">
            <a:solidFill>
              <a:srgbClr val="FFFFFF"/>
            </a:solidFill>
            <a:prstDash val="solid"/>
          </a:ln>
        </p:spPr>
      </p:sp>
      <p:sp>
        <p:nvSpPr>
          <p:cNvPr id="14" name="Shape 10"/>
          <p:cNvSpPr/>
          <p:nvPr/>
        </p:nvSpPr>
        <p:spPr>
          <a:xfrm>
            <a:off x="6172200" y="1325880"/>
            <a:ext cx="438912" cy="438912"/>
          </a:xfrm>
          <a:prstGeom prst="ellipse">
            <a:avLst/>
          </a:prstGeom>
          <a:solidFill>
            <a:srgbClr val="3F6FAE"/>
          </a:solidFill>
          <a:ln w="15875">
            <a:solidFill>
              <a:srgbClr val="FFFFFF"/>
            </a:solidFill>
            <a:prstDash val="solid"/>
          </a:ln>
        </p:spPr>
      </p:sp>
      <p:pic>
        <p:nvPicPr>
          <p:cNvPr id="15" name="Image 2" descr="preencoded.png">    </p:cNvPr>
          <p:cNvPicPr>
            <a:picLocks noChangeAspect="1"/>
          </p:cNvPicPr>
          <p:nvPr/>
        </p:nvPicPr>
        <p:blipFill>
          <a:blip r:embed="rId3"/>
          <a:stretch>
            <a:fillRect/>
          </a:stretch>
        </p:blipFill>
        <p:spPr>
          <a:xfrm>
            <a:off x="6286317" y="1439997"/>
            <a:ext cx="210678" cy="210678"/>
          </a:xfrm>
          <a:prstGeom prst="rect">
            <a:avLst/>
          </a:prstGeom>
        </p:spPr>
      </p:pic>
      <p:sp>
        <p:nvSpPr>
          <p:cNvPr id="16" name="Text 11"/>
          <p:cNvSpPr txBox="1"/>
          <p:nvPr/>
        </p:nvSpPr>
        <p:spPr>
          <a:xfrm>
            <a:off x="6720840" y="1298448"/>
            <a:ext cx="1783080" cy="502920"/>
          </a:xfrm>
          <a:prstGeom prst="rect">
            <a:avLst/>
          </a:prstGeom>
          <a:noFill/>
          <a:ln/>
        </p:spPr>
        <p:txBody>
          <a:bodyPr wrap="square" lIns="0" tIns="0" rIns="0" bIns="0" rtlCol="0" anchor="ctr"/>
          <a:lstStyle/>
          <a:p>
            <a:pPr indent="0" marL="0">
              <a:buNone/>
            </a:pPr>
            <a:r>
              <a:rPr lang="en-US" sz="1150" b="1" dirty="0">
                <a:solidFill>
                  <a:schemeClr val="bg1"/>
                </a:solidFill>
              </a:rPr>
              <a:t>Instant emergency alerts</a:t>
            </a:r>
            <a:endParaRPr lang="en-US" sz="1150" dirty="0"/>
          </a:p>
        </p:txBody>
      </p:sp>
      <p:sp>
        <p:nvSpPr>
          <p:cNvPr id="17" name="Text 12"/>
          <p:cNvSpPr txBox="1"/>
          <p:nvPr/>
        </p:nvSpPr>
        <p:spPr>
          <a:xfrm>
            <a:off x="6199632" y="1847088"/>
            <a:ext cx="2267712" cy="621792"/>
          </a:xfrm>
          <a:prstGeom prst="rect">
            <a:avLst/>
          </a:prstGeom>
          <a:noFill/>
          <a:ln/>
        </p:spPr>
        <p:txBody>
          <a:bodyPr wrap="square" lIns="0" tIns="0" rIns="0" bIns="0" rtlCol="0" anchor="t"/>
          <a:lstStyle/>
          <a:p>
            <a:pPr indent="0" marL="0">
              <a:buNone/>
            </a:pPr>
            <a:r>
              <a:rPr lang="en-US" sz="1050" dirty="0">
                <a:solidFill>
                  <a:schemeClr val="bg2"/>
                </a:solidFill>
              </a:rPr>
              <a:t>A Telegram message reaches the emergency contact automatically.</a:t>
            </a:r>
            <a:endParaRPr lang="en-US" sz="1050" dirty="0"/>
          </a:p>
        </p:txBody>
      </p:sp>
      <p:sp>
        <p:nvSpPr>
          <p:cNvPr id="18" name="uniq4"/>
          <p:cNvSpPr/>
          <p:nvPr/>
        </p:nvSpPr>
        <p:spPr>
          <a:xfrm>
            <a:off x="548640" y="2651760"/>
            <a:ext cx="2560320" cy="1325880"/>
          </a:xfrm>
          <a:prstGeom prst="roundRect">
            <a:avLst>
              <a:gd name="adj" fmla="val 9655"/>
            </a:avLst>
          </a:prstGeom>
          <a:solidFill>
            <a:srgbClr val="1B4670">
              <a:alpha val="70000"/>
            </a:srgbClr>
          </a:solidFill>
          <a:ln w="15875">
            <a:solidFill>
              <a:srgbClr val="FFFFFF"/>
            </a:solidFill>
            <a:prstDash val="solid"/>
          </a:ln>
        </p:spPr>
      </p:sp>
      <p:sp>
        <p:nvSpPr>
          <p:cNvPr id="19" name="Shape 14"/>
          <p:cNvSpPr/>
          <p:nvPr/>
        </p:nvSpPr>
        <p:spPr>
          <a:xfrm>
            <a:off x="685800" y="2788920"/>
            <a:ext cx="438912" cy="438912"/>
          </a:xfrm>
          <a:prstGeom prst="ellipse">
            <a:avLst/>
          </a:prstGeom>
          <a:solidFill>
            <a:srgbClr val="3F6FAE"/>
          </a:solidFill>
          <a:ln w="15875">
            <a:solidFill>
              <a:srgbClr val="FFFFFF"/>
            </a:solidFill>
            <a:prstDash val="solid"/>
          </a:ln>
        </p:spPr>
      </p:sp>
      <p:pic>
        <p:nvPicPr>
          <p:cNvPr id="20" name="Image 3" descr="preencoded.png">    </p:cNvPr>
          <p:cNvPicPr>
            <a:picLocks noChangeAspect="1"/>
          </p:cNvPicPr>
          <p:nvPr/>
        </p:nvPicPr>
        <p:blipFill>
          <a:blip r:embed="rId4"/>
          <a:stretch>
            <a:fillRect/>
          </a:stretch>
        </p:blipFill>
        <p:spPr>
          <a:xfrm>
            <a:off x="799917" y="2903037"/>
            <a:ext cx="210678" cy="210678"/>
          </a:xfrm>
          <a:prstGeom prst="rect">
            <a:avLst/>
          </a:prstGeom>
        </p:spPr>
      </p:pic>
      <p:sp>
        <p:nvSpPr>
          <p:cNvPr id="21" name="Text 15"/>
          <p:cNvSpPr txBox="1"/>
          <p:nvPr/>
        </p:nvSpPr>
        <p:spPr>
          <a:xfrm>
            <a:off x="1234440" y="2761488"/>
            <a:ext cx="1783080" cy="502920"/>
          </a:xfrm>
          <a:prstGeom prst="rect">
            <a:avLst/>
          </a:prstGeom>
          <a:noFill/>
          <a:ln/>
        </p:spPr>
        <p:txBody>
          <a:bodyPr wrap="square" lIns="0" tIns="0" rIns="0" bIns="0" rtlCol="0" anchor="ctr"/>
          <a:lstStyle/>
          <a:p>
            <a:pPr indent="0" marL="0">
              <a:buNone/>
            </a:pPr>
            <a:r>
              <a:rPr lang="en-US" sz="1150" b="1" dirty="0">
                <a:solidFill>
                  <a:schemeClr val="bg1"/>
                </a:solidFill>
              </a:rPr>
              <a:t>One device, many users</a:t>
            </a:r>
            <a:endParaRPr lang="en-US" sz="1150" dirty="0"/>
          </a:p>
        </p:txBody>
      </p:sp>
      <p:sp>
        <p:nvSpPr>
          <p:cNvPr id="22" name="Text 16"/>
          <p:cNvSpPr txBox="1"/>
          <p:nvPr/>
        </p:nvSpPr>
        <p:spPr>
          <a:xfrm>
            <a:off x="713232" y="3310128"/>
            <a:ext cx="2267712" cy="621792"/>
          </a:xfrm>
          <a:prstGeom prst="rect">
            <a:avLst/>
          </a:prstGeom>
          <a:noFill/>
          <a:ln/>
        </p:spPr>
        <p:txBody>
          <a:bodyPr wrap="square" lIns="0" tIns="0" rIns="0" bIns="0" rtlCol="0" anchor="t"/>
          <a:lstStyle/>
          <a:p>
            <a:pPr indent="0" marL="0">
              <a:buNone/>
            </a:pPr>
            <a:r>
              <a:rPr lang="en-US" sz="1050" dirty="0">
                <a:solidFill>
                  <a:schemeClr val="bg2"/>
                </a:solidFill>
              </a:rPr>
              <a:t>Per-user history and an admin station: family, hostel or clinic.</a:t>
            </a:r>
            <a:endParaRPr lang="en-US" sz="1050" dirty="0"/>
          </a:p>
        </p:txBody>
      </p:sp>
      <p:sp>
        <p:nvSpPr>
          <p:cNvPr id="23" name="uniq5"/>
          <p:cNvSpPr/>
          <p:nvPr/>
        </p:nvSpPr>
        <p:spPr>
          <a:xfrm>
            <a:off x="3291840" y="2651760"/>
            <a:ext cx="2560320" cy="1325880"/>
          </a:xfrm>
          <a:prstGeom prst="roundRect">
            <a:avLst>
              <a:gd name="adj" fmla="val 9655"/>
            </a:avLst>
          </a:prstGeom>
          <a:solidFill>
            <a:srgbClr val="1B4670">
              <a:alpha val="70000"/>
            </a:srgbClr>
          </a:solidFill>
          <a:ln w="15875">
            <a:solidFill>
              <a:srgbClr val="FFFFFF"/>
            </a:solidFill>
            <a:prstDash val="solid"/>
          </a:ln>
        </p:spPr>
      </p:sp>
      <p:sp>
        <p:nvSpPr>
          <p:cNvPr id="24" name="Shape 18"/>
          <p:cNvSpPr/>
          <p:nvPr/>
        </p:nvSpPr>
        <p:spPr>
          <a:xfrm>
            <a:off x="3429000" y="2788920"/>
            <a:ext cx="438912" cy="438912"/>
          </a:xfrm>
          <a:prstGeom prst="ellipse">
            <a:avLst/>
          </a:prstGeom>
          <a:solidFill>
            <a:srgbClr val="3F6FAE"/>
          </a:solidFill>
          <a:ln w="15875">
            <a:solidFill>
              <a:srgbClr val="FFFFFF"/>
            </a:solidFill>
            <a:prstDash val="solid"/>
          </a:ln>
        </p:spPr>
      </p:sp>
      <p:pic>
        <p:nvPicPr>
          <p:cNvPr id="25" name="Image 4" descr="preencoded.png">    </p:cNvPr>
          <p:cNvPicPr>
            <a:picLocks noChangeAspect="1"/>
          </p:cNvPicPr>
          <p:nvPr/>
        </p:nvPicPr>
        <p:blipFill>
          <a:blip r:embed="rId5"/>
          <a:stretch>
            <a:fillRect/>
          </a:stretch>
        </p:blipFill>
        <p:spPr>
          <a:xfrm>
            <a:off x="3543117" y="2903037"/>
            <a:ext cx="210678" cy="210678"/>
          </a:xfrm>
          <a:prstGeom prst="rect">
            <a:avLst/>
          </a:prstGeom>
        </p:spPr>
      </p:pic>
      <p:sp>
        <p:nvSpPr>
          <p:cNvPr id="26" name="Text 19"/>
          <p:cNvSpPr txBox="1"/>
          <p:nvPr/>
        </p:nvSpPr>
        <p:spPr>
          <a:xfrm>
            <a:off x="3977640" y="2761488"/>
            <a:ext cx="1783080" cy="502920"/>
          </a:xfrm>
          <a:prstGeom prst="rect">
            <a:avLst/>
          </a:prstGeom>
          <a:noFill/>
          <a:ln/>
        </p:spPr>
        <p:txBody>
          <a:bodyPr wrap="square" lIns="0" tIns="0" rIns="0" bIns="0" rtlCol="0" anchor="ctr"/>
          <a:lstStyle/>
          <a:p>
            <a:pPr indent="0" marL="0">
              <a:buNone/>
            </a:pPr>
            <a:r>
              <a:rPr lang="en-US" sz="1150" b="1" dirty="0">
                <a:solidFill>
                  <a:schemeClr val="bg1"/>
                </a:solidFill>
              </a:rPr>
              <a:t>Two views, one data stream</a:t>
            </a:r>
            <a:endParaRPr lang="en-US" sz="1150" dirty="0"/>
          </a:p>
        </p:txBody>
      </p:sp>
      <p:sp>
        <p:nvSpPr>
          <p:cNvPr id="27" name="Text 20"/>
          <p:cNvSpPr txBox="1"/>
          <p:nvPr/>
        </p:nvSpPr>
        <p:spPr>
          <a:xfrm>
            <a:off x="3456432" y="3310128"/>
            <a:ext cx="2267712" cy="621792"/>
          </a:xfrm>
          <a:prstGeom prst="rect">
            <a:avLst/>
          </a:prstGeom>
          <a:noFill/>
          <a:ln/>
        </p:spPr>
        <p:txBody>
          <a:bodyPr wrap="square" lIns="0" tIns="0" rIns="0" bIns="0" rtlCol="0" anchor="t"/>
          <a:lstStyle/>
          <a:p>
            <a:pPr indent="0" marL="0">
              <a:buNone/>
            </a:pPr>
            <a:r>
              <a:rPr lang="en-US" sz="1050" dirty="0">
                <a:solidFill>
                  <a:schemeClr val="bg2"/>
                </a:solidFill>
              </a:rPr>
              <a:t>Simple mode for anyone; Detailed mode for raw signals and scores.</a:t>
            </a:r>
            <a:endParaRPr lang="en-US" sz="1050" dirty="0"/>
          </a:p>
        </p:txBody>
      </p:sp>
      <p:sp>
        <p:nvSpPr>
          <p:cNvPr id="28" name="uniq6"/>
          <p:cNvSpPr/>
          <p:nvPr/>
        </p:nvSpPr>
        <p:spPr>
          <a:xfrm>
            <a:off x="6035040" y="2651760"/>
            <a:ext cx="2560320" cy="1325880"/>
          </a:xfrm>
          <a:prstGeom prst="roundRect">
            <a:avLst>
              <a:gd name="adj" fmla="val 9655"/>
            </a:avLst>
          </a:prstGeom>
          <a:solidFill>
            <a:srgbClr val="1B4670">
              <a:alpha val="70000"/>
            </a:srgbClr>
          </a:solidFill>
          <a:ln w="15875">
            <a:solidFill>
              <a:srgbClr val="FFFFFF"/>
            </a:solidFill>
            <a:prstDash val="solid"/>
          </a:ln>
        </p:spPr>
      </p:sp>
      <p:sp>
        <p:nvSpPr>
          <p:cNvPr id="29" name="Shape 22"/>
          <p:cNvSpPr/>
          <p:nvPr/>
        </p:nvSpPr>
        <p:spPr>
          <a:xfrm>
            <a:off x="6172200" y="2788920"/>
            <a:ext cx="438912" cy="438912"/>
          </a:xfrm>
          <a:prstGeom prst="ellipse">
            <a:avLst/>
          </a:prstGeom>
          <a:solidFill>
            <a:srgbClr val="3F6FAE"/>
          </a:solidFill>
          <a:ln w="15875">
            <a:solidFill>
              <a:srgbClr val="FFFFFF"/>
            </a:solidFill>
            <a:prstDash val="solid"/>
          </a:ln>
        </p:spPr>
      </p:sp>
      <p:pic>
        <p:nvPicPr>
          <p:cNvPr id="30" name="Image 5" descr="preencoded.png">    </p:cNvPr>
          <p:cNvPicPr>
            <a:picLocks noChangeAspect="1"/>
          </p:cNvPicPr>
          <p:nvPr/>
        </p:nvPicPr>
        <p:blipFill>
          <a:blip r:embed="rId6"/>
          <a:stretch>
            <a:fillRect/>
          </a:stretch>
        </p:blipFill>
        <p:spPr>
          <a:xfrm>
            <a:off x="6286317" y="2903037"/>
            <a:ext cx="210678" cy="210678"/>
          </a:xfrm>
          <a:prstGeom prst="rect">
            <a:avLst/>
          </a:prstGeom>
        </p:spPr>
      </p:pic>
      <p:sp>
        <p:nvSpPr>
          <p:cNvPr id="31" name="Text 23"/>
          <p:cNvSpPr txBox="1"/>
          <p:nvPr/>
        </p:nvSpPr>
        <p:spPr>
          <a:xfrm>
            <a:off x="6720840" y="2761488"/>
            <a:ext cx="1783080" cy="502920"/>
          </a:xfrm>
          <a:prstGeom prst="rect">
            <a:avLst/>
          </a:prstGeom>
          <a:noFill/>
          <a:ln/>
        </p:spPr>
        <p:txBody>
          <a:bodyPr wrap="square" lIns="0" tIns="0" rIns="0" bIns="0" rtlCol="0" anchor="ctr"/>
          <a:lstStyle/>
          <a:p>
            <a:pPr indent="0" marL="0">
              <a:buNone/>
            </a:pPr>
            <a:r>
              <a:rPr lang="en-US" sz="1150" b="1" dirty="0">
                <a:solidFill>
                  <a:schemeClr val="bg1"/>
                </a:solidFill>
              </a:rPr>
              <a:t>Smart-city ready</a:t>
            </a:r>
            <a:endParaRPr lang="en-US" sz="1150" dirty="0"/>
          </a:p>
        </p:txBody>
      </p:sp>
      <p:sp>
        <p:nvSpPr>
          <p:cNvPr id="32" name="Text 24"/>
          <p:cNvSpPr txBox="1"/>
          <p:nvPr/>
        </p:nvSpPr>
        <p:spPr>
          <a:xfrm>
            <a:off x="6199632" y="3310128"/>
            <a:ext cx="2267712" cy="621792"/>
          </a:xfrm>
          <a:prstGeom prst="rect">
            <a:avLst/>
          </a:prstGeom>
          <a:noFill/>
          <a:ln/>
        </p:spPr>
        <p:txBody>
          <a:bodyPr wrap="square" lIns="0" tIns="0" rIns="0" bIns="0" rtlCol="0" anchor="t"/>
          <a:lstStyle/>
          <a:p>
            <a:pPr indent="0" marL="0">
              <a:buNone/>
            </a:pPr>
            <a:r>
              <a:rPr lang="en-US" sz="1050" dirty="0">
                <a:solidFill>
                  <a:schemeClr val="bg2"/>
                </a:solidFill>
              </a:rPr>
              <a:t>Anonymised, standards-based data flow to city platforms and 108.</a:t>
            </a:r>
            <a:endParaRPr lang="en-US" sz="1050" dirty="0"/>
          </a:p>
        </p:txBody>
      </p:sp>
      <p:sp>
        <p:nvSpPr>
          <p:cNvPr id="33" name="Text 25"/>
          <p:cNvSpPr txBox="1"/>
          <p:nvPr/>
        </p:nvSpPr>
        <p:spPr>
          <a:xfrm>
            <a:off x="731520" y="4206240"/>
            <a:ext cx="7680960" cy="411480"/>
          </a:xfrm>
          <a:prstGeom prst="rect">
            <a:avLst/>
          </a:prstGeom>
          <a:noFill/>
          <a:ln/>
        </p:spPr>
        <p:txBody>
          <a:bodyPr wrap="square" lIns="0" tIns="0" rIns="0" bIns="0" rtlCol="0" anchor="ctr"/>
          <a:lstStyle/>
          <a:p>
            <a:pPr algn="ctr" indent="0" marL="0">
              <a:buNone/>
            </a:pPr>
            <a:r>
              <a:rPr lang="en-US" sz="1150" b="1" dirty="0">
                <a:solidFill>
                  <a:schemeClr val="accent2"/>
                </a:solidFill>
              </a:rPr>
              <a:t>Some of these exist on their own. Together, on a low-cost device built from off-the-shelf parts, they don't.</a:t>
            </a:r>
            <a:endParaRPr lang="en-US" sz="11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FUTURE SCOPE</a:t>
            </a:r>
            <a:endParaRPr lang="en-US" sz="3000" dirty="0"/>
          </a:p>
        </p:txBody>
      </p:sp>
      <p:sp>
        <p:nvSpPr>
          <p:cNvPr id="3" name="future1"/>
          <p:cNvSpPr/>
          <p:nvPr/>
        </p:nvSpPr>
        <p:spPr>
          <a:xfrm>
            <a:off x="548640" y="1188720"/>
            <a:ext cx="2560320" cy="1508760"/>
          </a:xfrm>
          <a:prstGeom prst="roundRect">
            <a:avLst>
              <a:gd name="adj" fmla="val 8485"/>
            </a:avLst>
          </a:prstGeom>
          <a:solidFill>
            <a:srgbClr val="1B4670">
              <a:alpha val="70000"/>
            </a:srgbClr>
          </a:solidFill>
          <a:ln w="15875">
            <a:solidFill>
              <a:srgbClr val="FFD166"/>
            </a:solidFill>
            <a:prstDash val="solid"/>
          </a:ln>
        </p:spPr>
      </p:sp>
      <p:sp>
        <p:nvSpPr>
          <p:cNvPr id="4" name="Shape 2"/>
          <p:cNvSpPr/>
          <p:nvPr/>
        </p:nvSpPr>
        <p:spPr>
          <a:xfrm>
            <a:off x="685800" y="1325880"/>
            <a:ext cx="438912" cy="438912"/>
          </a:xfrm>
          <a:prstGeom prst="ellipse">
            <a:avLst/>
          </a:prstGeom>
          <a:solidFill>
            <a:srgbClr val="3F6FAE"/>
          </a:solidFill>
          <a:ln w="15875">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799917" y="1439997"/>
            <a:ext cx="210678" cy="210678"/>
          </a:xfrm>
          <a:prstGeom prst="rect">
            <a:avLst/>
          </a:prstGeom>
        </p:spPr>
      </p:pic>
      <p:sp>
        <p:nvSpPr>
          <p:cNvPr id="6" name="Text 3"/>
          <p:cNvSpPr txBox="1"/>
          <p:nvPr/>
        </p:nvSpPr>
        <p:spPr>
          <a:xfrm>
            <a:off x="1234440" y="1298448"/>
            <a:ext cx="1783080" cy="292608"/>
          </a:xfrm>
          <a:prstGeom prst="rect">
            <a:avLst/>
          </a:prstGeom>
          <a:noFill/>
          <a:ln/>
        </p:spPr>
        <p:txBody>
          <a:bodyPr wrap="square" lIns="0" tIns="0" rIns="0" bIns="0" rtlCol="0" anchor="ctr">
            <a:normAutofit/>
          </a:bodyPr>
          <a:lstStyle/>
          <a:p>
            <a:pPr indent="0" marL="0">
              <a:buNone/>
            </a:pPr>
            <a:r>
              <a:rPr lang="en-US" sz="1150" b="1" dirty="0">
                <a:solidFill>
                  <a:schemeClr val="bg1"/>
                </a:solidFill>
              </a:rPr>
              <a:t>Fall &amp; motion detection</a:t>
            </a:r>
            <a:endParaRPr lang="en-US" sz="1150" dirty="0"/>
          </a:p>
        </p:txBody>
      </p:sp>
      <p:sp>
        <p:nvSpPr>
          <p:cNvPr id="7" name="Text 4"/>
          <p:cNvSpPr txBox="1"/>
          <p:nvPr/>
        </p:nvSpPr>
        <p:spPr>
          <a:xfrm>
            <a:off x="1234440" y="1591056"/>
            <a:ext cx="1783080" cy="201168"/>
          </a:xfrm>
          <a:prstGeom prst="rect">
            <a:avLst/>
          </a:prstGeom>
          <a:noFill/>
          <a:ln/>
        </p:spPr>
        <p:txBody>
          <a:bodyPr wrap="square" lIns="0" tIns="0" rIns="0" bIns="0" rtlCol="0" anchor="t"/>
          <a:lstStyle/>
          <a:p>
            <a:pPr indent="0" marL="0">
              <a:buNone/>
            </a:pPr>
            <a:r>
              <a:rPr lang="en-US" sz="850" b="1" spc="100" kern="0" dirty="0">
                <a:solidFill>
                  <a:schemeClr val="accent2"/>
                </a:solidFill>
              </a:rPr>
              <a:t>LEFT OUT FOR COST</a:t>
            </a:r>
            <a:endParaRPr lang="en-US" sz="850" dirty="0"/>
          </a:p>
        </p:txBody>
      </p:sp>
      <p:sp>
        <p:nvSpPr>
          <p:cNvPr id="8" name="Text 5"/>
          <p:cNvSpPr txBox="1"/>
          <p:nvPr/>
        </p:nvSpPr>
        <p:spPr>
          <a:xfrm>
            <a:off x="713232" y="1920240"/>
            <a:ext cx="2267712" cy="731520"/>
          </a:xfrm>
          <a:prstGeom prst="rect">
            <a:avLst/>
          </a:prstGeom>
          <a:noFill/>
          <a:ln/>
        </p:spPr>
        <p:txBody>
          <a:bodyPr wrap="square" lIns="0" tIns="0" rIns="0" bIns="0" rtlCol="0" anchor="t"/>
          <a:lstStyle/>
          <a:p>
            <a:pPr indent="0" marL="0">
              <a:buNone/>
            </a:pPr>
            <a:r>
              <a:rPr lang="en-US" sz="1050" dirty="0">
                <a:solidFill>
                  <a:schemeClr val="bg2"/>
                </a:solidFill>
              </a:rPr>
              <a:t>A gyroscope/accelerometer (e.g. MPU6050) to detect falls and cancel motion noise.</a:t>
            </a:r>
            <a:endParaRPr lang="en-US" sz="1050" dirty="0"/>
          </a:p>
        </p:txBody>
      </p:sp>
      <p:sp>
        <p:nvSpPr>
          <p:cNvPr id="9" name="future2"/>
          <p:cNvSpPr/>
          <p:nvPr/>
        </p:nvSpPr>
        <p:spPr>
          <a:xfrm>
            <a:off x="3291840" y="1188720"/>
            <a:ext cx="2560320" cy="1508760"/>
          </a:xfrm>
          <a:prstGeom prst="roundRect">
            <a:avLst>
              <a:gd name="adj" fmla="val 8485"/>
            </a:avLst>
          </a:prstGeom>
          <a:solidFill>
            <a:srgbClr val="1B4670">
              <a:alpha val="70000"/>
            </a:srgbClr>
          </a:solidFill>
          <a:ln w="15875">
            <a:solidFill>
              <a:srgbClr val="FFFFFF"/>
            </a:solidFill>
            <a:prstDash val="solid"/>
          </a:ln>
        </p:spPr>
      </p:sp>
      <p:sp>
        <p:nvSpPr>
          <p:cNvPr id="10" name="Shape 7"/>
          <p:cNvSpPr/>
          <p:nvPr/>
        </p:nvSpPr>
        <p:spPr>
          <a:xfrm>
            <a:off x="3429000" y="1325880"/>
            <a:ext cx="438912" cy="438912"/>
          </a:xfrm>
          <a:prstGeom prst="ellipse">
            <a:avLst/>
          </a:prstGeom>
          <a:solidFill>
            <a:srgbClr val="3F6FAE"/>
          </a:solidFill>
          <a:ln w="15875">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543117" y="1439997"/>
            <a:ext cx="210678" cy="210678"/>
          </a:xfrm>
          <a:prstGeom prst="rect">
            <a:avLst/>
          </a:prstGeom>
        </p:spPr>
      </p:pic>
      <p:sp>
        <p:nvSpPr>
          <p:cNvPr id="12" name="Text 8"/>
          <p:cNvSpPr txBox="1"/>
          <p:nvPr/>
        </p:nvSpPr>
        <p:spPr>
          <a:xfrm>
            <a:off x="3977640" y="1298448"/>
            <a:ext cx="1783080" cy="292608"/>
          </a:xfrm>
          <a:prstGeom prst="rect">
            <a:avLst/>
          </a:prstGeom>
          <a:noFill/>
          <a:ln/>
        </p:spPr>
        <p:txBody>
          <a:bodyPr wrap="square" lIns="0" tIns="0" rIns="0" bIns="0" rtlCol="0" anchor="ctr">
            <a:normAutofit/>
          </a:bodyPr>
          <a:lstStyle/>
          <a:p>
            <a:pPr indent="0" marL="0">
              <a:buNone/>
            </a:pPr>
            <a:r>
              <a:rPr lang="en-US" sz="1150" b="1" dirty="0">
                <a:solidFill>
                  <a:schemeClr val="bg1"/>
                </a:solidFill>
              </a:rPr>
              <a:t>ECG heart rhythm</a:t>
            </a:r>
            <a:endParaRPr lang="en-US" sz="1150" dirty="0"/>
          </a:p>
        </p:txBody>
      </p:sp>
      <p:sp>
        <p:nvSpPr>
          <p:cNvPr id="13" name="Text 9"/>
          <p:cNvSpPr txBox="1"/>
          <p:nvPr/>
        </p:nvSpPr>
        <p:spPr>
          <a:xfrm>
            <a:off x="3977640" y="1591056"/>
            <a:ext cx="1783080" cy="201168"/>
          </a:xfrm>
          <a:prstGeom prst="rect">
            <a:avLst/>
          </a:prstGeom>
          <a:noFill/>
          <a:ln/>
        </p:spPr>
        <p:txBody>
          <a:bodyPr wrap="square" lIns="0" tIns="0" rIns="0" bIns="0" rtlCol="0" anchor="t"/>
          <a:lstStyle/>
          <a:p>
            <a:pPr indent="0" marL="0">
              <a:buNone/>
            </a:pPr>
            <a:r>
              <a:rPr lang="en-US" sz="850" b="1" spc="100" kern="0" dirty="0">
                <a:solidFill>
                  <a:schemeClr val="bg2"/>
                </a:solidFill>
              </a:rPr>
              <a:t>HARDWARE ADD-ON</a:t>
            </a:r>
            <a:endParaRPr lang="en-US" sz="850" dirty="0"/>
          </a:p>
        </p:txBody>
      </p:sp>
      <p:sp>
        <p:nvSpPr>
          <p:cNvPr id="14" name="Text 10"/>
          <p:cNvSpPr txBox="1"/>
          <p:nvPr/>
        </p:nvSpPr>
        <p:spPr>
          <a:xfrm>
            <a:off x="3456432" y="1920240"/>
            <a:ext cx="2267712" cy="731520"/>
          </a:xfrm>
          <a:prstGeom prst="rect">
            <a:avLst/>
          </a:prstGeom>
          <a:noFill/>
          <a:ln/>
        </p:spPr>
        <p:txBody>
          <a:bodyPr wrap="square" lIns="0" tIns="0" rIns="0" bIns="0" rtlCol="0" anchor="t"/>
          <a:lstStyle/>
          <a:p>
            <a:pPr indent="0" marL="0">
              <a:buNone/>
            </a:pPr>
            <a:r>
              <a:rPr lang="en-US" sz="1050" dirty="0">
                <a:solidFill>
                  <a:schemeClr val="bg2"/>
                </a:solidFill>
              </a:rPr>
              <a:t>An ECG front-end (e.g. AD8232) to spot irregular rhythms, not just rate.</a:t>
            </a:r>
            <a:endParaRPr lang="en-US" sz="1050" dirty="0"/>
          </a:p>
        </p:txBody>
      </p:sp>
      <p:sp>
        <p:nvSpPr>
          <p:cNvPr id="15" name="future3"/>
          <p:cNvSpPr/>
          <p:nvPr/>
        </p:nvSpPr>
        <p:spPr>
          <a:xfrm>
            <a:off x="6035040" y="1188720"/>
            <a:ext cx="2560320" cy="1508760"/>
          </a:xfrm>
          <a:prstGeom prst="roundRect">
            <a:avLst>
              <a:gd name="adj" fmla="val 8485"/>
            </a:avLst>
          </a:prstGeom>
          <a:solidFill>
            <a:srgbClr val="1B4670">
              <a:alpha val="70000"/>
            </a:srgbClr>
          </a:solidFill>
          <a:ln w="15875">
            <a:solidFill>
              <a:srgbClr val="FFFFFF"/>
            </a:solidFill>
            <a:prstDash val="solid"/>
          </a:ln>
        </p:spPr>
      </p:sp>
      <p:sp>
        <p:nvSpPr>
          <p:cNvPr id="16" name="Shape 12"/>
          <p:cNvSpPr/>
          <p:nvPr/>
        </p:nvSpPr>
        <p:spPr>
          <a:xfrm>
            <a:off x="6172200" y="1325880"/>
            <a:ext cx="438912" cy="438912"/>
          </a:xfrm>
          <a:prstGeom prst="ellipse">
            <a:avLst/>
          </a:prstGeom>
          <a:solidFill>
            <a:srgbClr val="3F6FAE"/>
          </a:solidFill>
          <a:ln w="15875">
            <a:solidFill>
              <a:srgbClr val="FFFFFF"/>
            </a:solidFill>
            <a:prstDash val="solid"/>
          </a:ln>
        </p:spPr>
      </p:sp>
      <p:pic>
        <p:nvPicPr>
          <p:cNvPr id="17" name="Image 2" descr="preencoded.png">    </p:cNvPr>
          <p:cNvPicPr>
            <a:picLocks noChangeAspect="1"/>
          </p:cNvPicPr>
          <p:nvPr/>
        </p:nvPicPr>
        <p:blipFill>
          <a:blip r:embed="rId3"/>
          <a:stretch>
            <a:fillRect/>
          </a:stretch>
        </p:blipFill>
        <p:spPr>
          <a:xfrm>
            <a:off x="6286317" y="1439997"/>
            <a:ext cx="210678" cy="210678"/>
          </a:xfrm>
          <a:prstGeom prst="rect">
            <a:avLst/>
          </a:prstGeom>
        </p:spPr>
      </p:pic>
      <p:sp>
        <p:nvSpPr>
          <p:cNvPr id="18" name="Text 13"/>
          <p:cNvSpPr txBox="1"/>
          <p:nvPr/>
        </p:nvSpPr>
        <p:spPr>
          <a:xfrm>
            <a:off x="6720840" y="1298448"/>
            <a:ext cx="1783080" cy="292608"/>
          </a:xfrm>
          <a:prstGeom prst="rect">
            <a:avLst/>
          </a:prstGeom>
          <a:noFill/>
          <a:ln/>
        </p:spPr>
        <p:txBody>
          <a:bodyPr wrap="square" lIns="0" tIns="0" rIns="0" bIns="0" rtlCol="0" anchor="ctr">
            <a:normAutofit/>
          </a:bodyPr>
          <a:lstStyle/>
          <a:p>
            <a:pPr indent="0" marL="0">
              <a:buNone/>
            </a:pPr>
            <a:r>
              <a:rPr lang="en-US" sz="1150" b="1" dirty="0">
                <a:solidFill>
                  <a:schemeClr val="bg1"/>
                </a:solidFill>
              </a:rPr>
              <a:t>Wearable version</a:t>
            </a:r>
            <a:endParaRPr lang="en-US" sz="1150" dirty="0"/>
          </a:p>
        </p:txBody>
      </p:sp>
      <p:sp>
        <p:nvSpPr>
          <p:cNvPr id="19" name="Text 14"/>
          <p:cNvSpPr txBox="1"/>
          <p:nvPr/>
        </p:nvSpPr>
        <p:spPr>
          <a:xfrm>
            <a:off x="6720840" y="1591056"/>
            <a:ext cx="1783080" cy="201168"/>
          </a:xfrm>
          <a:prstGeom prst="rect">
            <a:avLst/>
          </a:prstGeom>
          <a:noFill/>
          <a:ln/>
        </p:spPr>
        <p:txBody>
          <a:bodyPr wrap="square" lIns="0" tIns="0" rIns="0" bIns="0" rtlCol="0" anchor="t"/>
          <a:lstStyle/>
          <a:p>
            <a:pPr indent="0" marL="0">
              <a:buNone/>
            </a:pPr>
            <a:r>
              <a:rPr lang="en-US" sz="850" b="1" spc="100" kern="0" dirty="0">
                <a:solidFill>
                  <a:schemeClr val="bg2"/>
                </a:solidFill>
              </a:rPr>
              <a:t>HARDWARE ADD-ON</a:t>
            </a:r>
            <a:endParaRPr lang="en-US" sz="850" dirty="0"/>
          </a:p>
        </p:txBody>
      </p:sp>
      <p:sp>
        <p:nvSpPr>
          <p:cNvPr id="20" name="Text 15"/>
          <p:cNvSpPr txBox="1"/>
          <p:nvPr/>
        </p:nvSpPr>
        <p:spPr>
          <a:xfrm>
            <a:off x="6199632" y="1920240"/>
            <a:ext cx="2267712" cy="731520"/>
          </a:xfrm>
          <a:prstGeom prst="rect">
            <a:avLst/>
          </a:prstGeom>
          <a:noFill/>
          <a:ln/>
        </p:spPr>
        <p:txBody>
          <a:bodyPr wrap="square" lIns="0" tIns="0" rIns="0" bIns="0" rtlCol="0" anchor="t"/>
          <a:lstStyle/>
          <a:p>
            <a:pPr indent="0" marL="0">
              <a:buNone/>
            </a:pPr>
            <a:r>
              <a:rPr lang="en-US" sz="1050" dirty="0">
                <a:solidFill>
                  <a:schemeClr val="bg2"/>
                </a:solidFill>
              </a:rPr>
              <a:t>Li-ion battery and a 3D-printed wrist or finger case for all-day use.</a:t>
            </a:r>
            <a:endParaRPr lang="en-US" sz="1050" dirty="0"/>
          </a:p>
        </p:txBody>
      </p:sp>
      <p:sp>
        <p:nvSpPr>
          <p:cNvPr id="21" name="future4"/>
          <p:cNvSpPr/>
          <p:nvPr/>
        </p:nvSpPr>
        <p:spPr>
          <a:xfrm>
            <a:off x="548640" y="2880360"/>
            <a:ext cx="2560320" cy="1508760"/>
          </a:xfrm>
          <a:prstGeom prst="roundRect">
            <a:avLst>
              <a:gd name="adj" fmla="val 8485"/>
            </a:avLst>
          </a:prstGeom>
          <a:solidFill>
            <a:srgbClr val="1B4670">
              <a:alpha val="70000"/>
            </a:srgbClr>
          </a:solidFill>
          <a:ln w="15875">
            <a:solidFill>
              <a:srgbClr val="FFFFFF"/>
            </a:solidFill>
            <a:prstDash val="solid"/>
          </a:ln>
        </p:spPr>
      </p:sp>
      <p:sp>
        <p:nvSpPr>
          <p:cNvPr id="22" name="Shape 17"/>
          <p:cNvSpPr/>
          <p:nvPr/>
        </p:nvSpPr>
        <p:spPr>
          <a:xfrm>
            <a:off x="685800" y="3017520"/>
            <a:ext cx="438912" cy="438912"/>
          </a:xfrm>
          <a:prstGeom prst="ellipse">
            <a:avLst/>
          </a:prstGeom>
          <a:solidFill>
            <a:srgbClr val="3F6FAE"/>
          </a:solidFill>
          <a:ln w="15875">
            <a:solidFill>
              <a:srgbClr val="FFFFFF"/>
            </a:solidFill>
            <a:prstDash val="solid"/>
          </a:ln>
        </p:spPr>
      </p:sp>
      <p:pic>
        <p:nvPicPr>
          <p:cNvPr id="23" name="Image 3" descr="preencoded.png">    </p:cNvPr>
          <p:cNvPicPr>
            <a:picLocks noChangeAspect="1"/>
          </p:cNvPicPr>
          <p:nvPr/>
        </p:nvPicPr>
        <p:blipFill>
          <a:blip r:embed="rId4"/>
          <a:stretch>
            <a:fillRect/>
          </a:stretch>
        </p:blipFill>
        <p:spPr>
          <a:xfrm>
            <a:off x="799917" y="3131637"/>
            <a:ext cx="210678" cy="210678"/>
          </a:xfrm>
          <a:prstGeom prst="rect">
            <a:avLst/>
          </a:prstGeom>
        </p:spPr>
      </p:pic>
      <p:sp>
        <p:nvSpPr>
          <p:cNvPr id="24" name="Text 18"/>
          <p:cNvSpPr txBox="1"/>
          <p:nvPr/>
        </p:nvSpPr>
        <p:spPr>
          <a:xfrm>
            <a:off x="1234440" y="2990088"/>
            <a:ext cx="1783080" cy="292608"/>
          </a:xfrm>
          <a:prstGeom prst="rect">
            <a:avLst/>
          </a:prstGeom>
          <a:noFill/>
          <a:ln/>
        </p:spPr>
        <p:txBody>
          <a:bodyPr wrap="square" lIns="0" tIns="0" rIns="0" bIns="0" rtlCol="0" anchor="ctr">
            <a:normAutofit/>
          </a:bodyPr>
          <a:lstStyle/>
          <a:p>
            <a:pPr indent="0" marL="0">
              <a:buNone/>
            </a:pPr>
            <a:r>
              <a:rPr lang="en-US" sz="1150" b="1" dirty="0">
                <a:solidFill>
                  <a:schemeClr val="bg1"/>
                </a:solidFill>
              </a:rPr>
              <a:t>Mobile app</a:t>
            </a:r>
            <a:endParaRPr lang="en-US" sz="1150" dirty="0"/>
          </a:p>
        </p:txBody>
      </p:sp>
      <p:sp>
        <p:nvSpPr>
          <p:cNvPr id="25" name="Text 19"/>
          <p:cNvSpPr txBox="1"/>
          <p:nvPr/>
        </p:nvSpPr>
        <p:spPr>
          <a:xfrm>
            <a:off x="1234440" y="3282696"/>
            <a:ext cx="1783080" cy="201168"/>
          </a:xfrm>
          <a:prstGeom prst="rect">
            <a:avLst/>
          </a:prstGeom>
          <a:noFill/>
          <a:ln/>
        </p:spPr>
        <p:txBody>
          <a:bodyPr wrap="square" lIns="0" tIns="0" rIns="0" bIns="0" rtlCol="0" anchor="t"/>
          <a:lstStyle/>
          <a:p>
            <a:pPr indent="0" marL="0">
              <a:buNone/>
            </a:pPr>
            <a:r>
              <a:rPr lang="en-US" sz="850" b="1" spc="100" kern="0" dirty="0">
                <a:solidFill>
                  <a:schemeClr val="bg2"/>
                </a:solidFill>
              </a:rPr>
              <a:t>SOFTWARE</a:t>
            </a:r>
            <a:endParaRPr lang="en-US" sz="850" dirty="0"/>
          </a:p>
        </p:txBody>
      </p:sp>
      <p:sp>
        <p:nvSpPr>
          <p:cNvPr id="26" name="Text 20"/>
          <p:cNvSpPr txBox="1"/>
          <p:nvPr/>
        </p:nvSpPr>
        <p:spPr>
          <a:xfrm>
            <a:off x="713232" y="3611880"/>
            <a:ext cx="2267712" cy="731520"/>
          </a:xfrm>
          <a:prstGeom prst="rect">
            <a:avLst/>
          </a:prstGeom>
          <a:noFill/>
          <a:ln/>
        </p:spPr>
        <p:txBody>
          <a:bodyPr wrap="square" lIns="0" tIns="0" rIns="0" bIns="0" rtlCol="0" anchor="t"/>
          <a:lstStyle/>
          <a:p>
            <a:pPr indent="0" marL="0">
              <a:buNone/>
            </a:pPr>
            <a:r>
              <a:rPr lang="en-US" sz="1050" dirty="0">
                <a:solidFill>
                  <a:schemeClr val="bg2"/>
                </a:solidFill>
              </a:rPr>
              <a:t>A companion app with push notifications and history on the phone.</a:t>
            </a:r>
            <a:endParaRPr lang="en-US" sz="1050" dirty="0"/>
          </a:p>
        </p:txBody>
      </p:sp>
      <p:sp>
        <p:nvSpPr>
          <p:cNvPr id="27" name="future5"/>
          <p:cNvSpPr/>
          <p:nvPr/>
        </p:nvSpPr>
        <p:spPr>
          <a:xfrm>
            <a:off x="3291840" y="2880360"/>
            <a:ext cx="2560320" cy="1508760"/>
          </a:xfrm>
          <a:prstGeom prst="roundRect">
            <a:avLst>
              <a:gd name="adj" fmla="val 8485"/>
            </a:avLst>
          </a:prstGeom>
          <a:solidFill>
            <a:srgbClr val="1B4670">
              <a:alpha val="70000"/>
            </a:srgbClr>
          </a:solidFill>
          <a:ln w="15875">
            <a:solidFill>
              <a:srgbClr val="FFFFFF"/>
            </a:solidFill>
            <a:prstDash val="solid"/>
          </a:ln>
        </p:spPr>
      </p:sp>
      <p:sp>
        <p:nvSpPr>
          <p:cNvPr id="28" name="Shape 22"/>
          <p:cNvSpPr/>
          <p:nvPr/>
        </p:nvSpPr>
        <p:spPr>
          <a:xfrm>
            <a:off x="3429000" y="3017520"/>
            <a:ext cx="438912" cy="438912"/>
          </a:xfrm>
          <a:prstGeom prst="ellipse">
            <a:avLst/>
          </a:prstGeom>
          <a:solidFill>
            <a:srgbClr val="3F6FAE"/>
          </a:solidFill>
          <a:ln w="15875">
            <a:solidFill>
              <a:srgbClr val="FFFFFF"/>
            </a:solidFill>
            <a:prstDash val="solid"/>
          </a:ln>
        </p:spPr>
      </p:sp>
      <p:pic>
        <p:nvPicPr>
          <p:cNvPr id="29" name="Image 4" descr="preencoded.png">    </p:cNvPr>
          <p:cNvPicPr>
            <a:picLocks noChangeAspect="1"/>
          </p:cNvPicPr>
          <p:nvPr/>
        </p:nvPicPr>
        <p:blipFill>
          <a:blip r:embed="rId5"/>
          <a:stretch>
            <a:fillRect/>
          </a:stretch>
        </p:blipFill>
        <p:spPr>
          <a:xfrm>
            <a:off x="3543117" y="3131637"/>
            <a:ext cx="210678" cy="210678"/>
          </a:xfrm>
          <a:prstGeom prst="rect">
            <a:avLst/>
          </a:prstGeom>
        </p:spPr>
      </p:pic>
      <p:sp>
        <p:nvSpPr>
          <p:cNvPr id="30" name="Text 23"/>
          <p:cNvSpPr txBox="1"/>
          <p:nvPr/>
        </p:nvSpPr>
        <p:spPr>
          <a:xfrm>
            <a:off x="3977640" y="2990088"/>
            <a:ext cx="1783080" cy="292608"/>
          </a:xfrm>
          <a:prstGeom prst="rect">
            <a:avLst/>
          </a:prstGeom>
          <a:noFill/>
          <a:ln/>
        </p:spPr>
        <p:txBody>
          <a:bodyPr wrap="square" lIns="0" tIns="0" rIns="0" bIns="0" rtlCol="0" anchor="ctr">
            <a:normAutofit/>
          </a:bodyPr>
          <a:lstStyle/>
          <a:p>
            <a:pPr indent="0" marL="0">
              <a:buNone/>
            </a:pPr>
            <a:r>
              <a:rPr lang="en-US" sz="1150" b="1" dirty="0">
                <a:solidFill>
                  <a:schemeClr val="bg1"/>
                </a:solidFill>
              </a:rPr>
              <a:t>On-device ML (TinyML)</a:t>
            </a:r>
            <a:endParaRPr lang="en-US" sz="1150" dirty="0"/>
          </a:p>
        </p:txBody>
      </p:sp>
      <p:sp>
        <p:nvSpPr>
          <p:cNvPr id="31" name="Text 24"/>
          <p:cNvSpPr txBox="1"/>
          <p:nvPr/>
        </p:nvSpPr>
        <p:spPr>
          <a:xfrm>
            <a:off x="3977640" y="3282696"/>
            <a:ext cx="1783080" cy="201168"/>
          </a:xfrm>
          <a:prstGeom prst="rect">
            <a:avLst/>
          </a:prstGeom>
          <a:noFill/>
          <a:ln/>
        </p:spPr>
        <p:txBody>
          <a:bodyPr wrap="square" lIns="0" tIns="0" rIns="0" bIns="0" rtlCol="0" anchor="t"/>
          <a:lstStyle/>
          <a:p>
            <a:pPr indent="0" marL="0">
              <a:buNone/>
            </a:pPr>
            <a:r>
              <a:rPr lang="en-US" sz="850" b="1" spc="100" kern="0" dirty="0">
                <a:solidFill>
                  <a:schemeClr val="bg2"/>
                </a:solidFill>
              </a:rPr>
              <a:t>SOFTWARE</a:t>
            </a:r>
            <a:endParaRPr lang="en-US" sz="850" dirty="0"/>
          </a:p>
        </p:txBody>
      </p:sp>
      <p:sp>
        <p:nvSpPr>
          <p:cNvPr id="32" name="Text 25"/>
          <p:cNvSpPr txBox="1"/>
          <p:nvPr/>
        </p:nvSpPr>
        <p:spPr>
          <a:xfrm>
            <a:off x="3456432" y="3611880"/>
            <a:ext cx="2267712" cy="731520"/>
          </a:xfrm>
          <a:prstGeom prst="rect">
            <a:avLst/>
          </a:prstGeom>
          <a:noFill/>
          <a:ln/>
        </p:spPr>
        <p:txBody>
          <a:bodyPr wrap="square" lIns="0" tIns="0" rIns="0" bIns="0" rtlCol="0" anchor="t"/>
          <a:lstStyle/>
          <a:p>
            <a:pPr indent="0" marL="0">
              <a:buNone/>
            </a:pPr>
            <a:r>
              <a:rPr lang="en-US" sz="1050" dirty="0">
                <a:solidFill>
                  <a:schemeClr val="bg2"/>
                </a:solidFill>
              </a:rPr>
              <a:t>Run the anomaly model on the ESP32 itself, so no laptop is needed.</a:t>
            </a:r>
            <a:endParaRPr lang="en-US" sz="1050" dirty="0"/>
          </a:p>
        </p:txBody>
      </p:sp>
      <p:sp>
        <p:nvSpPr>
          <p:cNvPr id="33" name="future6"/>
          <p:cNvSpPr/>
          <p:nvPr/>
        </p:nvSpPr>
        <p:spPr>
          <a:xfrm>
            <a:off x="6035040" y="2880360"/>
            <a:ext cx="2560320" cy="1508760"/>
          </a:xfrm>
          <a:prstGeom prst="roundRect">
            <a:avLst>
              <a:gd name="adj" fmla="val 8485"/>
            </a:avLst>
          </a:prstGeom>
          <a:solidFill>
            <a:srgbClr val="1B4670">
              <a:alpha val="70000"/>
            </a:srgbClr>
          </a:solidFill>
          <a:ln w="15875">
            <a:solidFill>
              <a:srgbClr val="FFFFFF"/>
            </a:solidFill>
            <a:prstDash val="solid"/>
          </a:ln>
        </p:spPr>
      </p:sp>
      <p:sp>
        <p:nvSpPr>
          <p:cNvPr id="34" name="Shape 27"/>
          <p:cNvSpPr/>
          <p:nvPr/>
        </p:nvSpPr>
        <p:spPr>
          <a:xfrm>
            <a:off x="6172200" y="3017520"/>
            <a:ext cx="438912" cy="438912"/>
          </a:xfrm>
          <a:prstGeom prst="ellipse">
            <a:avLst/>
          </a:prstGeom>
          <a:solidFill>
            <a:srgbClr val="3F6FAE"/>
          </a:solidFill>
          <a:ln w="15875">
            <a:solidFill>
              <a:srgbClr val="FFFFFF"/>
            </a:solidFill>
            <a:prstDash val="solid"/>
          </a:ln>
        </p:spPr>
      </p:sp>
      <p:pic>
        <p:nvPicPr>
          <p:cNvPr id="35" name="Image 5" descr="preencoded.png">    </p:cNvPr>
          <p:cNvPicPr>
            <a:picLocks noChangeAspect="1"/>
          </p:cNvPicPr>
          <p:nvPr/>
        </p:nvPicPr>
        <p:blipFill>
          <a:blip r:embed="rId6"/>
          <a:stretch>
            <a:fillRect/>
          </a:stretch>
        </p:blipFill>
        <p:spPr>
          <a:xfrm>
            <a:off x="6286317" y="3131637"/>
            <a:ext cx="210678" cy="210678"/>
          </a:xfrm>
          <a:prstGeom prst="rect">
            <a:avLst/>
          </a:prstGeom>
        </p:spPr>
      </p:pic>
      <p:sp>
        <p:nvSpPr>
          <p:cNvPr id="36" name="Text 28"/>
          <p:cNvSpPr txBox="1"/>
          <p:nvPr/>
        </p:nvSpPr>
        <p:spPr>
          <a:xfrm>
            <a:off x="6720840" y="2990088"/>
            <a:ext cx="1783080" cy="292608"/>
          </a:xfrm>
          <a:prstGeom prst="rect">
            <a:avLst/>
          </a:prstGeom>
          <a:noFill/>
          <a:ln/>
        </p:spPr>
        <p:txBody>
          <a:bodyPr wrap="square" lIns="0" tIns="0" rIns="0" bIns="0" rtlCol="0" anchor="ctr">
            <a:normAutofit/>
          </a:bodyPr>
          <a:lstStyle/>
          <a:p>
            <a:pPr indent="0" marL="0">
              <a:buNone/>
            </a:pPr>
            <a:r>
              <a:rPr lang="en-US" sz="1150" b="1" dirty="0">
                <a:solidFill>
                  <a:schemeClr val="bg1"/>
                </a:solidFill>
              </a:rPr>
              <a:t>Live city pilot</a:t>
            </a:r>
            <a:endParaRPr lang="en-US" sz="1150" dirty="0"/>
          </a:p>
        </p:txBody>
      </p:sp>
      <p:sp>
        <p:nvSpPr>
          <p:cNvPr id="37" name="Text 29"/>
          <p:cNvSpPr txBox="1"/>
          <p:nvPr/>
        </p:nvSpPr>
        <p:spPr>
          <a:xfrm>
            <a:off x="6720840" y="3282696"/>
            <a:ext cx="1783080" cy="201168"/>
          </a:xfrm>
          <a:prstGeom prst="rect">
            <a:avLst/>
          </a:prstGeom>
          <a:noFill/>
          <a:ln/>
        </p:spPr>
        <p:txBody>
          <a:bodyPr wrap="square" lIns="0" tIns="0" rIns="0" bIns="0" rtlCol="0" anchor="t"/>
          <a:lstStyle/>
          <a:p>
            <a:pPr indent="0" marL="0">
              <a:buNone/>
            </a:pPr>
            <a:r>
              <a:rPr lang="en-US" sz="850" b="1" spc="100" kern="0" dirty="0">
                <a:solidFill>
                  <a:schemeClr val="bg2"/>
                </a:solidFill>
              </a:rPr>
              <a:t>NEEDS PARTNERS</a:t>
            </a:r>
            <a:endParaRPr lang="en-US" sz="850" dirty="0"/>
          </a:p>
        </p:txBody>
      </p:sp>
      <p:sp>
        <p:nvSpPr>
          <p:cNvPr id="38" name="Text 30"/>
          <p:cNvSpPr txBox="1"/>
          <p:nvPr/>
        </p:nvSpPr>
        <p:spPr>
          <a:xfrm>
            <a:off x="6199632" y="3611880"/>
            <a:ext cx="2267712" cy="731520"/>
          </a:xfrm>
          <a:prstGeom prst="rect">
            <a:avLst/>
          </a:prstGeom>
          <a:noFill/>
          <a:ln/>
        </p:spPr>
        <p:txBody>
          <a:bodyPr wrap="square" lIns="0" tIns="0" rIns="0" bIns="0" rtlCol="0" anchor="t"/>
          <a:lstStyle/>
          <a:p>
            <a:pPr indent="0" marL="0">
              <a:buNone/>
            </a:pPr>
            <a:r>
              <a:rPr lang="en-US" sz="1050" dirty="0">
                <a:solidFill>
                  <a:schemeClr val="bg2"/>
                </a:solidFill>
              </a:rPr>
              <a:t>Connect real VITAL hubs to a city ICCC in a pilot deployment.</a:t>
            </a:r>
            <a:endParaRPr lang="en-US" sz="10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SDGs WE SUPPORT</a:t>
            </a:r>
            <a:endParaRPr lang="en-US" sz="3000" dirty="0"/>
          </a:p>
        </p:txBody>
      </p:sp>
      <p:sp>
        <p:nvSpPr>
          <p:cNvPr id="3" name="sdg3"/>
          <p:cNvSpPr/>
          <p:nvPr/>
        </p:nvSpPr>
        <p:spPr>
          <a:xfrm>
            <a:off x="548640" y="1188720"/>
            <a:ext cx="1874520" cy="1325880"/>
          </a:xfrm>
          <a:prstGeom prst="roundRect">
            <a:avLst>
              <a:gd name="adj" fmla="val 8276"/>
            </a:avLst>
          </a:prstGeom>
          <a:solidFill>
            <a:srgbClr val="4C9F38"/>
          </a:solidFill>
          <a:ln w="15875">
            <a:solidFill>
              <a:srgbClr val="FFFFFF"/>
            </a:solidFill>
            <a:prstDash val="solid"/>
          </a:ln>
        </p:spPr>
      </p:sp>
      <p:sp>
        <p:nvSpPr>
          <p:cNvPr id="4" name="Text 2"/>
          <p:cNvSpPr txBox="1"/>
          <p:nvPr/>
        </p:nvSpPr>
        <p:spPr>
          <a:xfrm>
            <a:off x="685800" y="1234440"/>
            <a:ext cx="822960" cy="685800"/>
          </a:xfrm>
          <a:prstGeom prst="rect">
            <a:avLst/>
          </a:prstGeom>
          <a:noFill/>
          <a:ln/>
        </p:spPr>
        <p:txBody>
          <a:bodyPr wrap="square" lIns="0" tIns="0" rIns="0" bIns="0" rtlCol="0" anchor="ctr"/>
          <a:lstStyle/>
          <a:p>
            <a:pPr indent="0" marL="0">
              <a:buNone/>
            </a:pPr>
            <a:r>
              <a:rPr lang="en-US" sz="3600" b="1" dirty="0">
                <a:solidFill>
                  <a:schemeClr val="bg1"/>
                </a:solidFill>
              </a:rPr>
              <a:t>3</a:t>
            </a:r>
            <a:endParaRPr lang="en-US" sz="3600" dirty="0"/>
          </a:p>
        </p:txBody>
      </p:sp>
      <p:sp>
        <p:nvSpPr>
          <p:cNvPr id="5" name="Text 3"/>
          <p:cNvSpPr txBox="1"/>
          <p:nvPr/>
        </p:nvSpPr>
        <p:spPr>
          <a:xfrm>
            <a:off x="1554480" y="1371600"/>
            <a:ext cx="731520" cy="274320"/>
          </a:xfrm>
          <a:prstGeom prst="rect">
            <a:avLst/>
          </a:prstGeom>
          <a:noFill/>
          <a:ln/>
        </p:spPr>
        <p:txBody>
          <a:bodyPr wrap="square" lIns="0" tIns="0" rIns="0" bIns="0" rtlCol="0" anchor="t"/>
          <a:lstStyle/>
          <a:p>
            <a:pPr algn="r" indent="0" marL="0">
              <a:buNone/>
            </a:pPr>
            <a:r>
              <a:rPr lang="en-US" sz="1100" b="1" dirty="0">
                <a:solidFill>
                  <a:schemeClr val="bg1"/>
                </a:solidFill>
              </a:rPr>
              <a:t>SDG</a:t>
            </a:r>
            <a:endParaRPr lang="en-US" sz="1100" dirty="0"/>
          </a:p>
        </p:txBody>
      </p:sp>
      <p:sp>
        <p:nvSpPr>
          <p:cNvPr id="6" name="Text 4"/>
          <p:cNvSpPr txBox="1"/>
          <p:nvPr/>
        </p:nvSpPr>
        <p:spPr>
          <a:xfrm>
            <a:off x="685800" y="1920240"/>
            <a:ext cx="1645920" cy="548640"/>
          </a:xfrm>
          <a:prstGeom prst="rect">
            <a:avLst/>
          </a:prstGeom>
          <a:noFill/>
          <a:ln/>
        </p:spPr>
        <p:txBody>
          <a:bodyPr wrap="square" lIns="0" tIns="0" rIns="0" bIns="0" rtlCol="0" anchor="ctr"/>
          <a:lstStyle/>
          <a:p>
            <a:pPr indent="0" marL="0">
              <a:buNone/>
            </a:pPr>
            <a:r>
              <a:rPr lang="en-US" sz="1000" b="1" dirty="0">
                <a:solidFill>
                  <a:schemeClr val="bg1"/>
                </a:solidFill>
              </a:rPr>
              <a:t>Good Health and Well-being</a:t>
            </a:r>
            <a:endParaRPr lang="en-US" sz="1000" dirty="0"/>
          </a:p>
        </p:txBody>
      </p:sp>
      <p:sp>
        <p:nvSpPr>
          <p:cNvPr id="7" name="sdgText3"/>
          <p:cNvSpPr/>
          <p:nvPr/>
        </p:nvSpPr>
        <p:spPr>
          <a:xfrm>
            <a:off x="548640" y="2697480"/>
            <a:ext cx="1874520" cy="1737360"/>
          </a:xfrm>
          <a:prstGeom prst="roundRect">
            <a:avLst>
              <a:gd name="adj" fmla="val 7368"/>
            </a:avLst>
          </a:prstGeom>
          <a:solidFill>
            <a:srgbClr val="1B4670">
              <a:alpha val="70000"/>
            </a:srgbClr>
          </a:solidFill>
          <a:ln w="15875">
            <a:solidFill>
              <a:srgbClr val="FFFFFF"/>
            </a:solidFill>
            <a:prstDash val="solid"/>
          </a:ln>
        </p:spPr>
      </p:sp>
      <p:sp>
        <p:nvSpPr>
          <p:cNvPr id="8" name="Text 6"/>
          <p:cNvSpPr txBox="1"/>
          <p:nvPr/>
        </p:nvSpPr>
        <p:spPr>
          <a:xfrm>
            <a:off x="685800" y="2834640"/>
            <a:ext cx="1600200" cy="1508760"/>
          </a:xfrm>
          <a:prstGeom prst="rect">
            <a:avLst/>
          </a:prstGeom>
          <a:noFill/>
          <a:ln/>
        </p:spPr>
        <p:txBody>
          <a:bodyPr wrap="square" lIns="0" tIns="0" rIns="0" bIns="0" rtlCol="0" anchor="t"/>
          <a:lstStyle/>
          <a:p>
            <a:pPr indent="0" marL="0">
              <a:buNone/>
            </a:pPr>
            <a:r>
              <a:rPr lang="en-US" sz="1050" dirty="0">
                <a:solidFill>
                  <a:schemeClr val="bg2"/>
                </a:solidFill>
              </a:rPr>
              <a:t>Continuous monitoring and early warnings at home. Supports targets 3.4 and 3.8.</a:t>
            </a:r>
            <a:endParaRPr lang="en-US" sz="1050" dirty="0"/>
          </a:p>
        </p:txBody>
      </p:sp>
      <p:sp>
        <p:nvSpPr>
          <p:cNvPr id="9" name="sdg9"/>
          <p:cNvSpPr/>
          <p:nvPr/>
        </p:nvSpPr>
        <p:spPr>
          <a:xfrm>
            <a:off x="2606040" y="1188720"/>
            <a:ext cx="1874520" cy="1325880"/>
          </a:xfrm>
          <a:prstGeom prst="roundRect">
            <a:avLst>
              <a:gd name="adj" fmla="val 8276"/>
            </a:avLst>
          </a:prstGeom>
          <a:solidFill>
            <a:srgbClr val="FD6925"/>
          </a:solidFill>
          <a:ln w="15875">
            <a:solidFill>
              <a:srgbClr val="FFFFFF"/>
            </a:solidFill>
            <a:prstDash val="solid"/>
          </a:ln>
        </p:spPr>
      </p:sp>
      <p:sp>
        <p:nvSpPr>
          <p:cNvPr id="10" name="Text 8"/>
          <p:cNvSpPr txBox="1"/>
          <p:nvPr/>
        </p:nvSpPr>
        <p:spPr>
          <a:xfrm>
            <a:off x="2743200" y="1234440"/>
            <a:ext cx="822960" cy="685800"/>
          </a:xfrm>
          <a:prstGeom prst="rect">
            <a:avLst/>
          </a:prstGeom>
          <a:noFill/>
          <a:ln/>
        </p:spPr>
        <p:txBody>
          <a:bodyPr wrap="square" lIns="0" tIns="0" rIns="0" bIns="0" rtlCol="0" anchor="ctr"/>
          <a:lstStyle/>
          <a:p>
            <a:pPr indent="0" marL="0">
              <a:buNone/>
            </a:pPr>
            <a:r>
              <a:rPr lang="en-US" sz="3600" b="1" dirty="0">
                <a:solidFill>
                  <a:schemeClr val="bg1"/>
                </a:solidFill>
              </a:rPr>
              <a:t>9</a:t>
            </a:r>
            <a:endParaRPr lang="en-US" sz="3600" dirty="0"/>
          </a:p>
        </p:txBody>
      </p:sp>
      <p:sp>
        <p:nvSpPr>
          <p:cNvPr id="11" name="Text 9"/>
          <p:cNvSpPr txBox="1"/>
          <p:nvPr/>
        </p:nvSpPr>
        <p:spPr>
          <a:xfrm>
            <a:off x="3611880" y="1371600"/>
            <a:ext cx="731520" cy="274320"/>
          </a:xfrm>
          <a:prstGeom prst="rect">
            <a:avLst/>
          </a:prstGeom>
          <a:noFill/>
          <a:ln/>
        </p:spPr>
        <p:txBody>
          <a:bodyPr wrap="square" lIns="0" tIns="0" rIns="0" bIns="0" rtlCol="0" anchor="t"/>
          <a:lstStyle/>
          <a:p>
            <a:pPr algn="r" indent="0" marL="0">
              <a:buNone/>
            </a:pPr>
            <a:r>
              <a:rPr lang="en-US" sz="1100" b="1" dirty="0">
                <a:solidFill>
                  <a:schemeClr val="bg1"/>
                </a:solidFill>
              </a:rPr>
              <a:t>SDG</a:t>
            </a:r>
            <a:endParaRPr lang="en-US" sz="1100" dirty="0"/>
          </a:p>
        </p:txBody>
      </p:sp>
      <p:sp>
        <p:nvSpPr>
          <p:cNvPr id="12" name="Text 10"/>
          <p:cNvSpPr txBox="1"/>
          <p:nvPr/>
        </p:nvSpPr>
        <p:spPr>
          <a:xfrm>
            <a:off x="2743200" y="1920240"/>
            <a:ext cx="1645920" cy="548640"/>
          </a:xfrm>
          <a:prstGeom prst="rect">
            <a:avLst/>
          </a:prstGeom>
          <a:noFill/>
          <a:ln/>
        </p:spPr>
        <p:txBody>
          <a:bodyPr wrap="square" lIns="0" tIns="0" rIns="0" bIns="0" rtlCol="0" anchor="ctr"/>
          <a:lstStyle/>
          <a:p>
            <a:pPr indent="0" marL="0">
              <a:buNone/>
            </a:pPr>
            <a:r>
              <a:rPr lang="en-US" sz="1000" b="1" dirty="0">
                <a:solidFill>
                  <a:schemeClr val="bg1"/>
                </a:solidFill>
              </a:rPr>
              <a:t>Industry, Innovation and Infrastructure</a:t>
            </a:r>
            <a:endParaRPr lang="en-US" sz="1000" dirty="0"/>
          </a:p>
        </p:txBody>
      </p:sp>
      <p:sp>
        <p:nvSpPr>
          <p:cNvPr id="13" name="sdgText9"/>
          <p:cNvSpPr/>
          <p:nvPr/>
        </p:nvSpPr>
        <p:spPr>
          <a:xfrm>
            <a:off x="2606040" y="2697480"/>
            <a:ext cx="1874520" cy="1737360"/>
          </a:xfrm>
          <a:prstGeom prst="roundRect">
            <a:avLst>
              <a:gd name="adj" fmla="val 7368"/>
            </a:avLst>
          </a:prstGeom>
          <a:solidFill>
            <a:srgbClr val="1B4670">
              <a:alpha val="70000"/>
            </a:srgbClr>
          </a:solidFill>
          <a:ln w="15875">
            <a:solidFill>
              <a:srgbClr val="FFFFFF"/>
            </a:solidFill>
            <a:prstDash val="solid"/>
          </a:ln>
        </p:spPr>
      </p:sp>
      <p:sp>
        <p:nvSpPr>
          <p:cNvPr id="14" name="Text 12"/>
          <p:cNvSpPr txBox="1"/>
          <p:nvPr/>
        </p:nvSpPr>
        <p:spPr>
          <a:xfrm>
            <a:off x="2743200" y="2834640"/>
            <a:ext cx="1600200" cy="1508760"/>
          </a:xfrm>
          <a:prstGeom prst="rect">
            <a:avLst/>
          </a:prstGeom>
          <a:noFill/>
          <a:ln/>
        </p:spPr>
        <p:txBody>
          <a:bodyPr wrap="square" lIns="0" tIns="0" rIns="0" bIns="0" rtlCol="0" anchor="t"/>
          <a:lstStyle/>
          <a:p>
            <a:pPr indent="0" marL="0">
              <a:buNone/>
            </a:pPr>
            <a:r>
              <a:rPr lang="en-US" sz="1050" dirty="0">
                <a:solidFill>
                  <a:schemeClr val="bg2"/>
                </a:solidFill>
              </a:rPr>
              <a:t>A new health tool built from affordable parts and open-source software.</a:t>
            </a:r>
            <a:endParaRPr lang="en-US" sz="1050" dirty="0"/>
          </a:p>
        </p:txBody>
      </p:sp>
      <p:sp>
        <p:nvSpPr>
          <p:cNvPr id="15" name="sdg10"/>
          <p:cNvSpPr/>
          <p:nvPr/>
        </p:nvSpPr>
        <p:spPr>
          <a:xfrm>
            <a:off x="4663440" y="1188720"/>
            <a:ext cx="1874520" cy="1325880"/>
          </a:xfrm>
          <a:prstGeom prst="roundRect">
            <a:avLst>
              <a:gd name="adj" fmla="val 8276"/>
            </a:avLst>
          </a:prstGeom>
          <a:solidFill>
            <a:srgbClr val="DD1367"/>
          </a:solidFill>
          <a:ln w="15875">
            <a:solidFill>
              <a:srgbClr val="FFFFFF"/>
            </a:solidFill>
            <a:prstDash val="solid"/>
          </a:ln>
        </p:spPr>
      </p:sp>
      <p:sp>
        <p:nvSpPr>
          <p:cNvPr id="16" name="Text 14"/>
          <p:cNvSpPr txBox="1"/>
          <p:nvPr/>
        </p:nvSpPr>
        <p:spPr>
          <a:xfrm>
            <a:off x="4800600" y="1234440"/>
            <a:ext cx="822960" cy="685800"/>
          </a:xfrm>
          <a:prstGeom prst="rect">
            <a:avLst/>
          </a:prstGeom>
          <a:noFill/>
          <a:ln/>
        </p:spPr>
        <p:txBody>
          <a:bodyPr wrap="square" lIns="0" tIns="0" rIns="0" bIns="0" rtlCol="0" anchor="ctr"/>
          <a:lstStyle/>
          <a:p>
            <a:pPr indent="0" marL="0">
              <a:buNone/>
            </a:pPr>
            <a:r>
              <a:rPr lang="en-US" sz="3600" b="1" dirty="0">
                <a:solidFill>
                  <a:schemeClr val="bg1"/>
                </a:solidFill>
              </a:rPr>
              <a:t>10</a:t>
            </a:r>
            <a:endParaRPr lang="en-US" sz="3600" dirty="0"/>
          </a:p>
        </p:txBody>
      </p:sp>
      <p:sp>
        <p:nvSpPr>
          <p:cNvPr id="17" name="Text 15"/>
          <p:cNvSpPr txBox="1"/>
          <p:nvPr/>
        </p:nvSpPr>
        <p:spPr>
          <a:xfrm>
            <a:off x="5669280" y="1371600"/>
            <a:ext cx="731520" cy="274320"/>
          </a:xfrm>
          <a:prstGeom prst="rect">
            <a:avLst/>
          </a:prstGeom>
          <a:noFill/>
          <a:ln/>
        </p:spPr>
        <p:txBody>
          <a:bodyPr wrap="square" lIns="0" tIns="0" rIns="0" bIns="0" rtlCol="0" anchor="t"/>
          <a:lstStyle/>
          <a:p>
            <a:pPr algn="r" indent="0" marL="0">
              <a:buNone/>
            </a:pPr>
            <a:r>
              <a:rPr lang="en-US" sz="1100" b="1" dirty="0">
                <a:solidFill>
                  <a:schemeClr val="bg1"/>
                </a:solidFill>
              </a:rPr>
              <a:t>SDG</a:t>
            </a:r>
            <a:endParaRPr lang="en-US" sz="1100" dirty="0"/>
          </a:p>
        </p:txBody>
      </p:sp>
      <p:sp>
        <p:nvSpPr>
          <p:cNvPr id="18" name="Text 16"/>
          <p:cNvSpPr txBox="1"/>
          <p:nvPr/>
        </p:nvSpPr>
        <p:spPr>
          <a:xfrm>
            <a:off x="4800600" y="1920240"/>
            <a:ext cx="1645920" cy="548640"/>
          </a:xfrm>
          <a:prstGeom prst="rect">
            <a:avLst/>
          </a:prstGeom>
          <a:noFill/>
          <a:ln/>
        </p:spPr>
        <p:txBody>
          <a:bodyPr wrap="square" lIns="0" tIns="0" rIns="0" bIns="0" rtlCol="0" anchor="ctr"/>
          <a:lstStyle/>
          <a:p>
            <a:pPr indent="0" marL="0">
              <a:buNone/>
            </a:pPr>
            <a:r>
              <a:rPr lang="en-US" sz="1000" b="1" dirty="0">
                <a:solidFill>
                  <a:schemeClr val="bg1"/>
                </a:solidFill>
              </a:rPr>
              <a:t>Reduced Inequalities</a:t>
            </a:r>
            <a:endParaRPr lang="en-US" sz="1000" dirty="0"/>
          </a:p>
        </p:txBody>
      </p:sp>
      <p:sp>
        <p:nvSpPr>
          <p:cNvPr id="19" name="sdgText10"/>
          <p:cNvSpPr/>
          <p:nvPr/>
        </p:nvSpPr>
        <p:spPr>
          <a:xfrm>
            <a:off x="4663440" y="2697480"/>
            <a:ext cx="1874520" cy="1737360"/>
          </a:xfrm>
          <a:prstGeom prst="roundRect">
            <a:avLst>
              <a:gd name="adj" fmla="val 7368"/>
            </a:avLst>
          </a:prstGeom>
          <a:solidFill>
            <a:srgbClr val="1B4670">
              <a:alpha val="70000"/>
            </a:srgbClr>
          </a:solidFill>
          <a:ln w="15875">
            <a:solidFill>
              <a:srgbClr val="FFFFFF"/>
            </a:solidFill>
            <a:prstDash val="solid"/>
          </a:ln>
        </p:spPr>
      </p:sp>
      <p:sp>
        <p:nvSpPr>
          <p:cNvPr id="20" name="Text 18"/>
          <p:cNvSpPr txBox="1"/>
          <p:nvPr/>
        </p:nvSpPr>
        <p:spPr>
          <a:xfrm>
            <a:off x="4800600" y="2834640"/>
            <a:ext cx="1600200" cy="1508760"/>
          </a:xfrm>
          <a:prstGeom prst="rect">
            <a:avLst/>
          </a:prstGeom>
          <a:noFill/>
          <a:ln/>
        </p:spPr>
        <p:txBody>
          <a:bodyPr wrap="square" lIns="0" tIns="0" rIns="0" bIns="0" rtlCol="0" anchor="t"/>
          <a:lstStyle/>
          <a:p>
            <a:pPr indent="0" marL="0">
              <a:buNone/>
            </a:pPr>
            <a:r>
              <a:rPr lang="en-US" sz="1050" dirty="0">
                <a:solidFill>
                  <a:schemeClr val="bg2"/>
                </a:solidFill>
              </a:rPr>
              <a:t>Low cost and multi-user, so one unit can serve a family, hostel or rural clinic.</a:t>
            </a:r>
            <a:endParaRPr lang="en-US" sz="1050" dirty="0"/>
          </a:p>
        </p:txBody>
      </p:sp>
      <p:sp>
        <p:nvSpPr>
          <p:cNvPr id="21" name="sdg11"/>
          <p:cNvSpPr/>
          <p:nvPr/>
        </p:nvSpPr>
        <p:spPr>
          <a:xfrm>
            <a:off x="6720840" y="1188720"/>
            <a:ext cx="1874520" cy="1325880"/>
          </a:xfrm>
          <a:prstGeom prst="roundRect">
            <a:avLst>
              <a:gd name="adj" fmla="val 8276"/>
            </a:avLst>
          </a:prstGeom>
          <a:solidFill>
            <a:srgbClr val="FD9D24"/>
          </a:solidFill>
          <a:ln w="15875">
            <a:solidFill>
              <a:srgbClr val="FFFFFF"/>
            </a:solidFill>
            <a:prstDash val="solid"/>
          </a:ln>
        </p:spPr>
      </p:sp>
      <p:sp>
        <p:nvSpPr>
          <p:cNvPr id="22" name="Text 20"/>
          <p:cNvSpPr txBox="1"/>
          <p:nvPr/>
        </p:nvSpPr>
        <p:spPr>
          <a:xfrm>
            <a:off x="6858000" y="1234440"/>
            <a:ext cx="822960" cy="685800"/>
          </a:xfrm>
          <a:prstGeom prst="rect">
            <a:avLst/>
          </a:prstGeom>
          <a:noFill/>
          <a:ln/>
        </p:spPr>
        <p:txBody>
          <a:bodyPr wrap="square" lIns="0" tIns="0" rIns="0" bIns="0" rtlCol="0" anchor="ctr"/>
          <a:lstStyle/>
          <a:p>
            <a:pPr indent="0" marL="0">
              <a:buNone/>
            </a:pPr>
            <a:r>
              <a:rPr lang="en-US" sz="3600" b="1" dirty="0">
                <a:solidFill>
                  <a:schemeClr val="bg1"/>
                </a:solidFill>
              </a:rPr>
              <a:t>11</a:t>
            </a:r>
            <a:endParaRPr lang="en-US" sz="3600" dirty="0"/>
          </a:p>
        </p:txBody>
      </p:sp>
      <p:sp>
        <p:nvSpPr>
          <p:cNvPr id="23" name="Text 21"/>
          <p:cNvSpPr txBox="1"/>
          <p:nvPr/>
        </p:nvSpPr>
        <p:spPr>
          <a:xfrm>
            <a:off x="7726680" y="1371600"/>
            <a:ext cx="731520" cy="274320"/>
          </a:xfrm>
          <a:prstGeom prst="rect">
            <a:avLst/>
          </a:prstGeom>
          <a:noFill/>
          <a:ln/>
        </p:spPr>
        <p:txBody>
          <a:bodyPr wrap="square" lIns="0" tIns="0" rIns="0" bIns="0" rtlCol="0" anchor="t"/>
          <a:lstStyle/>
          <a:p>
            <a:pPr algn="r" indent="0" marL="0">
              <a:buNone/>
            </a:pPr>
            <a:r>
              <a:rPr lang="en-US" sz="1100" b="1" dirty="0">
                <a:solidFill>
                  <a:schemeClr val="bg1"/>
                </a:solidFill>
              </a:rPr>
              <a:t>SDG</a:t>
            </a:r>
            <a:endParaRPr lang="en-US" sz="1100" dirty="0"/>
          </a:p>
        </p:txBody>
      </p:sp>
      <p:sp>
        <p:nvSpPr>
          <p:cNvPr id="24" name="Text 22"/>
          <p:cNvSpPr txBox="1"/>
          <p:nvPr/>
        </p:nvSpPr>
        <p:spPr>
          <a:xfrm>
            <a:off x="6858000" y="1920240"/>
            <a:ext cx="1645920" cy="548640"/>
          </a:xfrm>
          <a:prstGeom prst="rect">
            <a:avLst/>
          </a:prstGeom>
          <a:noFill/>
          <a:ln/>
        </p:spPr>
        <p:txBody>
          <a:bodyPr wrap="square" lIns="0" tIns="0" rIns="0" bIns="0" rtlCol="0" anchor="ctr"/>
          <a:lstStyle/>
          <a:p>
            <a:pPr indent="0" marL="0">
              <a:buNone/>
            </a:pPr>
            <a:r>
              <a:rPr lang="en-US" sz="1000" b="1" dirty="0">
                <a:solidFill>
                  <a:schemeClr val="bg1"/>
                </a:solidFill>
              </a:rPr>
              <a:t>Sustainable Cities and Communities</a:t>
            </a:r>
            <a:endParaRPr lang="en-US" sz="1000" dirty="0"/>
          </a:p>
        </p:txBody>
      </p:sp>
      <p:sp>
        <p:nvSpPr>
          <p:cNvPr id="25" name="sdgText11"/>
          <p:cNvSpPr/>
          <p:nvPr/>
        </p:nvSpPr>
        <p:spPr>
          <a:xfrm>
            <a:off x="6720840" y="2697480"/>
            <a:ext cx="1874520" cy="1737360"/>
          </a:xfrm>
          <a:prstGeom prst="roundRect">
            <a:avLst>
              <a:gd name="adj" fmla="val 7368"/>
            </a:avLst>
          </a:prstGeom>
          <a:solidFill>
            <a:srgbClr val="1B4670">
              <a:alpha val="70000"/>
            </a:srgbClr>
          </a:solidFill>
          <a:ln w="15875">
            <a:solidFill>
              <a:srgbClr val="FFFFFF"/>
            </a:solidFill>
            <a:prstDash val="solid"/>
          </a:ln>
        </p:spPr>
      </p:sp>
      <p:sp>
        <p:nvSpPr>
          <p:cNvPr id="26" name="Text 24"/>
          <p:cNvSpPr txBox="1"/>
          <p:nvPr/>
        </p:nvSpPr>
        <p:spPr>
          <a:xfrm>
            <a:off x="6858000" y="2834640"/>
            <a:ext cx="1600200" cy="1508760"/>
          </a:xfrm>
          <a:prstGeom prst="rect">
            <a:avLst/>
          </a:prstGeom>
          <a:noFill/>
          <a:ln/>
        </p:spPr>
        <p:txBody>
          <a:bodyPr wrap="square" lIns="0" tIns="0" rIns="0" bIns="0" rtlCol="0" anchor="t"/>
          <a:lstStyle/>
          <a:p>
            <a:pPr indent="0" marL="0">
              <a:buNone/>
            </a:pPr>
            <a:r>
              <a:rPr lang="en-US" sz="1050" dirty="0">
                <a:solidFill>
                  <a:schemeClr val="bg2"/>
                </a:solidFill>
              </a:rPr>
              <a:t>Ward-level health maps and faster emergency response for safer cities.</a:t>
            </a:r>
            <a:endParaRPr lang="en-US" sz="10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CONCLUSION</a:t>
            </a:r>
            <a:endParaRPr lang="en-US" sz="3000" dirty="0"/>
          </a:p>
        </p:txBody>
      </p:sp>
      <p:sp>
        <p:nvSpPr>
          <p:cNvPr id="3" name="Shape 1"/>
          <p:cNvSpPr/>
          <p:nvPr/>
        </p:nvSpPr>
        <p:spPr>
          <a:xfrm>
            <a:off x="566928" y="1271016"/>
            <a:ext cx="420624" cy="420624"/>
          </a:xfrm>
          <a:prstGeom prst="ellipse">
            <a:avLst/>
          </a:prstGeom>
          <a:solidFill>
            <a:srgbClr val="214F7B"/>
          </a:solidFill>
          <a:ln w="19050">
            <a:solidFill>
              <a:srgbClr val="FFFFFF"/>
            </a:solidFill>
            <a:prstDash val="solid"/>
          </a:ln>
        </p:spPr>
      </p:sp>
      <p:sp>
        <p:nvSpPr>
          <p:cNvPr id="4" name="Text 2"/>
          <p:cNvSpPr txBox="1"/>
          <p:nvPr/>
        </p:nvSpPr>
        <p:spPr>
          <a:xfrm>
            <a:off x="566928" y="1271016"/>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 3"/>
          <p:cNvSpPr txBox="1"/>
          <p:nvPr/>
        </p:nvSpPr>
        <p:spPr>
          <a:xfrm>
            <a:off x="1143000" y="1207008"/>
            <a:ext cx="4023360" cy="292608"/>
          </a:xfrm>
          <a:prstGeom prst="rect">
            <a:avLst/>
          </a:prstGeom>
          <a:noFill/>
          <a:ln/>
        </p:spPr>
        <p:txBody>
          <a:bodyPr wrap="square" lIns="0" tIns="0" rIns="0" bIns="0" rtlCol="0" anchor="t"/>
          <a:lstStyle/>
          <a:p>
            <a:pPr indent="0" marL="0">
              <a:buNone/>
            </a:pPr>
            <a:r>
              <a:rPr lang="en-US" sz="1300" b="1" dirty="0">
                <a:solidFill>
                  <a:schemeClr val="bg1"/>
                </a:solidFill>
              </a:rPr>
              <a:t>Three vitals, one low-cost device</a:t>
            </a:r>
            <a:endParaRPr lang="en-US" sz="1300" dirty="0"/>
          </a:p>
        </p:txBody>
      </p:sp>
      <p:sp>
        <p:nvSpPr>
          <p:cNvPr id="6" name="Text 4"/>
          <p:cNvSpPr txBox="1"/>
          <p:nvPr/>
        </p:nvSpPr>
        <p:spPr>
          <a:xfrm>
            <a:off x="1143000" y="1517904"/>
            <a:ext cx="4023360" cy="457200"/>
          </a:xfrm>
          <a:prstGeom prst="rect">
            <a:avLst/>
          </a:prstGeom>
          <a:noFill/>
          <a:ln/>
        </p:spPr>
        <p:txBody>
          <a:bodyPr wrap="square" lIns="0" tIns="0" rIns="0" bIns="0" rtlCol="0" anchor="t"/>
          <a:lstStyle/>
          <a:p>
            <a:pPr indent="0" marL="0">
              <a:buNone/>
            </a:pPr>
            <a:r>
              <a:rPr lang="en-US" sz="1050" dirty="0">
                <a:solidFill>
                  <a:schemeClr val="bg2"/>
                </a:solidFill>
              </a:rPr>
              <a:t>HR, SpO₂ and temperature on an ESP32, shown on an OLED and a live website.</a:t>
            </a:r>
            <a:endParaRPr lang="en-US" sz="1050" dirty="0"/>
          </a:p>
        </p:txBody>
      </p:sp>
      <p:sp>
        <p:nvSpPr>
          <p:cNvPr id="7" name="Shape 5"/>
          <p:cNvSpPr/>
          <p:nvPr/>
        </p:nvSpPr>
        <p:spPr>
          <a:xfrm>
            <a:off x="566928" y="2112264"/>
            <a:ext cx="420624" cy="420624"/>
          </a:xfrm>
          <a:prstGeom prst="ellipse">
            <a:avLst/>
          </a:prstGeom>
          <a:solidFill>
            <a:srgbClr val="214F7B"/>
          </a:solidFill>
          <a:ln w="19050">
            <a:solidFill>
              <a:srgbClr val="FFFFFF"/>
            </a:solidFill>
            <a:prstDash val="solid"/>
          </a:ln>
        </p:spPr>
      </p:sp>
      <p:sp>
        <p:nvSpPr>
          <p:cNvPr id="8" name="Text 6"/>
          <p:cNvSpPr txBox="1"/>
          <p:nvPr/>
        </p:nvSpPr>
        <p:spPr>
          <a:xfrm>
            <a:off x="566928" y="2112264"/>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1143000" y="2048256"/>
            <a:ext cx="4023360" cy="292608"/>
          </a:xfrm>
          <a:prstGeom prst="rect">
            <a:avLst/>
          </a:prstGeom>
          <a:noFill/>
          <a:ln/>
        </p:spPr>
        <p:txBody>
          <a:bodyPr wrap="square" lIns="0" tIns="0" rIns="0" bIns="0" rtlCol="0" anchor="t"/>
          <a:lstStyle/>
          <a:p>
            <a:pPr indent="0" marL="0">
              <a:buNone/>
            </a:pPr>
            <a:r>
              <a:rPr lang="en-US" sz="1300" b="1" dirty="0">
                <a:solidFill>
                  <a:schemeClr val="bg1"/>
                </a:solidFill>
              </a:rPr>
              <a:t>AI that knows you</a:t>
            </a:r>
            <a:endParaRPr lang="en-US" sz="1300" dirty="0"/>
          </a:p>
        </p:txBody>
      </p:sp>
      <p:sp>
        <p:nvSpPr>
          <p:cNvPr id="10" name="Text 8"/>
          <p:cNvSpPr txBox="1"/>
          <p:nvPr/>
        </p:nvSpPr>
        <p:spPr>
          <a:xfrm>
            <a:off x="1143000" y="2359152"/>
            <a:ext cx="4023360" cy="457200"/>
          </a:xfrm>
          <a:prstGeom prst="rect">
            <a:avLst/>
          </a:prstGeom>
          <a:noFill/>
          <a:ln/>
        </p:spPr>
        <p:txBody>
          <a:bodyPr wrap="square" lIns="0" tIns="0" rIns="0" bIns="0" rtlCol="0" anchor="t"/>
          <a:lstStyle/>
          <a:p>
            <a:pPr indent="0" marL="0">
              <a:buNone/>
            </a:pPr>
            <a:r>
              <a:rPr lang="en-US" sz="1050" dirty="0">
                <a:solidFill>
                  <a:schemeClr val="bg2"/>
                </a:solidFill>
              </a:rPr>
              <a:t>Personal anomaly detection plus trend prediction that warns early.</a:t>
            </a:r>
            <a:endParaRPr lang="en-US" sz="1050" dirty="0"/>
          </a:p>
        </p:txBody>
      </p:sp>
      <p:sp>
        <p:nvSpPr>
          <p:cNvPr id="11" name="Shape 9"/>
          <p:cNvSpPr/>
          <p:nvPr/>
        </p:nvSpPr>
        <p:spPr>
          <a:xfrm>
            <a:off x="566928" y="2953512"/>
            <a:ext cx="420624" cy="420624"/>
          </a:xfrm>
          <a:prstGeom prst="ellipse">
            <a:avLst/>
          </a:prstGeom>
          <a:solidFill>
            <a:srgbClr val="214F7B"/>
          </a:solidFill>
          <a:ln w="19050">
            <a:solidFill>
              <a:srgbClr val="FFFFFF"/>
            </a:solidFill>
            <a:prstDash val="solid"/>
          </a:ln>
        </p:spPr>
      </p:sp>
      <p:sp>
        <p:nvSpPr>
          <p:cNvPr id="12" name="Text 10"/>
          <p:cNvSpPr txBox="1"/>
          <p:nvPr/>
        </p:nvSpPr>
        <p:spPr>
          <a:xfrm>
            <a:off x="566928" y="2953512"/>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1"/>
          <p:cNvSpPr txBox="1"/>
          <p:nvPr/>
        </p:nvSpPr>
        <p:spPr>
          <a:xfrm>
            <a:off x="1143000" y="2889504"/>
            <a:ext cx="4023360" cy="292608"/>
          </a:xfrm>
          <a:prstGeom prst="rect">
            <a:avLst/>
          </a:prstGeom>
          <a:noFill/>
          <a:ln/>
        </p:spPr>
        <p:txBody>
          <a:bodyPr wrap="square" lIns="0" tIns="0" rIns="0" bIns="0" rtlCol="0" anchor="t"/>
          <a:lstStyle/>
          <a:p>
            <a:pPr indent="0" marL="0">
              <a:buNone/>
            </a:pPr>
            <a:r>
              <a:rPr lang="en-US" sz="1300" b="1" dirty="0">
                <a:solidFill>
                  <a:schemeClr val="bg1"/>
                </a:solidFill>
              </a:rPr>
              <a:t>Help, automatically</a:t>
            </a:r>
            <a:endParaRPr lang="en-US" sz="1300" dirty="0"/>
          </a:p>
        </p:txBody>
      </p:sp>
      <p:sp>
        <p:nvSpPr>
          <p:cNvPr id="14" name="Text 12"/>
          <p:cNvSpPr txBox="1"/>
          <p:nvPr/>
        </p:nvSpPr>
        <p:spPr>
          <a:xfrm>
            <a:off x="1143000" y="3200400"/>
            <a:ext cx="4023360" cy="457200"/>
          </a:xfrm>
          <a:prstGeom prst="rect">
            <a:avLst/>
          </a:prstGeom>
          <a:noFill/>
          <a:ln/>
        </p:spPr>
        <p:txBody>
          <a:bodyPr wrap="square" lIns="0" tIns="0" rIns="0" bIns="0" rtlCol="0" anchor="t"/>
          <a:lstStyle/>
          <a:p>
            <a:pPr indent="0" marL="0">
              <a:buNone/>
            </a:pPr>
            <a:r>
              <a:rPr lang="en-US" sz="1050" dirty="0">
                <a:solidFill>
                  <a:schemeClr val="bg2"/>
                </a:solidFill>
              </a:rPr>
              <a:t>Telegram alerts to an emergency contact, with device and admin alarms.</a:t>
            </a:r>
            <a:endParaRPr lang="en-US" sz="1050" dirty="0"/>
          </a:p>
        </p:txBody>
      </p:sp>
      <p:sp>
        <p:nvSpPr>
          <p:cNvPr id="15" name="Shape 13"/>
          <p:cNvSpPr/>
          <p:nvPr/>
        </p:nvSpPr>
        <p:spPr>
          <a:xfrm>
            <a:off x="566928" y="3794760"/>
            <a:ext cx="420624" cy="420624"/>
          </a:xfrm>
          <a:prstGeom prst="ellipse">
            <a:avLst/>
          </a:prstGeom>
          <a:solidFill>
            <a:srgbClr val="214F7B"/>
          </a:solidFill>
          <a:ln w="19050">
            <a:solidFill>
              <a:srgbClr val="FFFFFF"/>
            </a:solidFill>
            <a:prstDash val="solid"/>
          </a:ln>
        </p:spPr>
      </p:sp>
      <p:sp>
        <p:nvSpPr>
          <p:cNvPr id="16" name="Text 14"/>
          <p:cNvSpPr txBox="1"/>
          <p:nvPr/>
        </p:nvSpPr>
        <p:spPr>
          <a:xfrm>
            <a:off x="566928" y="379476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7" name="Text 15"/>
          <p:cNvSpPr txBox="1"/>
          <p:nvPr/>
        </p:nvSpPr>
        <p:spPr>
          <a:xfrm>
            <a:off x="1143000" y="3730752"/>
            <a:ext cx="4023360" cy="292608"/>
          </a:xfrm>
          <a:prstGeom prst="rect">
            <a:avLst/>
          </a:prstGeom>
          <a:noFill/>
          <a:ln/>
        </p:spPr>
        <p:txBody>
          <a:bodyPr wrap="square" lIns="0" tIns="0" rIns="0" bIns="0" rtlCol="0" anchor="t"/>
          <a:lstStyle/>
          <a:p>
            <a:pPr indent="0" marL="0">
              <a:buNone/>
            </a:pPr>
            <a:r>
              <a:rPr lang="en-US" sz="1300" b="1" dirty="0">
                <a:solidFill>
                  <a:schemeClr val="bg1"/>
                </a:solidFill>
              </a:rPr>
              <a:t>Ready for smart cities</a:t>
            </a:r>
            <a:endParaRPr lang="en-US" sz="1300" dirty="0"/>
          </a:p>
        </p:txBody>
      </p:sp>
      <p:sp>
        <p:nvSpPr>
          <p:cNvPr id="18" name="Text 16"/>
          <p:cNvSpPr txBox="1"/>
          <p:nvPr/>
        </p:nvSpPr>
        <p:spPr>
          <a:xfrm>
            <a:off x="1143000" y="4041648"/>
            <a:ext cx="4023360" cy="457200"/>
          </a:xfrm>
          <a:prstGeom prst="rect">
            <a:avLst/>
          </a:prstGeom>
          <a:noFill/>
          <a:ln/>
        </p:spPr>
        <p:txBody>
          <a:bodyPr wrap="square" lIns="0" tIns="0" rIns="0" bIns="0" rtlCol="0" anchor="t"/>
          <a:lstStyle/>
          <a:p>
            <a:pPr indent="0" marL="0">
              <a:buNone/>
            </a:pPr>
            <a:r>
              <a:rPr lang="en-US" sz="1050" dirty="0">
                <a:solidFill>
                  <a:schemeClr val="bg2"/>
                </a:solidFill>
              </a:rPr>
              <a:t>Anonymised, standards-based data flow to city platforms and 108.</a:t>
            </a:r>
            <a:endParaRPr lang="en-US" sz="1050" dirty="0"/>
          </a:p>
        </p:txBody>
      </p:sp>
      <p:sp>
        <p:nvSpPr>
          <p:cNvPr id="19" name="glance"/>
          <p:cNvSpPr/>
          <p:nvPr/>
        </p:nvSpPr>
        <p:spPr>
          <a:xfrm>
            <a:off x="5532120" y="1371600"/>
            <a:ext cx="3063240" cy="3246120"/>
          </a:xfrm>
          <a:prstGeom prst="roundRect">
            <a:avLst>
              <a:gd name="adj" fmla="val 4179"/>
            </a:avLst>
          </a:prstGeom>
          <a:solidFill>
            <a:srgbClr val="1B4670">
              <a:alpha val="70000"/>
            </a:srgbClr>
          </a:solidFill>
          <a:ln w="15875">
            <a:solidFill>
              <a:srgbClr val="FFFFFF"/>
            </a:solidFill>
            <a:prstDash val="solid"/>
          </a:ln>
        </p:spPr>
      </p:sp>
      <p:sp>
        <p:nvSpPr>
          <p:cNvPr id="20" name="Shape 18"/>
          <p:cNvSpPr/>
          <p:nvPr/>
        </p:nvSpPr>
        <p:spPr>
          <a:xfrm>
            <a:off x="5943600" y="1188720"/>
            <a:ext cx="2240280" cy="365760"/>
          </a:xfrm>
          <a:prstGeom prst="roundRect">
            <a:avLst>
              <a:gd name="adj" fmla="val 50000"/>
            </a:avLst>
          </a:prstGeom>
          <a:solidFill>
            <a:srgbClr val="214F7B"/>
          </a:solidFill>
          <a:ln w="15875">
            <a:solidFill>
              <a:srgbClr val="FFFFFF"/>
            </a:solidFill>
            <a:prstDash val="solid"/>
          </a:ln>
        </p:spPr>
      </p:sp>
      <p:sp>
        <p:nvSpPr>
          <p:cNvPr id="21" name="Text 19"/>
          <p:cNvSpPr txBox="1"/>
          <p:nvPr/>
        </p:nvSpPr>
        <p:spPr>
          <a:xfrm>
            <a:off x="5943600" y="1188720"/>
            <a:ext cx="2240280" cy="365760"/>
          </a:xfrm>
          <a:prstGeom prst="rect">
            <a:avLst/>
          </a:prstGeom>
          <a:noFill/>
          <a:ln/>
        </p:spPr>
        <p:txBody>
          <a:bodyPr wrap="square" lIns="0" tIns="0" rIns="0" bIns="0" rtlCol="0" anchor="ctr"/>
          <a:lstStyle/>
          <a:p>
            <a:pPr algn="ctr" indent="0" marL="0">
              <a:buNone/>
            </a:pPr>
            <a:r>
              <a:rPr lang="en-US" sz="1000" b="1" dirty="0">
                <a:solidFill>
                  <a:schemeClr val="bg1"/>
                </a:solidFill>
              </a:rPr>
              <a:t>VITAL AT A GLANCE</a:t>
            </a:r>
            <a:endParaRPr lang="en-US" sz="1000" dirty="0"/>
          </a:p>
        </p:txBody>
      </p:sp>
      <p:sp>
        <p:nvSpPr>
          <p:cNvPr id="22" name="Text 20"/>
          <p:cNvSpPr txBox="1"/>
          <p:nvPr/>
        </p:nvSpPr>
        <p:spPr>
          <a:xfrm>
            <a:off x="5715000" y="1719072"/>
            <a:ext cx="2011680" cy="347472"/>
          </a:xfrm>
          <a:prstGeom prst="rect">
            <a:avLst/>
          </a:prstGeom>
          <a:noFill/>
          <a:ln/>
        </p:spPr>
        <p:txBody>
          <a:bodyPr wrap="square" lIns="0" tIns="0" rIns="0" bIns="0" rtlCol="0" anchor="ctr"/>
          <a:lstStyle/>
          <a:p>
            <a:pPr indent="0" marL="0">
              <a:buNone/>
            </a:pPr>
            <a:r>
              <a:rPr lang="en-US" sz="1100" dirty="0">
                <a:solidFill>
                  <a:schemeClr val="bg2"/>
                </a:solidFill>
              </a:rPr>
              <a:t>Vital signs measured</a:t>
            </a:r>
            <a:endParaRPr lang="en-US" sz="1100" dirty="0"/>
          </a:p>
        </p:txBody>
      </p:sp>
      <p:sp>
        <p:nvSpPr>
          <p:cNvPr id="23" name="Text 21"/>
          <p:cNvSpPr txBox="1"/>
          <p:nvPr/>
        </p:nvSpPr>
        <p:spPr>
          <a:xfrm>
            <a:off x="7589520" y="1719072"/>
            <a:ext cx="822960" cy="347472"/>
          </a:xfrm>
          <a:prstGeom prst="rect">
            <a:avLst/>
          </a:prstGeom>
          <a:noFill/>
          <a:ln/>
        </p:spPr>
        <p:txBody>
          <a:bodyPr wrap="square" lIns="0" tIns="0" rIns="0" bIns="0" rtlCol="0" anchor="ctr"/>
          <a:lstStyle/>
          <a:p>
            <a:pPr algn="r" indent="0" marL="0">
              <a:buNone/>
            </a:pPr>
            <a:r>
              <a:rPr lang="en-US" sz="1600" b="1" dirty="0">
                <a:solidFill>
                  <a:schemeClr val="accent2"/>
                </a:solidFill>
              </a:rPr>
              <a:t>3</a:t>
            </a:r>
            <a:endParaRPr lang="en-US" sz="1600" dirty="0"/>
          </a:p>
        </p:txBody>
      </p:sp>
      <p:sp>
        <p:nvSpPr>
          <p:cNvPr id="24" name="Text 22"/>
          <p:cNvSpPr txBox="1"/>
          <p:nvPr/>
        </p:nvSpPr>
        <p:spPr>
          <a:xfrm>
            <a:off x="5715000" y="2112264"/>
            <a:ext cx="2011680" cy="347472"/>
          </a:xfrm>
          <a:prstGeom prst="rect">
            <a:avLst/>
          </a:prstGeom>
          <a:noFill/>
          <a:ln/>
        </p:spPr>
        <p:txBody>
          <a:bodyPr wrap="square" lIns="0" tIns="0" rIns="0" bIns="0" rtlCol="0" anchor="ctr"/>
          <a:lstStyle/>
          <a:p>
            <a:pPr indent="0" marL="0">
              <a:buNone/>
            </a:pPr>
            <a:r>
              <a:rPr lang="en-US" sz="1100" dirty="0">
                <a:solidFill>
                  <a:schemeClr val="bg2"/>
                </a:solidFill>
              </a:rPr>
              <a:t>Hardware modules</a:t>
            </a:r>
            <a:endParaRPr lang="en-US" sz="1100" dirty="0"/>
          </a:p>
        </p:txBody>
      </p:sp>
      <p:sp>
        <p:nvSpPr>
          <p:cNvPr id="25" name="Text 23"/>
          <p:cNvSpPr txBox="1"/>
          <p:nvPr/>
        </p:nvSpPr>
        <p:spPr>
          <a:xfrm>
            <a:off x="7589520" y="2112264"/>
            <a:ext cx="822960" cy="347472"/>
          </a:xfrm>
          <a:prstGeom prst="rect">
            <a:avLst/>
          </a:prstGeom>
          <a:noFill/>
          <a:ln/>
        </p:spPr>
        <p:txBody>
          <a:bodyPr wrap="square" lIns="0" tIns="0" rIns="0" bIns="0" rtlCol="0" anchor="ctr"/>
          <a:lstStyle/>
          <a:p>
            <a:pPr algn="r" indent="0" marL="0">
              <a:buNone/>
            </a:pPr>
            <a:r>
              <a:rPr lang="en-US" sz="1600" b="1" dirty="0">
                <a:solidFill>
                  <a:schemeClr val="accent2"/>
                </a:solidFill>
              </a:rPr>
              <a:t>4</a:t>
            </a:r>
            <a:endParaRPr lang="en-US" sz="1600" dirty="0"/>
          </a:p>
        </p:txBody>
      </p:sp>
      <p:sp>
        <p:nvSpPr>
          <p:cNvPr id="26" name="Text 24"/>
          <p:cNvSpPr txBox="1"/>
          <p:nvPr/>
        </p:nvSpPr>
        <p:spPr>
          <a:xfrm>
            <a:off x="5715000" y="2505456"/>
            <a:ext cx="2011680" cy="347472"/>
          </a:xfrm>
          <a:prstGeom prst="rect">
            <a:avLst/>
          </a:prstGeom>
          <a:noFill/>
          <a:ln/>
        </p:spPr>
        <p:txBody>
          <a:bodyPr wrap="square" lIns="0" tIns="0" rIns="0" bIns="0" rtlCol="0" anchor="ctr"/>
          <a:lstStyle/>
          <a:p>
            <a:pPr indent="0" marL="0">
              <a:buNone/>
            </a:pPr>
            <a:r>
              <a:rPr lang="en-US" sz="1100" dirty="0">
                <a:solidFill>
                  <a:schemeClr val="bg2"/>
                </a:solidFill>
              </a:rPr>
              <a:t>Shared I²C data wires</a:t>
            </a:r>
            <a:endParaRPr lang="en-US" sz="1100" dirty="0"/>
          </a:p>
        </p:txBody>
      </p:sp>
      <p:sp>
        <p:nvSpPr>
          <p:cNvPr id="27" name="Text 25"/>
          <p:cNvSpPr txBox="1"/>
          <p:nvPr/>
        </p:nvSpPr>
        <p:spPr>
          <a:xfrm>
            <a:off x="7589520" y="2505456"/>
            <a:ext cx="822960" cy="347472"/>
          </a:xfrm>
          <a:prstGeom prst="rect">
            <a:avLst/>
          </a:prstGeom>
          <a:noFill/>
          <a:ln/>
        </p:spPr>
        <p:txBody>
          <a:bodyPr wrap="square" lIns="0" tIns="0" rIns="0" bIns="0" rtlCol="0" anchor="ctr"/>
          <a:lstStyle/>
          <a:p>
            <a:pPr algn="r" indent="0" marL="0">
              <a:buNone/>
            </a:pPr>
            <a:r>
              <a:rPr lang="en-US" sz="1600" b="1" dirty="0">
                <a:solidFill>
                  <a:schemeClr val="accent2"/>
                </a:solidFill>
              </a:rPr>
              <a:t>2</a:t>
            </a:r>
            <a:endParaRPr lang="en-US" sz="1600" dirty="0"/>
          </a:p>
        </p:txBody>
      </p:sp>
      <p:sp>
        <p:nvSpPr>
          <p:cNvPr id="28" name="Text 26"/>
          <p:cNvSpPr txBox="1"/>
          <p:nvPr/>
        </p:nvSpPr>
        <p:spPr>
          <a:xfrm>
            <a:off x="5715000" y="2898648"/>
            <a:ext cx="2011680" cy="347472"/>
          </a:xfrm>
          <a:prstGeom prst="rect">
            <a:avLst/>
          </a:prstGeom>
          <a:noFill/>
          <a:ln/>
        </p:spPr>
        <p:txBody>
          <a:bodyPr wrap="square" lIns="0" tIns="0" rIns="0" bIns="0" rtlCol="0" anchor="ctr"/>
          <a:lstStyle/>
          <a:p>
            <a:pPr indent="0" marL="0">
              <a:buNone/>
            </a:pPr>
            <a:r>
              <a:rPr lang="en-US" sz="1100" dirty="0">
                <a:solidFill>
                  <a:schemeClr val="bg2"/>
                </a:solidFill>
              </a:rPr>
              <a:t>Update interval</a:t>
            </a:r>
            <a:endParaRPr lang="en-US" sz="1100" dirty="0"/>
          </a:p>
        </p:txBody>
      </p:sp>
      <p:sp>
        <p:nvSpPr>
          <p:cNvPr id="29" name="Text 27"/>
          <p:cNvSpPr txBox="1"/>
          <p:nvPr/>
        </p:nvSpPr>
        <p:spPr>
          <a:xfrm>
            <a:off x="7589520" y="2898648"/>
            <a:ext cx="822960" cy="347472"/>
          </a:xfrm>
          <a:prstGeom prst="rect">
            <a:avLst/>
          </a:prstGeom>
          <a:noFill/>
          <a:ln/>
        </p:spPr>
        <p:txBody>
          <a:bodyPr wrap="square" lIns="0" tIns="0" rIns="0" bIns="0" rtlCol="0" anchor="ctr"/>
          <a:lstStyle/>
          <a:p>
            <a:pPr algn="r" indent="0" marL="0">
              <a:buNone/>
            </a:pPr>
            <a:r>
              <a:rPr lang="en-US" sz="1600" b="1" dirty="0">
                <a:solidFill>
                  <a:schemeClr val="accent2"/>
                </a:solidFill>
              </a:rPr>
              <a:t>1 s</a:t>
            </a:r>
            <a:endParaRPr lang="en-US" sz="1600" dirty="0"/>
          </a:p>
        </p:txBody>
      </p:sp>
      <p:sp>
        <p:nvSpPr>
          <p:cNvPr id="30" name="Text 28"/>
          <p:cNvSpPr txBox="1"/>
          <p:nvPr/>
        </p:nvSpPr>
        <p:spPr>
          <a:xfrm>
            <a:off x="5715000" y="3291840"/>
            <a:ext cx="2011680" cy="347472"/>
          </a:xfrm>
          <a:prstGeom prst="rect">
            <a:avLst/>
          </a:prstGeom>
          <a:noFill/>
          <a:ln/>
        </p:spPr>
        <p:txBody>
          <a:bodyPr wrap="square" lIns="0" tIns="0" rIns="0" bIns="0" rtlCol="0" anchor="ctr"/>
          <a:lstStyle/>
          <a:p>
            <a:pPr indent="0" marL="0">
              <a:buNone/>
            </a:pPr>
            <a:r>
              <a:rPr lang="en-US" sz="1100" dirty="0">
                <a:solidFill>
                  <a:schemeClr val="bg2"/>
                </a:solidFill>
              </a:rPr>
              <a:t>Dashboard views</a:t>
            </a:r>
            <a:endParaRPr lang="en-US" sz="1100" dirty="0"/>
          </a:p>
        </p:txBody>
      </p:sp>
      <p:sp>
        <p:nvSpPr>
          <p:cNvPr id="31" name="Text 29"/>
          <p:cNvSpPr txBox="1"/>
          <p:nvPr/>
        </p:nvSpPr>
        <p:spPr>
          <a:xfrm>
            <a:off x="7589520" y="3291840"/>
            <a:ext cx="822960" cy="347472"/>
          </a:xfrm>
          <a:prstGeom prst="rect">
            <a:avLst/>
          </a:prstGeom>
          <a:noFill/>
          <a:ln/>
        </p:spPr>
        <p:txBody>
          <a:bodyPr wrap="square" lIns="0" tIns="0" rIns="0" bIns="0" rtlCol="0" anchor="ctr"/>
          <a:lstStyle/>
          <a:p>
            <a:pPr algn="r" indent="0" marL="0">
              <a:buNone/>
            </a:pPr>
            <a:r>
              <a:rPr lang="en-US" sz="1600" b="1" dirty="0">
                <a:solidFill>
                  <a:schemeClr val="accent2"/>
                </a:solidFill>
              </a:rPr>
              <a:t>3</a:t>
            </a:r>
            <a:endParaRPr lang="en-US" sz="1600" dirty="0"/>
          </a:p>
        </p:txBody>
      </p:sp>
      <p:sp>
        <p:nvSpPr>
          <p:cNvPr id="32" name="Text 30"/>
          <p:cNvSpPr txBox="1"/>
          <p:nvPr/>
        </p:nvSpPr>
        <p:spPr>
          <a:xfrm>
            <a:off x="5715000" y="3685032"/>
            <a:ext cx="2011680" cy="347472"/>
          </a:xfrm>
          <a:prstGeom prst="rect">
            <a:avLst/>
          </a:prstGeom>
          <a:noFill/>
          <a:ln/>
        </p:spPr>
        <p:txBody>
          <a:bodyPr wrap="square" lIns="0" tIns="0" rIns="0" bIns="0" rtlCol="0" anchor="ctr"/>
          <a:lstStyle/>
          <a:p>
            <a:pPr indent="0" marL="0">
              <a:buNone/>
            </a:pPr>
            <a:r>
              <a:rPr lang="en-US" sz="1100" dirty="0">
                <a:solidFill>
                  <a:schemeClr val="bg2"/>
                </a:solidFill>
              </a:rPr>
              <a:t>ML models</a:t>
            </a:r>
            <a:endParaRPr lang="en-US" sz="1100" dirty="0"/>
          </a:p>
        </p:txBody>
      </p:sp>
      <p:sp>
        <p:nvSpPr>
          <p:cNvPr id="33" name="Text 31"/>
          <p:cNvSpPr txBox="1"/>
          <p:nvPr/>
        </p:nvSpPr>
        <p:spPr>
          <a:xfrm>
            <a:off x="7589520" y="3685032"/>
            <a:ext cx="822960" cy="347472"/>
          </a:xfrm>
          <a:prstGeom prst="rect">
            <a:avLst/>
          </a:prstGeom>
          <a:noFill/>
          <a:ln/>
        </p:spPr>
        <p:txBody>
          <a:bodyPr wrap="square" lIns="0" tIns="0" rIns="0" bIns="0" rtlCol="0" anchor="ctr"/>
          <a:lstStyle/>
          <a:p>
            <a:pPr algn="r" indent="0" marL="0">
              <a:buNone/>
            </a:pPr>
            <a:r>
              <a:rPr lang="en-US" sz="1600" b="1" dirty="0">
                <a:solidFill>
                  <a:schemeClr val="accent2"/>
                </a:solidFill>
              </a:rPr>
              <a:t>4</a:t>
            </a:r>
            <a:endParaRPr lang="en-US" sz="1600" dirty="0"/>
          </a:p>
        </p:txBody>
      </p:sp>
      <p:sp>
        <p:nvSpPr>
          <p:cNvPr id="34" name="Text 32"/>
          <p:cNvSpPr txBox="1"/>
          <p:nvPr/>
        </p:nvSpPr>
        <p:spPr>
          <a:xfrm>
            <a:off x="5715000" y="4078224"/>
            <a:ext cx="2011680" cy="347472"/>
          </a:xfrm>
          <a:prstGeom prst="rect">
            <a:avLst/>
          </a:prstGeom>
          <a:noFill/>
          <a:ln/>
        </p:spPr>
        <p:txBody>
          <a:bodyPr wrap="square" lIns="0" tIns="0" rIns="0" bIns="0" rtlCol="0" anchor="ctr"/>
          <a:lstStyle/>
          <a:p>
            <a:pPr indent="0" marL="0">
              <a:buNone/>
            </a:pPr>
            <a:r>
              <a:rPr lang="en-US" sz="1100" dirty="0">
                <a:solidFill>
                  <a:schemeClr val="bg2"/>
                </a:solidFill>
              </a:rPr>
              <a:t>Alert channels</a:t>
            </a:r>
            <a:endParaRPr lang="en-US" sz="1100" dirty="0"/>
          </a:p>
        </p:txBody>
      </p:sp>
      <p:sp>
        <p:nvSpPr>
          <p:cNvPr id="35" name="Text 33"/>
          <p:cNvSpPr txBox="1"/>
          <p:nvPr/>
        </p:nvSpPr>
        <p:spPr>
          <a:xfrm>
            <a:off x="7589520" y="4078224"/>
            <a:ext cx="822960" cy="347472"/>
          </a:xfrm>
          <a:prstGeom prst="rect">
            <a:avLst/>
          </a:prstGeom>
          <a:noFill/>
          <a:ln/>
        </p:spPr>
        <p:txBody>
          <a:bodyPr wrap="square" lIns="0" tIns="0" rIns="0" bIns="0" rtlCol="0" anchor="ctr"/>
          <a:lstStyle/>
          <a:p>
            <a:pPr algn="r" indent="0" marL="0">
              <a:buNone/>
            </a:pPr>
            <a:r>
              <a:rPr lang="en-US" sz="1600" b="1" dirty="0">
                <a:solidFill>
                  <a:schemeClr val="accent2"/>
                </a:solidFill>
              </a:rPr>
              <a:t>3</a:t>
            </a:r>
            <a:endParaRPr lang="en-US" sz="160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1280160" y="274320"/>
            <a:ext cx="6583680" cy="685800"/>
          </a:xfrm>
          <a:prstGeom prst="rect">
            <a:avLst/>
          </a:prstGeom>
          <a:noFill/>
          <a:ln/>
        </p:spPr>
        <p:txBody>
          <a:bodyPr wrap="square" lIns="0" tIns="0" rIns="0" bIns="0" rtlCol="0" anchor="ctr"/>
          <a:lstStyle/>
          <a:p>
            <a:pPr algn="ctr" indent="0" marL="0">
              <a:buNone/>
            </a:pPr>
            <a:r>
              <a:rPr lang="en-US" sz="3000" b="1" dirty="0">
                <a:solidFill>
                  <a:schemeClr val="bg1"/>
                </a:solidFill>
              </a:rPr>
              <a:t>REFERENCES</a:t>
            </a:r>
            <a:endParaRPr lang="en-US" sz="3000" dirty="0"/>
          </a:p>
        </p:txBody>
      </p:sp>
      <p:sp>
        <p:nvSpPr>
          <p:cNvPr id="3" name="Shape 1"/>
          <p:cNvSpPr/>
          <p:nvPr/>
        </p:nvSpPr>
        <p:spPr>
          <a:xfrm>
            <a:off x="585216" y="1197864"/>
            <a:ext cx="384048" cy="384048"/>
          </a:xfrm>
          <a:prstGeom prst="ellipse">
            <a:avLst/>
          </a:prstGeom>
          <a:solidFill>
            <a:srgbClr val="214F7B"/>
          </a:solidFill>
          <a:ln w="19050">
            <a:solidFill>
              <a:srgbClr val="FFFFFF"/>
            </a:solidFill>
            <a:prstDash val="solid"/>
          </a:ln>
        </p:spPr>
      </p:sp>
      <p:sp>
        <p:nvSpPr>
          <p:cNvPr id="4" name="Text 2"/>
          <p:cNvSpPr txBox="1"/>
          <p:nvPr/>
        </p:nvSpPr>
        <p:spPr>
          <a:xfrm>
            <a:off x="585216" y="1197864"/>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5" name="Text 3"/>
          <p:cNvSpPr txBox="1"/>
          <p:nvPr/>
        </p:nvSpPr>
        <p:spPr>
          <a:xfrm>
            <a:off x="1143000" y="1143000"/>
            <a:ext cx="7452360" cy="640080"/>
          </a:xfrm>
          <a:prstGeom prst="rect">
            <a:avLst/>
          </a:prstGeom>
          <a:noFill/>
          <a:ln/>
        </p:spPr>
        <p:txBody>
          <a:bodyPr wrap="square" lIns="0" tIns="0" rIns="0" bIns="0" rtlCol="0" anchor="ctr"/>
          <a:lstStyle/>
          <a:p>
            <a:pPr indent="0" marL="0">
              <a:buNone/>
            </a:pPr>
            <a:r>
              <a:rPr lang="en-US" sz="950" dirty="0">
                <a:solidFill>
                  <a:schemeClr val="bg1"/>
                </a:solidFill>
              </a:rPr>
              <a:t>R. Ahmad et al., "Development of blood oxygen level, heart rate and temperature monitoring system by using ESP32," in Proc. 4th Int. Conf. Smart Sensors and Application (ICSSA), 2022, doi: 10.1109/ICSSA54161.2022.9870943.</a:t>
            </a:r>
            <a:endParaRPr lang="en-US" sz="950" dirty="0"/>
          </a:p>
        </p:txBody>
      </p:sp>
      <p:sp>
        <p:nvSpPr>
          <p:cNvPr id="6" name="Shape 4"/>
          <p:cNvSpPr/>
          <p:nvPr/>
        </p:nvSpPr>
        <p:spPr>
          <a:xfrm>
            <a:off x="585216" y="1901952"/>
            <a:ext cx="384048" cy="384048"/>
          </a:xfrm>
          <a:prstGeom prst="ellipse">
            <a:avLst/>
          </a:prstGeom>
          <a:solidFill>
            <a:srgbClr val="214F7B"/>
          </a:solidFill>
          <a:ln w="19050">
            <a:solidFill>
              <a:srgbClr val="FFFFFF"/>
            </a:solidFill>
            <a:prstDash val="solid"/>
          </a:ln>
        </p:spPr>
      </p:sp>
      <p:sp>
        <p:nvSpPr>
          <p:cNvPr id="7" name="Text 5"/>
          <p:cNvSpPr txBox="1"/>
          <p:nvPr/>
        </p:nvSpPr>
        <p:spPr>
          <a:xfrm>
            <a:off x="585216" y="1901952"/>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8" name="Text 6"/>
          <p:cNvSpPr txBox="1"/>
          <p:nvPr/>
        </p:nvSpPr>
        <p:spPr>
          <a:xfrm>
            <a:off x="1143000" y="1847088"/>
            <a:ext cx="7452360" cy="640080"/>
          </a:xfrm>
          <a:prstGeom prst="rect">
            <a:avLst/>
          </a:prstGeom>
          <a:noFill/>
          <a:ln/>
        </p:spPr>
        <p:txBody>
          <a:bodyPr wrap="square" lIns="0" tIns="0" rIns="0" bIns="0" rtlCol="0" anchor="ctr"/>
          <a:lstStyle/>
          <a:p>
            <a:pPr indent="0" marL="0">
              <a:buNone/>
            </a:pPr>
            <a:r>
              <a:rPr lang="en-US" sz="950" dirty="0">
                <a:solidFill>
                  <a:schemeClr val="bg1"/>
                </a:solidFill>
              </a:rPr>
              <a:t>S. Ashraf, S. P. Khattak, and M. T. Iqbal, "Design and implementation of an open-source and Internet-of-Things-based health monitoring system," J. Low Power Electron. Appl., vol. 13, no. 4, p. 57, 2023, doi: 10.3390/jlpea13040057.</a:t>
            </a:r>
            <a:endParaRPr lang="en-US" sz="950" dirty="0"/>
          </a:p>
        </p:txBody>
      </p:sp>
      <p:sp>
        <p:nvSpPr>
          <p:cNvPr id="9" name="Shape 7"/>
          <p:cNvSpPr/>
          <p:nvPr/>
        </p:nvSpPr>
        <p:spPr>
          <a:xfrm>
            <a:off x="585216" y="2606040"/>
            <a:ext cx="384048" cy="384048"/>
          </a:xfrm>
          <a:prstGeom prst="ellipse">
            <a:avLst/>
          </a:prstGeom>
          <a:solidFill>
            <a:srgbClr val="214F7B"/>
          </a:solidFill>
          <a:ln w="19050">
            <a:solidFill>
              <a:srgbClr val="FFFFFF"/>
            </a:solidFill>
            <a:prstDash val="solid"/>
          </a:ln>
        </p:spPr>
      </p:sp>
      <p:sp>
        <p:nvSpPr>
          <p:cNvPr id="10" name="Text 8"/>
          <p:cNvSpPr txBox="1"/>
          <p:nvPr/>
        </p:nvSpPr>
        <p:spPr>
          <a:xfrm>
            <a:off x="585216" y="260604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1" name="Text 9"/>
          <p:cNvSpPr txBox="1"/>
          <p:nvPr/>
        </p:nvSpPr>
        <p:spPr>
          <a:xfrm>
            <a:off x="1143000" y="2551176"/>
            <a:ext cx="7452360" cy="640080"/>
          </a:xfrm>
          <a:prstGeom prst="rect">
            <a:avLst/>
          </a:prstGeom>
          <a:noFill/>
          <a:ln/>
        </p:spPr>
        <p:txBody>
          <a:bodyPr wrap="square" lIns="0" tIns="0" rIns="0" bIns="0" rtlCol="0" anchor="ctr"/>
          <a:lstStyle/>
          <a:p>
            <a:pPr indent="0" marL="0">
              <a:buNone/>
            </a:pPr>
            <a:r>
              <a:rPr lang="en-US" sz="950" dirty="0">
                <a:solidFill>
                  <a:schemeClr val="bg1"/>
                </a:solidFill>
              </a:rPr>
              <a:t>S. Deshmukh, S. Shah, A. Wahedna, and N. Sabnis, "IoT-enabled smart healthcare system with machine learning for real-time vital sign monitoring and anomaly detection," Indonesian J. Elect. Eng. Comput. Sci., vol. 39, no. 2, pp. 1155–1163, 2025, doi: 10.11591/ijeecs.v39.i2.pp1155-1163.</a:t>
            </a:r>
            <a:endParaRPr lang="en-US" sz="950" dirty="0"/>
          </a:p>
        </p:txBody>
      </p:sp>
      <p:sp>
        <p:nvSpPr>
          <p:cNvPr id="12" name="Shape 10"/>
          <p:cNvSpPr/>
          <p:nvPr/>
        </p:nvSpPr>
        <p:spPr>
          <a:xfrm>
            <a:off x="585216" y="3310128"/>
            <a:ext cx="384048" cy="384048"/>
          </a:xfrm>
          <a:prstGeom prst="ellipse">
            <a:avLst/>
          </a:prstGeom>
          <a:solidFill>
            <a:srgbClr val="214F7B"/>
          </a:solidFill>
          <a:ln w="19050">
            <a:solidFill>
              <a:srgbClr val="FFFFFF"/>
            </a:solidFill>
            <a:prstDash val="solid"/>
          </a:ln>
        </p:spPr>
      </p:sp>
      <p:sp>
        <p:nvSpPr>
          <p:cNvPr id="13" name="Text 11"/>
          <p:cNvSpPr txBox="1"/>
          <p:nvPr/>
        </p:nvSpPr>
        <p:spPr>
          <a:xfrm>
            <a:off x="585216" y="3310128"/>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4" name="Text 12"/>
          <p:cNvSpPr txBox="1"/>
          <p:nvPr/>
        </p:nvSpPr>
        <p:spPr>
          <a:xfrm>
            <a:off x="1143000" y="3255264"/>
            <a:ext cx="7452360" cy="640080"/>
          </a:xfrm>
          <a:prstGeom prst="rect">
            <a:avLst/>
          </a:prstGeom>
          <a:noFill/>
          <a:ln/>
        </p:spPr>
        <p:txBody>
          <a:bodyPr wrap="square" lIns="0" tIns="0" rIns="0" bIns="0" rtlCol="0" anchor="ctr"/>
          <a:lstStyle/>
          <a:p>
            <a:pPr indent="0" marL="0">
              <a:buNone/>
            </a:pPr>
            <a:r>
              <a:rPr lang="en-US" sz="950" dirty="0">
                <a:solidFill>
                  <a:schemeClr val="bg1"/>
                </a:solidFill>
              </a:rPr>
              <a:t>P. Arpaia, F. Crauso, E. De Benedetto, L. Duraccio, G. Improta, and F. Serino, "Soft transducer for patient's vitals telemonitoring with deep learning-based personalized anomaly detection," Sensors, vol. 22, no. 2, p. 536, 2022, doi: 10.3390/s22020536.</a:t>
            </a:r>
            <a:endParaRPr lang="en-US" sz="950" dirty="0"/>
          </a:p>
        </p:txBody>
      </p:sp>
      <p:sp>
        <p:nvSpPr>
          <p:cNvPr id="15" name="Shape 13"/>
          <p:cNvSpPr/>
          <p:nvPr/>
        </p:nvSpPr>
        <p:spPr>
          <a:xfrm>
            <a:off x="585216" y="4014216"/>
            <a:ext cx="384048" cy="384048"/>
          </a:xfrm>
          <a:prstGeom prst="ellipse">
            <a:avLst/>
          </a:prstGeom>
          <a:solidFill>
            <a:srgbClr val="214F7B"/>
          </a:solidFill>
          <a:ln w="19050">
            <a:solidFill>
              <a:srgbClr val="FFFFFF"/>
            </a:solidFill>
            <a:prstDash val="solid"/>
          </a:ln>
        </p:spPr>
      </p:sp>
      <p:sp>
        <p:nvSpPr>
          <p:cNvPr id="16" name="Text 14"/>
          <p:cNvSpPr txBox="1"/>
          <p:nvPr/>
        </p:nvSpPr>
        <p:spPr>
          <a:xfrm>
            <a:off x="585216" y="4014216"/>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17" name="Text 15"/>
          <p:cNvSpPr txBox="1"/>
          <p:nvPr/>
        </p:nvSpPr>
        <p:spPr>
          <a:xfrm>
            <a:off x="1143000" y="3959352"/>
            <a:ext cx="7452360" cy="640080"/>
          </a:xfrm>
          <a:prstGeom prst="rect">
            <a:avLst/>
          </a:prstGeom>
          <a:noFill/>
          <a:ln/>
        </p:spPr>
        <p:txBody>
          <a:bodyPr wrap="square" lIns="0" tIns="0" rIns="0" bIns="0" rtlCol="0" anchor="ctr"/>
          <a:lstStyle/>
          <a:p>
            <a:pPr indent="0" marL="0">
              <a:buNone/>
            </a:pPr>
            <a:r>
              <a:rPr lang="en-US" sz="950" dirty="0">
                <a:solidFill>
                  <a:schemeClr val="bg1"/>
                </a:solidFill>
              </a:rPr>
              <a:t>K. M. Sivan et al., "Heart rate anomaly detection using contractive autoencoder for smartwatch-based health monitoring," in Proc. 15th Int. Conf. Software, Knowledge, Information Management and Applications (SKIMA), 2023, pp. 118–123, doi: 10.1109/SKIMA59232.2023.10387334.</a:t>
            </a:r>
            <a:endParaRPr lang="en-US" sz="950" dirty="0"/>
          </a:p>
        </p:txBody>
      </p:sp>
      <p:sp>
        <p:nvSpPr>
          <p:cNvPr id="25" name="Slide Number Placeholder 0"/>
          <p:cNvSpPr>
            <a:spLocks noGrp="1"/>
          </p:cNvSpPr>
          <p:nvPr>
            <p:ph type="sldNum" sz="quarter" idx="4294967295"/>
          </p:nvPr>
        </p:nvSpPr>
        <p:spPr>
          <a:xfrm>
            <a:off x="836676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1463040" y="1645920"/>
            <a:ext cx="6217920" cy="914400"/>
          </a:xfrm>
          <a:prstGeom prst="rect">
            <a:avLst/>
          </a:prstGeom>
          <a:noFill/>
          <a:ln/>
        </p:spPr>
        <p:txBody>
          <a:bodyPr wrap="square" lIns="0" tIns="0" rIns="0" bIns="0" rtlCol="0" anchor="ctr"/>
          <a:lstStyle/>
          <a:p>
            <a:pPr algn="ctr" indent="0" marL="0">
              <a:buNone/>
            </a:pPr>
            <a:r>
              <a:rPr lang="en-US" sz="4800" b="1" dirty="0">
                <a:solidFill>
                  <a:schemeClr val="bg1"/>
                </a:solidFill>
              </a:rPr>
              <a:t>THANK YOU</a:t>
            </a:r>
            <a:endParaRPr lang="en-US" sz="4800" dirty="0"/>
          </a:p>
        </p:txBody>
      </p:sp>
      <p:sp>
        <p:nvSpPr>
          <p:cNvPr id="3" name="Shape 1"/>
          <p:cNvSpPr/>
          <p:nvPr/>
        </p:nvSpPr>
        <p:spPr>
          <a:xfrm>
            <a:off x="3291840" y="2697480"/>
            <a:ext cx="2560320" cy="438912"/>
          </a:xfrm>
          <a:prstGeom prst="roundRect">
            <a:avLst>
              <a:gd name="adj" fmla="val 50000"/>
            </a:avLst>
          </a:prstGeom>
          <a:solidFill>
            <a:srgbClr val="214F7B"/>
          </a:solidFill>
          <a:ln w="15875">
            <a:solidFill>
              <a:srgbClr val="FFFFFF"/>
            </a:solidFill>
            <a:prstDash val="solid"/>
          </a:ln>
        </p:spPr>
      </p:sp>
      <p:sp>
        <p:nvSpPr>
          <p:cNvPr id="4" name="Text 2"/>
          <p:cNvSpPr txBox="1"/>
          <p:nvPr/>
        </p:nvSpPr>
        <p:spPr>
          <a:xfrm>
            <a:off x="3291840" y="2697480"/>
            <a:ext cx="2560320" cy="438912"/>
          </a:xfrm>
          <a:prstGeom prst="rect">
            <a:avLst/>
          </a:prstGeom>
          <a:noFill/>
          <a:ln/>
        </p:spPr>
        <p:txBody>
          <a:bodyPr wrap="square" lIns="0" tIns="0" rIns="0" bIns="0" rtlCol="0" anchor="ctr"/>
          <a:lstStyle/>
          <a:p>
            <a:pPr algn="ctr" indent="0" marL="0">
              <a:buNone/>
            </a:pPr>
            <a:r>
              <a:rPr lang="en-US" sz="1400" b="1" dirty="0">
                <a:solidFill>
                  <a:schemeClr val="bg1"/>
                </a:solidFill>
              </a:rPr>
              <a:t>Questions?</a:t>
            </a:r>
            <a:endParaRPr lang="en-US" sz="1400" dirty="0"/>
          </a:p>
        </p:txBody>
      </p:sp>
      <p:sp>
        <p:nvSpPr>
          <p:cNvPr id="5" name="Text 3"/>
          <p:cNvSpPr txBox="1"/>
          <p:nvPr/>
        </p:nvSpPr>
        <p:spPr>
          <a:xfrm>
            <a:off x="1463040" y="3383280"/>
            <a:ext cx="6217920" cy="274320"/>
          </a:xfrm>
          <a:prstGeom prst="rect">
            <a:avLst/>
          </a:prstGeom>
          <a:noFill/>
          <a:ln/>
        </p:spPr>
        <p:txBody>
          <a:bodyPr wrap="square" lIns="0" tIns="0" rIns="0" bIns="0" rtlCol="0" anchor="t"/>
          <a:lstStyle/>
          <a:p>
            <a:pPr algn="ctr" indent="0" marL="0">
              <a:buNone/>
            </a:pPr>
            <a:r>
              <a:rPr lang="en-US" sz="1100" dirty="0">
                <a:solidFill>
                  <a:schemeClr val="bg2"/>
                </a:solidFill>
              </a:rPr>
              <a:t>VITAL · Vitals Intelligence, Tracking &amp; Anomaly Learning</a:t>
            </a:r>
            <a:endParaRPr lang="en-US" sz="1100" dirty="0"/>
          </a:p>
        </p:txBody>
      </p:sp>
    </p:spTree>
  </p:cSld>
  <p:clrMapOvr>
    <a:masterClrMapping/>
  </p:clrMapOvr>
</p:sld>
</file>

<file path=ppt/theme/theme1.xml><?xml version="1.0" encoding="utf-8"?>
<a:theme xmlns:a="http://schemas.openxmlformats.org/drawingml/2006/main" name="VITAL Navy">
  <a:themeElements>
    <a:clrScheme name="VITAL Navy">
      <a:dk1>
        <a:srgbClr val="173C63"/>
      </a:dk1>
      <a:lt1>
        <a:srgbClr val="FFFFFF"/>
      </a:lt1>
      <a:dk2>
        <a:srgbClr val="214F7B"/>
      </a:dk2>
      <a:lt2>
        <a:srgbClr val="DCE8F7"/>
      </a:lt2>
      <a:accent1>
        <a:srgbClr val="87A9D6"/>
      </a:accent1>
      <a:accent2>
        <a:srgbClr val="FFD166"/>
      </a:accent2>
      <a:accent3>
        <a:srgbClr val="FF7B7B"/>
      </a:accent3>
      <a:accent4>
        <a:srgbClr val="3F6FAE"/>
      </a:accent4>
      <a:accent5>
        <a:srgbClr val="B9CDE6"/>
      </a:accent5>
      <a:accent6>
        <a:srgbClr val="A9C1DE"/>
      </a:accent6>
      <a:hlink>
        <a:srgbClr val="FFD166"/>
      </a:hlink>
      <a:folHlink>
        <a:srgbClr val="87A9D6"/>
      </a:folHlink>
    </a:clrScheme>
    <a:fontScheme name="VITAL Navy">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IoT-Enabled Smart Health Monitoring and Emergency Alert System (VITAL)</dc:title>
  <dc:subject>PptxGenJS Presentation</dc:subject>
  <dc:creator>Team VITAL</dc:creator>
  <cp:lastModifiedBy>Team VITAL</cp:lastModifiedBy>
  <cp:revision>1</cp:revision>
  <dcterms:created xsi:type="dcterms:W3CDTF">2026-10-23T18:18:50Z</dcterms:created>
  <dcterms:modified xsi:type="dcterms:W3CDTF">2026-10-23T18:18:50Z</dcterms:modified>
</cp:coreProperties>
</file>